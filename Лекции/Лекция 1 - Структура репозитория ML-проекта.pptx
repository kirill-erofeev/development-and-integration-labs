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28bbd702064574" /><Relationship Type="http://schemas.openxmlformats.org/officeDocument/2006/relationships/extended-properties" Target="/docProps/app.xml" Id="R2ee9075c34fe4c68" /><Relationship Type="http://schemas.openxmlformats.org/officeDocument/2006/relationships/officeDocument" Target="/ppt/presentation.xml" Id="Rbc8f109679184432" /></Relationships>
</file>

<file path=ppt/presentation.xml><?xml version="1.0" encoding="utf-8"?>
<p:presentation xmlns:p="http://schemas.openxmlformats.org/presentationml/2006/main">
  <p:sldMasterIdLst>
    <p:sldMasterId xmlns:r="http://schemas.openxmlformats.org/officeDocument/2006/relationships" id="2147483648" r:id="R011189b39e564770"/>
  </p:sldMasterIdLst>
  <p:notesMasterIdLst>
    <p:notesMasterId xmlns:r="http://schemas.openxmlformats.org/officeDocument/2006/relationships" r:id="Ra97a838d53c24bb0"/>
  </p:notesMasterIdLst>
  <p:sldIdLst>
    <p:sldId xmlns:r="http://schemas.openxmlformats.org/officeDocument/2006/relationships" id="256" r:id="R139d07c76382436f"/>
    <p:sldId xmlns:r="http://schemas.openxmlformats.org/officeDocument/2006/relationships" id="257" r:id="Rdacaedbf0d314329"/>
    <p:sldId xmlns:r="http://schemas.openxmlformats.org/officeDocument/2006/relationships" id="258" r:id="R7f218f80adf54751"/>
    <p:sldId xmlns:r="http://schemas.openxmlformats.org/officeDocument/2006/relationships" id="259" r:id="R113eb0d799fb4ad7"/>
    <p:sldId xmlns:r="http://schemas.openxmlformats.org/officeDocument/2006/relationships" id="260" r:id="R4e6b70d727494541"/>
    <p:sldId xmlns:r="http://schemas.openxmlformats.org/officeDocument/2006/relationships" id="261" r:id="Rb3c02cd455f546c8"/>
    <p:sldId xmlns:r="http://schemas.openxmlformats.org/officeDocument/2006/relationships" id="262" r:id="R8714e58678884a90"/>
    <p:sldId xmlns:r="http://schemas.openxmlformats.org/officeDocument/2006/relationships" id="263" r:id="R26ddf90e05af4f07"/>
    <p:sldId xmlns:r="http://schemas.openxmlformats.org/officeDocument/2006/relationships" id="264" r:id="Rfe0e9d921e7341e6"/>
    <p:sldId xmlns:r="http://schemas.openxmlformats.org/officeDocument/2006/relationships" id="265" r:id="Rcf59b9e4e57e44a0"/>
    <p:sldId xmlns:r="http://schemas.openxmlformats.org/officeDocument/2006/relationships" id="266" r:id="Re4a61c2e68104c42"/>
    <p:sldId xmlns:r="http://schemas.openxmlformats.org/officeDocument/2006/relationships" id="267" r:id="Rd67d6b6c9c7f4937"/>
    <p:sldId xmlns:r="http://schemas.openxmlformats.org/officeDocument/2006/relationships" id="268" r:id="Rc94765cd7dbb46d3"/>
    <p:sldId xmlns:r="http://schemas.openxmlformats.org/officeDocument/2006/relationships" id="269" r:id="Ra0571e004f174906"/>
    <p:sldId xmlns:r="http://schemas.openxmlformats.org/officeDocument/2006/relationships" id="270" r:id="Rb6df62cc999c4fbc"/>
    <p:sldId xmlns:r="http://schemas.openxmlformats.org/officeDocument/2006/relationships" id="271" r:id="R45400780a07e480a"/>
    <p:sldId xmlns:r="http://schemas.openxmlformats.org/officeDocument/2006/relationships" id="272" r:id="Rcc84d586d1da4da3"/>
    <p:sldId xmlns:r="http://schemas.openxmlformats.org/officeDocument/2006/relationships" id="273" r:id="R7d124165ba4f408b"/>
    <p:sldId xmlns:r="http://schemas.openxmlformats.org/officeDocument/2006/relationships" id="274" r:id="Rbcaf419f1b9b4356"/>
    <p:sldId xmlns:r="http://schemas.openxmlformats.org/officeDocument/2006/relationships" id="275" r:id="R0d6fe0559f7d4fcb"/>
    <p:sldId xmlns:r="http://schemas.openxmlformats.org/officeDocument/2006/relationships" id="276" r:id="R0da46e14b1fe428d"/>
    <p:sldId xmlns:r="http://schemas.openxmlformats.org/officeDocument/2006/relationships" id="277" r:id="R9ab489c52d114f0d"/>
    <p:sldId xmlns:r="http://schemas.openxmlformats.org/officeDocument/2006/relationships" id="278" r:id="Rc0f270a2498040c2"/>
    <p:sldId xmlns:r="http://schemas.openxmlformats.org/officeDocument/2006/relationships" id="279" r:id="R0a8705cc457141e4"/>
    <p:sldId xmlns:r="http://schemas.openxmlformats.org/officeDocument/2006/relationships" id="280" r:id="R5234c95f479f4866"/>
    <p:sldId xmlns:r="http://schemas.openxmlformats.org/officeDocument/2006/relationships" id="281" r:id="Rd9b2cb1deaca40ba"/>
    <p:sldId xmlns:r="http://schemas.openxmlformats.org/officeDocument/2006/relationships" id="282" r:id="R55127dee3a8647fd"/>
    <p:sldId xmlns:r="http://schemas.openxmlformats.org/officeDocument/2006/relationships" id="283" r:id="R97d9a58d1dc14450"/>
    <p:sldId xmlns:r="http://schemas.openxmlformats.org/officeDocument/2006/relationships" id="284" r:id="Re7dda425d2d64fe3"/>
    <p:sldId xmlns:r="http://schemas.openxmlformats.org/officeDocument/2006/relationships" id="285" r:id="R4e0a33900b184829"/>
    <p:sldId xmlns:r="http://schemas.openxmlformats.org/officeDocument/2006/relationships" id="286" r:id="R491e4c4d4ac440b0"/>
    <p:sldId xmlns:r="http://schemas.openxmlformats.org/officeDocument/2006/relationships" id="287" r:id="R5ef99ee40a514494"/>
    <p:sldId xmlns:r="http://schemas.openxmlformats.org/officeDocument/2006/relationships" id="288" r:id="R23e3cf4fcf6e417a"/>
    <p:sldId xmlns:r="http://schemas.openxmlformats.org/officeDocument/2006/relationships" id="289" r:id="R635fbb18fc194f4d"/>
    <p:sldId xmlns:r="http://schemas.openxmlformats.org/officeDocument/2006/relationships" id="290" r:id="R9c01578a55f64d5a"/>
    <p:sldId xmlns:r="http://schemas.openxmlformats.org/officeDocument/2006/relationships" id="291" r:id="Ra7b6c84aea8a4196"/>
    <p:sldId xmlns:r="http://schemas.openxmlformats.org/officeDocument/2006/relationships" id="292" r:id="Ra4d705b0283e4f63"/>
    <p:sldId xmlns:r="http://schemas.openxmlformats.org/officeDocument/2006/relationships" id="293" r:id="Rfdcfd65cce354771"/>
    <p:sldId xmlns:r="http://schemas.openxmlformats.org/officeDocument/2006/relationships" id="294" r:id="R85a3cc8e14b04fa9"/>
    <p:sldId xmlns:r="http://schemas.openxmlformats.org/officeDocument/2006/relationships" id="295" r:id="Rad6ef215f9b64e2a"/>
    <p:sldId xmlns:r="http://schemas.openxmlformats.org/officeDocument/2006/relationships" id="296" r:id="Rfb18e2a5852748d6"/>
    <p:sldId xmlns:r="http://schemas.openxmlformats.org/officeDocument/2006/relationships" id="297" r:id="Ra8f7b185e6dd44d9"/>
    <p:sldId xmlns:r="http://schemas.openxmlformats.org/officeDocument/2006/relationships" id="298" r:id="R33826d32bc5747fe"/>
    <p:sldId xmlns:r="http://schemas.openxmlformats.org/officeDocument/2006/relationships" id="299" r:id="R3c093c2837b8494f"/>
    <p:sldId xmlns:r="http://schemas.openxmlformats.org/officeDocument/2006/relationships" id="300" r:id="R8e66bada8d284645"/>
    <p:sldId xmlns:r="http://schemas.openxmlformats.org/officeDocument/2006/relationships" id="301" r:id="R048b46d29e7c449e"/>
    <p:sldId xmlns:r="http://schemas.openxmlformats.org/officeDocument/2006/relationships" id="302" r:id="R07fead07040f4b06"/>
    <p:sldId xmlns:r="http://schemas.openxmlformats.org/officeDocument/2006/relationships" id="303" r:id="Ra93c46ecb1fa4f02"/>
    <p:sldId xmlns:r="http://schemas.openxmlformats.org/officeDocument/2006/relationships" id="304" r:id="R882d4338e84f456e"/>
    <p:sldId xmlns:r="http://schemas.openxmlformats.org/officeDocument/2006/relationships" id="305" r:id="R5908231340e34bd7"/>
    <p:sldId xmlns:r="http://schemas.openxmlformats.org/officeDocument/2006/relationships" id="306" r:id="R48b2ad0f77854cae"/>
    <p:sldId xmlns:r="http://schemas.openxmlformats.org/officeDocument/2006/relationships" id="307" r:id="R9872cb0eef174855"/>
    <p:sldId xmlns:r="http://schemas.openxmlformats.org/officeDocument/2006/relationships" id="308" r:id="R18687e8694734f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bf68cf32d2c43e0" /><Relationship Type="http://schemas.openxmlformats.org/officeDocument/2006/relationships/slideMaster" Target="/ppt/slideMasters/slideMaster1.xml" Id="R011189b39e564770" /><Relationship Type="http://schemas.openxmlformats.org/officeDocument/2006/relationships/notesMaster" Target="/ppt/notesMasters/notesMaster1.xml" Id="Ra97a838d53c24bb0" /><Relationship Type="http://schemas.openxmlformats.org/officeDocument/2006/relationships/presProps" Target="/ppt/presProps.xml" Id="Raae76904a4544b37" /><Relationship Type="http://schemas.openxmlformats.org/officeDocument/2006/relationships/viewProps" Target="/ppt/viewProps.xml" Id="Rdb59c06cf77349dc" /><Relationship Type="http://schemas.openxmlformats.org/officeDocument/2006/relationships/tableStyles" Target="/ppt/tableStyles.xml" Id="R8bdf6b26017f471a" /><Relationship Type="http://schemas.openxmlformats.org/officeDocument/2006/relationships/slide" Target="/ppt/slides/slide1.xml" Id="R139d07c76382436f" /><Relationship Type="http://schemas.openxmlformats.org/officeDocument/2006/relationships/slide" Target="/ppt/slides/slide2.xml" Id="Rdacaedbf0d314329" /><Relationship Type="http://schemas.openxmlformats.org/officeDocument/2006/relationships/slide" Target="/ppt/slides/slide3.xml" Id="R7f218f80adf54751" /><Relationship Type="http://schemas.openxmlformats.org/officeDocument/2006/relationships/slide" Target="/ppt/slides/slide4.xml" Id="R113eb0d799fb4ad7" /><Relationship Type="http://schemas.openxmlformats.org/officeDocument/2006/relationships/slide" Target="/ppt/slides/slide5.xml" Id="R4e6b70d727494541" /><Relationship Type="http://schemas.openxmlformats.org/officeDocument/2006/relationships/slide" Target="/ppt/slides/slide6.xml" Id="Rb3c02cd455f546c8" /><Relationship Type="http://schemas.openxmlformats.org/officeDocument/2006/relationships/slide" Target="/ppt/slides/slide7.xml" Id="R8714e58678884a90" /><Relationship Type="http://schemas.openxmlformats.org/officeDocument/2006/relationships/slide" Target="/ppt/slides/slide8.xml" Id="R26ddf90e05af4f07" /><Relationship Type="http://schemas.openxmlformats.org/officeDocument/2006/relationships/slide" Target="/ppt/slides/slide9.xml" Id="Rfe0e9d921e7341e6" /><Relationship Type="http://schemas.openxmlformats.org/officeDocument/2006/relationships/slide" Target="/ppt/slides/slide10.xml" Id="Rcf59b9e4e57e44a0" /><Relationship Type="http://schemas.openxmlformats.org/officeDocument/2006/relationships/slide" Target="/ppt/slides/slide11.xml" Id="Re4a61c2e68104c42" /><Relationship Type="http://schemas.openxmlformats.org/officeDocument/2006/relationships/slide" Target="/ppt/slides/slide12.xml" Id="Rd67d6b6c9c7f4937" /><Relationship Type="http://schemas.openxmlformats.org/officeDocument/2006/relationships/slide" Target="/ppt/slides/slide13.xml" Id="Rc94765cd7dbb46d3" /><Relationship Type="http://schemas.openxmlformats.org/officeDocument/2006/relationships/slide" Target="/ppt/slides/slide14.xml" Id="Ra0571e004f174906" /><Relationship Type="http://schemas.openxmlformats.org/officeDocument/2006/relationships/slide" Target="/ppt/slides/slide15.xml" Id="Rb6df62cc999c4fbc" /><Relationship Type="http://schemas.openxmlformats.org/officeDocument/2006/relationships/slide" Target="/ppt/slides/slide16.xml" Id="R45400780a07e480a" /><Relationship Type="http://schemas.openxmlformats.org/officeDocument/2006/relationships/slide" Target="/ppt/slides/slide17.xml" Id="Rcc84d586d1da4da3" /><Relationship Type="http://schemas.openxmlformats.org/officeDocument/2006/relationships/slide" Target="/ppt/slides/slide18.xml" Id="R7d124165ba4f408b" /><Relationship Type="http://schemas.openxmlformats.org/officeDocument/2006/relationships/slide" Target="/ppt/slides/slide19.xml" Id="Rbcaf419f1b9b4356" /><Relationship Type="http://schemas.openxmlformats.org/officeDocument/2006/relationships/slide" Target="/ppt/slides/slide20.xml" Id="R0d6fe0559f7d4fcb" /><Relationship Type="http://schemas.openxmlformats.org/officeDocument/2006/relationships/slide" Target="/ppt/slides/slide21.xml" Id="R0da46e14b1fe428d" /><Relationship Type="http://schemas.openxmlformats.org/officeDocument/2006/relationships/slide" Target="/ppt/slides/slide22.xml" Id="R9ab489c52d114f0d" /><Relationship Type="http://schemas.openxmlformats.org/officeDocument/2006/relationships/slide" Target="/ppt/slides/slide23.xml" Id="Rc0f270a2498040c2" /><Relationship Type="http://schemas.openxmlformats.org/officeDocument/2006/relationships/slide" Target="/ppt/slides/slide24.xml" Id="R0a8705cc457141e4" /><Relationship Type="http://schemas.openxmlformats.org/officeDocument/2006/relationships/slide" Target="/ppt/slides/slide25.xml" Id="R5234c95f479f4866" /><Relationship Type="http://schemas.openxmlformats.org/officeDocument/2006/relationships/slide" Target="/ppt/slides/slide26.xml" Id="Rd9b2cb1deaca40ba" /><Relationship Type="http://schemas.openxmlformats.org/officeDocument/2006/relationships/slide" Target="/ppt/slides/slide27.xml" Id="R55127dee3a8647fd" /><Relationship Type="http://schemas.openxmlformats.org/officeDocument/2006/relationships/slide" Target="/ppt/slides/slide28.xml" Id="R97d9a58d1dc14450" /><Relationship Type="http://schemas.openxmlformats.org/officeDocument/2006/relationships/slide" Target="/ppt/slides/slide29.xml" Id="Re7dda425d2d64fe3" /><Relationship Type="http://schemas.openxmlformats.org/officeDocument/2006/relationships/slide" Target="/ppt/slides/slide30.xml" Id="R4e0a33900b184829" /><Relationship Type="http://schemas.openxmlformats.org/officeDocument/2006/relationships/slide" Target="/ppt/slides/slide31.xml" Id="R491e4c4d4ac440b0" /><Relationship Type="http://schemas.openxmlformats.org/officeDocument/2006/relationships/slide" Target="/ppt/slides/slide32.xml" Id="R5ef99ee40a514494" /><Relationship Type="http://schemas.openxmlformats.org/officeDocument/2006/relationships/slide" Target="/ppt/slides/slide33.xml" Id="R23e3cf4fcf6e417a" /><Relationship Type="http://schemas.openxmlformats.org/officeDocument/2006/relationships/slide" Target="/ppt/slides/slide34.xml" Id="R635fbb18fc194f4d" /><Relationship Type="http://schemas.openxmlformats.org/officeDocument/2006/relationships/slide" Target="/ppt/slides/slide35.xml" Id="R9c01578a55f64d5a" /><Relationship Type="http://schemas.openxmlformats.org/officeDocument/2006/relationships/slide" Target="/ppt/slides/slide36.xml" Id="Ra7b6c84aea8a4196" /><Relationship Type="http://schemas.openxmlformats.org/officeDocument/2006/relationships/slide" Target="/ppt/slides/slide37.xml" Id="Ra4d705b0283e4f63" /><Relationship Type="http://schemas.openxmlformats.org/officeDocument/2006/relationships/slide" Target="/ppt/slides/slide38.xml" Id="Rfdcfd65cce354771" /><Relationship Type="http://schemas.openxmlformats.org/officeDocument/2006/relationships/slide" Target="/ppt/slides/slide39.xml" Id="R85a3cc8e14b04fa9" /><Relationship Type="http://schemas.openxmlformats.org/officeDocument/2006/relationships/slide" Target="/ppt/slides/slide40.xml" Id="Rad6ef215f9b64e2a" /><Relationship Type="http://schemas.openxmlformats.org/officeDocument/2006/relationships/slide" Target="/ppt/slides/slide41.xml" Id="Rfb18e2a5852748d6" /><Relationship Type="http://schemas.openxmlformats.org/officeDocument/2006/relationships/slide" Target="/ppt/slides/slide42.xml" Id="Ra8f7b185e6dd44d9" /><Relationship Type="http://schemas.openxmlformats.org/officeDocument/2006/relationships/slide" Target="/ppt/slides/slide43.xml" Id="R33826d32bc5747fe" /><Relationship Type="http://schemas.openxmlformats.org/officeDocument/2006/relationships/slide" Target="/ppt/slides/slide44.xml" Id="R3c093c2837b8494f" /><Relationship Type="http://schemas.openxmlformats.org/officeDocument/2006/relationships/slide" Target="/ppt/slides/slide45.xml" Id="R8e66bada8d284645" /><Relationship Type="http://schemas.openxmlformats.org/officeDocument/2006/relationships/slide" Target="/ppt/slides/slide46.xml" Id="R048b46d29e7c449e" /><Relationship Type="http://schemas.openxmlformats.org/officeDocument/2006/relationships/slide" Target="/ppt/slides/slide47.xml" Id="R07fead07040f4b06" /><Relationship Type="http://schemas.openxmlformats.org/officeDocument/2006/relationships/slide" Target="/ppt/slides/slide48.xml" Id="Ra93c46ecb1fa4f02" /><Relationship Type="http://schemas.openxmlformats.org/officeDocument/2006/relationships/slide" Target="/ppt/slides/slide49.xml" Id="R882d4338e84f456e" /><Relationship Type="http://schemas.openxmlformats.org/officeDocument/2006/relationships/slide" Target="/ppt/slides/slide50.xml" Id="R5908231340e34bd7" /><Relationship Type="http://schemas.openxmlformats.org/officeDocument/2006/relationships/slide" Target="/ppt/slides/slide51.xml" Id="R48b2ad0f77854cae" /><Relationship Type="http://schemas.openxmlformats.org/officeDocument/2006/relationships/slide" Target="/ppt/slides/slide52.xml" Id="R9872cb0eef174855" /><Relationship Type="http://schemas.openxmlformats.org/officeDocument/2006/relationships/slide" Target="/ppt/slides/slide53.xml" Id="R18687e8694734f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82f669a4fe48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da090a15154139" /><Relationship Type="http://schemas.openxmlformats.org/officeDocument/2006/relationships/notesMaster" Target="/ppt/notesMasters/notesMaster1.xml" Id="Rf07c755622b64f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e35032d8cc4c38" /><Relationship Type="http://schemas.openxmlformats.org/officeDocument/2006/relationships/notesMaster" Target="/ppt/notesMasters/notesMaster1.xml" Id="R3bbdd6d33d464b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c5891179bb486f" /><Relationship Type="http://schemas.openxmlformats.org/officeDocument/2006/relationships/notesMaster" Target="/ppt/notesMasters/notesMaster1.xml" Id="Re5fe4bd742cc43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08929892b54202" /><Relationship Type="http://schemas.openxmlformats.org/officeDocument/2006/relationships/notesMaster" Target="/ppt/notesMasters/notesMaster1.xml" Id="R391f3cc1ae1b49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19476331bb468b" /><Relationship Type="http://schemas.openxmlformats.org/officeDocument/2006/relationships/notesMaster" Target="/ppt/notesMasters/notesMaster1.xml" Id="R521d6d6d2b6948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85c9fbe36347e3" /><Relationship Type="http://schemas.openxmlformats.org/officeDocument/2006/relationships/notesMaster" Target="/ppt/notesMasters/notesMaster1.xml" Id="Rf3f81a19ab434e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90a17292441ad" /><Relationship Type="http://schemas.openxmlformats.org/officeDocument/2006/relationships/notesMaster" Target="/ppt/notesMasters/notesMaster1.xml" Id="R891d6520688b44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e949cce9454384" /><Relationship Type="http://schemas.openxmlformats.org/officeDocument/2006/relationships/notesMaster" Target="/ppt/notesMasters/notesMaster1.xml" Id="R0dc9e1b5ba1a43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94228f6f4e432f" /><Relationship Type="http://schemas.openxmlformats.org/officeDocument/2006/relationships/notesMaster" Target="/ppt/notesMasters/notesMaster1.xml" Id="R7fe7ae48b21f41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992534b7944099" /><Relationship Type="http://schemas.openxmlformats.org/officeDocument/2006/relationships/notesMaster" Target="/ppt/notesMasters/notesMaster1.xml" Id="R01498f61f03244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11646958b54f2d" /><Relationship Type="http://schemas.openxmlformats.org/officeDocument/2006/relationships/notesMaster" Target="/ppt/notesMasters/notesMaster1.xml" Id="Rf9a408ff6e5949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b5e4b78c764744" /><Relationship Type="http://schemas.openxmlformats.org/officeDocument/2006/relationships/notesMaster" Target="/ppt/notesMasters/notesMaster1.xml" Id="Rd3debf209ddb43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634bbb65964e44" /><Relationship Type="http://schemas.openxmlformats.org/officeDocument/2006/relationships/notesMaster" Target="/ppt/notesMasters/notesMaster1.xml" Id="R6046f97bd03f4b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9e753217b7486e" /><Relationship Type="http://schemas.openxmlformats.org/officeDocument/2006/relationships/notesMaster" Target="/ppt/notesMasters/notesMaster1.xml" Id="R74645f83d52f42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50af6683214958" /><Relationship Type="http://schemas.openxmlformats.org/officeDocument/2006/relationships/notesMaster" Target="/ppt/notesMasters/notesMaster1.xml" Id="R60f8a9b29e2843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7b37f95bed4091" /><Relationship Type="http://schemas.openxmlformats.org/officeDocument/2006/relationships/notesMaster" Target="/ppt/notesMasters/notesMaster1.xml" Id="R7a19e432313741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7e6cf122344540" /><Relationship Type="http://schemas.openxmlformats.org/officeDocument/2006/relationships/notesMaster" Target="/ppt/notesMasters/notesMaster1.xml" Id="Rdae9f55ebfa141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3a522fafd24f96" /><Relationship Type="http://schemas.openxmlformats.org/officeDocument/2006/relationships/notesMaster" Target="/ppt/notesMasters/notesMaster1.xml" Id="R24c4a92828b349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3d5582cb24262" /><Relationship Type="http://schemas.openxmlformats.org/officeDocument/2006/relationships/notesMaster" Target="/ppt/notesMasters/notesMaster1.xml" Id="R6797e3c8848b458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66aa486a664705" /><Relationship Type="http://schemas.openxmlformats.org/officeDocument/2006/relationships/notesMaster" Target="/ppt/notesMasters/notesMaster1.xml" Id="R07996696430d49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a4db044a984f99" /><Relationship Type="http://schemas.openxmlformats.org/officeDocument/2006/relationships/notesMaster" Target="/ppt/notesMasters/notesMaster1.xml" Id="Rb371657f641346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f395f89de84f0c" /><Relationship Type="http://schemas.openxmlformats.org/officeDocument/2006/relationships/notesMaster" Target="/ppt/notesMasters/notesMaster1.xml" Id="R1ffa9a7f294049a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f40833370454a5b" /><Relationship Type="http://schemas.openxmlformats.org/officeDocument/2006/relationships/notesMaster" Target="/ppt/notesMasters/notesMaster1.xml" Id="R69d83eb8115e4d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d9209d06e14b6b" /><Relationship Type="http://schemas.openxmlformats.org/officeDocument/2006/relationships/notesMaster" Target="/ppt/notesMasters/notesMaster1.xml" Id="R45158641f16249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96ef3d584341f1" /><Relationship Type="http://schemas.openxmlformats.org/officeDocument/2006/relationships/notesMaster" Target="/ppt/notesMasters/notesMaster1.xml" Id="R675e3cd43c92419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673d09861f74cd2" /><Relationship Type="http://schemas.openxmlformats.org/officeDocument/2006/relationships/notesMaster" Target="/ppt/notesMasters/notesMaster1.xml" Id="Rbe8151fecf084f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e9527296014abc" /><Relationship Type="http://schemas.openxmlformats.org/officeDocument/2006/relationships/notesMaster" Target="/ppt/notesMasters/notesMaster1.xml" Id="R852bad15c1f240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2bc273b7f64887" /><Relationship Type="http://schemas.openxmlformats.org/officeDocument/2006/relationships/notesMaster" Target="/ppt/notesMasters/notesMaster1.xml" Id="R75620d7f54f84c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37b51a71d34d3e" /><Relationship Type="http://schemas.openxmlformats.org/officeDocument/2006/relationships/notesMaster" Target="/ppt/notesMasters/notesMaster1.xml" Id="Raab68dcc5a294d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e50d93deba64db6" /><Relationship Type="http://schemas.openxmlformats.org/officeDocument/2006/relationships/notesMaster" Target="/ppt/notesMasters/notesMaster1.xml" Id="R99e21f514e154d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25771f8c134779" /><Relationship Type="http://schemas.openxmlformats.org/officeDocument/2006/relationships/notesMaster" Target="/ppt/notesMasters/notesMaster1.xml" Id="R8ee3e064baae4ef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007b0c7a63d426c" /><Relationship Type="http://schemas.openxmlformats.org/officeDocument/2006/relationships/notesMaster" Target="/ppt/notesMasters/notesMaster1.xml" Id="R2657ffcef19f4c4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02025436adb4397" /><Relationship Type="http://schemas.openxmlformats.org/officeDocument/2006/relationships/notesMaster" Target="/ppt/notesMasters/notesMaster1.xml" Id="R1bd849b5a31d4fe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3c8d9a12a140bd" /><Relationship Type="http://schemas.openxmlformats.org/officeDocument/2006/relationships/notesMaster" Target="/ppt/notesMasters/notesMaster1.xml" Id="Rbb34e566acf849c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dc9b8207cf42db" /><Relationship Type="http://schemas.openxmlformats.org/officeDocument/2006/relationships/notesMaster" Target="/ppt/notesMasters/notesMaster1.xml" Id="R6a105f20680b4c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cd79a4b28a445b" /><Relationship Type="http://schemas.openxmlformats.org/officeDocument/2006/relationships/notesMaster" Target="/ppt/notesMasters/notesMaster1.xml" Id="R3dca901d92f647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fae17ca79794c89" /><Relationship Type="http://schemas.openxmlformats.org/officeDocument/2006/relationships/notesMaster" Target="/ppt/notesMasters/notesMaster1.xml" Id="Rc25a04193b084af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53184ee60ef41f7" /><Relationship Type="http://schemas.openxmlformats.org/officeDocument/2006/relationships/notesMaster" Target="/ppt/notesMasters/notesMaster1.xml" Id="R8f41e9cb38aa47b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1cacd7bc7be42ca" /><Relationship Type="http://schemas.openxmlformats.org/officeDocument/2006/relationships/notesMaster" Target="/ppt/notesMasters/notesMaster1.xml" Id="Rb3f33183ebdf405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3b6d2ff85d44c31" /><Relationship Type="http://schemas.openxmlformats.org/officeDocument/2006/relationships/notesMaster" Target="/ppt/notesMasters/notesMaster1.xml" Id="R00e744985acd468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273dd658bc24664" /><Relationship Type="http://schemas.openxmlformats.org/officeDocument/2006/relationships/notesMaster" Target="/ppt/notesMasters/notesMaster1.xml" Id="R69da28256a6a412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7e575aed5864ec3" /><Relationship Type="http://schemas.openxmlformats.org/officeDocument/2006/relationships/notesMaster" Target="/ppt/notesMasters/notesMaster1.xml" Id="R319ebb87f5c6427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c9137337aa24080" /><Relationship Type="http://schemas.openxmlformats.org/officeDocument/2006/relationships/notesMaster" Target="/ppt/notesMasters/notesMaster1.xml" Id="R6048706f03bf41e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f29c72d4cd41db" /><Relationship Type="http://schemas.openxmlformats.org/officeDocument/2006/relationships/notesMaster" Target="/ppt/notesMasters/notesMaster1.xml" Id="Ra79cbb7f6713449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99a7966304f4c90" /><Relationship Type="http://schemas.openxmlformats.org/officeDocument/2006/relationships/notesMaster" Target="/ppt/notesMasters/notesMaster1.xml" Id="Rfcf88509befb4db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fdd044dbc024c35" /><Relationship Type="http://schemas.openxmlformats.org/officeDocument/2006/relationships/notesMaster" Target="/ppt/notesMasters/notesMaster1.xml" Id="R2cedc32f6ba3459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ba9b7be329c42c0" /><Relationship Type="http://schemas.openxmlformats.org/officeDocument/2006/relationships/notesMaster" Target="/ppt/notesMasters/notesMaster1.xml" Id="Rea1834fb8dc44e0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6ca13146abe46fc" /><Relationship Type="http://schemas.openxmlformats.org/officeDocument/2006/relationships/notesMaster" Target="/ppt/notesMasters/notesMaster1.xml" Id="R830290c741344f2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ae8552b878c40b9" /><Relationship Type="http://schemas.openxmlformats.org/officeDocument/2006/relationships/notesMaster" Target="/ppt/notesMasters/notesMaster1.xml" Id="R71e59d3ef20a4b5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aa387a13ae04ab9" /><Relationship Type="http://schemas.openxmlformats.org/officeDocument/2006/relationships/notesMaster" Target="/ppt/notesMasters/notesMaster1.xml" Id="R9b0086e0b5ac4c7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fdfe430b1a9493e" /><Relationship Type="http://schemas.openxmlformats.org/officeDocument/2006/relationships/notesMaster" Target="/ppt/notesMasters/notesMaster1.xml" Id="Ra69ded79dce94cf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7c20de842184a34" /><Relationship Type="http://schemas.openxmlformats.org/officeDocument/2006/relationships/notesMaster" Target="/ppt/notesMasters/notesMaster1.xml" Id="R1c6bb859171046a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19e0c9ca3a6449f" /><Relationship Type="http://schemas.openxmlformats.org/officeDocument/2006/relationships/notesMaster" Target="/ppt/notesMasters/notesMaster1.xml" Id="Rd656249265b147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Начинаем курс с практической инженерной ситуации, которая хорошо знакома ML-инженеру. Модель или алгоритм уже получены: есть notebook, скрипт, экспериментальный фрагмент кода, иногда даже сохраненный файл модели. Но для программной системы этого недостаточно. Система должна уметь вызывать компонент, получать предсказание, обрабатывать ошибки, повторно запускаться в другом окружении и изменяться без разрушения остальных частей.
Поэтому первая лекция не про подбор модели, метрики качества или улучшение accuracy. Мы обсуждаем другой слой работы: как организовать проект, зафиксировать зависимости, отделить обучение от инференса, сделать минимальную проверку запуска, оформить README, связать изменения с задачами и дефектами. Именно это затем сразу отрабатывается в первой практической работе.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реальном проекте ML-инженер редко работает в изоляции. Результат его работы должен попасть в сервис, внутренний модуль, API, пакет, pipeline или аналитическую систему. Даже простая модель классификации становится частью более крупного программного решения: ее надо вызвать из другого кода, передать ей данные, получить ответ, обработать исключения и понять, что пошло не так при сбое.
Поэтому дисциплина нужна не как повторение программирования и не как второй курс машинного обучения. Ее задача — показать, какие инженерные требования появляются вокруг уже существующего ML-компонента. Студент должен начать мыслить не только вопросом «какую модель обучить», но и вопросом «как этот результат будет жить в системе».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Курс устроен как движение от малого к большому. В модуле 5 мы начинаем с отдельного репозитория и заканчиваем базовым автоматизированным развертыванием. Это естественная последовательность: сначала проект должен быть понятным и воспроизводимым, затем у него появляется API, потом тесты, контейнеризация, Compose и CI/CD.
В модуле 6 масштаб увеличивается: появляются архитектурные решения, монолит и микросервисы, мониторинг, централизованное журналирование, Ansible, Kubernetes и Terraform. Но все эти более сложные темы опираются на базовую дисциплину разработки. Если в самом начале проект нельзя запустить, если нет README, если зависимости не зафиксированы, то никакая оркестрация ситуацию не спасет.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Содержательная рамка курса — software engineering и integration. Мы обсуждаем, как оформлять код как проект, как вести историю изменений, как работать с задачами и дефектами, как делать интерфейс взаимодействия, как проверять компонент тестами, как упаковывать приложение в контейнер и как автоматизировать типовые проверки.
ML здесь присутствует как предметная область. Нам удобно использовать небольшую модель, потому что она дает понятный жизненный цикл: обучение, сохранение артефакта, загрузка, предсказание. Но оценивать мы будем не качество модели, а инженерную организацию вокруг нее: структуру проекта, запуск, документацию, воспроизводимость и готовность к интеграции.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Важно с первого занятия провести границу с соседней дисциплиной MLOps. MLOps занимается управлением жизненным циклом модели как ML-артефакта: отслеживанием экспериментов, registry, версиями данных, мониторингом деградации качества, retraining, автоматизацией ML-pipeline. Все это важно, но это не основной предмет данного курса.
В нашей дисциплине вопрос другой: есть код и есть компонент, который должен быть встроен в систему. Нам нужно научиться оформлять этот компонент как нормальный программный проект: с зависимостями, конфигурацией, интерфейсами, тестами, контейнеризацией, автоматизацией сборки и базовым развертыванием. Пересечения неизбежны, но фокус удерживаем на разработке и интеграции.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первой практики специально выбран небольшой учебный ML-проект. Это может быть встроенный датасет scikit-learn и простая модель. Такой выбор не случаен: если взять сложный датасет или тяжелую нейросеть, внимание студентов уйдет в подготовку данных и обучение. Нам сейчас нужно другое — научиться правильно упаковывать результат.
Поэтому модель в первой работе — это скорее учебный стенд. Она должна обучаться, сохраняться, затем загружаться для предсказания. Но центральный результат — репозиторий, по которому другой человек сможет создать окружение, установить зависимости, выполнить команды, получить ожидаемый результат и понять структуру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Программное обеспечение занимает место внутри бизнеса, а не рядом с ним. Бизнес формулирует цель и ограничения, процесс определяет роли и правила, а программная система поддерживает выполнение этого процесса. Эксплуатационные и бизнес-метрики показывают результат. Если цель или процесс меняются, программная система также входит в новый цикл изменений. Поэтому интеграция касается не только файлов и API, но и места компонента в работающем процессе.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показывает дисциплину в полном жизненном цикле программного обеспечения. Мы начинаем после появления потребности и исследовательской идеи, организуем разработку компонента, его проверку, интеграцию и поставку. Результаты эксплуатации создают новые требования, поэтому цикл повторяется. В рамках курса особенно важна связь между изменяемым кодом, проверками, поставкой и обратной связью.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Логику курса удобно представить как лестницу инженерной зрелости. На нижнем уровне находится обычный репозиторий: структура, README, зависимости, конфигурация, задачи и коммиты. Затем появляется коллективная разработка: ветки, слияния, code review, работа с конфликтами. Следующий уровень — программный сервис и API, потому что компонент должен взаимодействовать с внешним миром.
Дальше нужны тесты, контейнеризация, интеграция нескольких сервисов и автоматизация проверок. Во втором модуле эта база используется для обсуждения архитектуры, мониторинга и инфраструктурной автоматизации. Если студент понимает эту лестницу, ему легче увидеть место каждой практической работы в общей траектории курса.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Важная особенность курса — мы оцениваем не только наличие файлов в репозитории. В инженерной разработке результатом является не просто код, который когда-то запускался у автора. Результатом является проект, который можно проверить, повторить, изменить и обсуждать в команде.
Именно поэтому в первой практике появляются требования, issue tracker, дефект, связанный коммит, README и минимальная проверка запуска. Это может казаться избыточным для маленькой модели, но на маленьком проекте проще увидеть правильную дисциплину разработки. Если такие действия не отработаны на простом примере, на сложной системе они почти неизбежно будут потеряны.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Исследовательский код и инженерный компонент имеют разные цели. Исследовательский код часто пишется для проверки гипотезы: попробовать признаки, сравнить алгоритмы, быстро построить метрику, показать график. Он может быть удобен автору и совершенно неудобен для повторного использования.
Компонент программной системы должен вести себя иначе. У него есть понятные входы и выходы, отделенная конфигурация, контролируемые зависимости, сценарии запуска, тесты и документация. Он должен быть понятен не только автору, но и другому разработчику. Поэтому переход от исследовательского кода к инженерному проекту — это не косметика, а изменение требований к результату.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практике ML-код часто проходит несколько стадий. На первой стадии это notebook: удобно исследовать данные, строить графики, быстро менять код. На второй стадии появляется скрипт: например, отдельный запуск обучения или предсказания. На третьей стадии возникает проект: структура каталогов, зависимости, конфигурация, тесты, README.
Дальше компонент может стать пакетом или сервисом. Пакет вызывается из другого Python-кода, сервис предоставляет API, микросервис взаимодействует с другими сервисами. Каждая стадия добавляет новые требования. Ошибка часто состоит в попытке сразу «притащить» notebook в production-контекст без промежуточной инженерной переработки.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Фраза «у меня работает» в инженерном проекте не является достаточным аргументом. Часто код действительно работает на машине автора, потому что там случайно установлены нужные версии библиотек, есть локальные файлы, настроены переменные окружения, а часть действий выполняется вручную и нигде не описана.
Для учебного проекта это тоже критично. Преподаватель или другой студент должен иметь возможность открыть README, создать окружение, установить зависимости и выполнить команды. Если для запуска нужно «еще вот это скачать», «поменять путь в коде», «запустить ячейку из notebook перед скриптом», то проект инженерно не готов. Первая практика как раз направлена на устранение таких неявных зависимостей.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Исследовательский ML-код часто содержит сразу все: загрузку данных, очистку, обучение, оценку, визуализацию, сохранение, предсказание, временные эксперименты и отладочные фрагменты. Пока автор работает один, это может быть терпимо. Но при интеграции такая смесь становится источником ошибок.
Особенно опасно, когда не сохранен артефакт модели или предсказание каждый раз неявно запускает обучение. Тогда непонятно, какой именно объект используется системой. Также проблемой становится отсутствие истории решений: почему файл появился, с какой задачей связан коммит, какой дефект исправлялся. Инженерная организация нужна, чтобы эти риски сделать управляемыми.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Воспроизводимость в нашем контексте означает, что проект можно повторно развернуть и запустить по описанной инструкции. Это не абсолютная научная воспроизводимость эксперимента во всех деталях, а прикладная инженерная воспроизводимость: другой человек должен получить работоспособный проект с тем же базовым поведением.
Минимальный набор для этого понятен: файл зависимостей, команды создания окружения, команды запуска обучения и предсказания, небольшой пример данных и тест или smoke-test. Если такой набор есть, проект уже можно передавать дальше. Если его нет, то интеграция будет зависеть от устных объяснений автора, а это плохая инженерная практика.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Интегрируемость означает, что компонент может стать частью более крупной системы. Для этого у него должны быть понятные входы и выходы. Даже если сегодня это просто скрипт predict.py, уже нужно понимать, какие данные он ожидает, где берет модель, какой формат результата возвращает и что будет при ошибке.
На следующих занятиях этот принцип перейдет в API и сервисы. Но основа появляется уже сейчас. Если в маленьком проекте мы не можем отделить модель от локальных путей и ручных действий, затем будет трудно сделать REST API, контейнер, Compose или CI. Поэтому интегрируемость — это свойство, которое формируется с первого репозитория.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Поддерживаемость — это способность проекта сохранять понятность и управляемость после первоначальной разработки. Для учебного задания это тоже актуально: студент может вернуться к проекту через несколько недель, использовать его как основу для API, контейнеризации или CI/CD. Если структура хаотична, возвращение к проекту превращается в повторное расследование.
Поддерживаемость обеспечивается простыми средствами: осмысленными именами файлов, понятной структурой каталогов, README, issue tracker, коммитами, минимальными тестами. Все это не бюрократия, а инструменты снижения когнитивной нагрузки. Хороший проект объясняет себя через структуру и историю.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протяжении лекции будем мысленно держать один простой кейс. Допустим, у нас есть фрагмент ML-кода: он загружает датасет, обучает классификатор и печатает метрику. В исследовательском режиме этого было бы достаточно. Но для курса «Разработка и интеграция» задача другая.
Нужно превратить этот фрагмент в минимальный проект: создать репозиторий, разнести код обучения и предсказания, сохранить артефакт модели, добавить пример входных данных, сделать README, описать требования, завести задачи и дефект, добавить минимальный тест. Этот же сценарий затем будет реализован студентами на практике.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Переходим к понятию проекта. В бытовом смысле проектом часто называют любую папку с кодом. В инженерном смысле проект — это организованная единица разработки, включающая код, документацию, зависимости, конфигурацию, тесты, артефакты и историю изменений.
Репозиторий важен не просто как место хранения файлов. Он показывает, как проект развивался, какие решения принимались, какие задачи выполнялись, какие дефекты исправлялись. Для интеграции это особенно важно: другой разработчик должен быстро понять назначение проекта, способ запуска и точки изменения. Именно поэтому первая практика начинается не с модели, а с организации репозитория.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Минимальная структура первой практики специально проста. В корне находятся файлы, которые описывают проект и окружение: README, .gitignore, requirements.txt. Каталог src содержит исполняемый код. Каталог models хранит артефакт модели, а data_sample — небольшой пример входных данных. Каталог tests содержит минимальную проверку.
Важно объяснить студентам, что структура не является самоцелью. Она нужна, чтобы роли файлов не смешивались. Когда все лежит в одной папке, быстро возникает хаос: непонятно, где код, где данные, где временный результат, где документация. Даже маленькая структура дисциплинирует проект и готовит его к последующей интеграции.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Разберем структуру не как формальный список, а через роли. src — это место для кода, который реализует основную функциональность. В первой практике это обучение и предсказание. tests — место для проверок. Даже если проверка минимальная, она показывает, что проект можно запускать не только вручную.
models в учебном проекте содержит сохраненный артефакт модели. В реальном проекте хранение моделей может быть устроено иначе, но сейчас важно зафиксировать принцип: predict.py должен использовать готовый объект. data_sample содержит небольшой пример входных данных. Это не полная обучающая выборка, а демонстрационный материал для воспроизводимого запуска.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README нет единственного обязательного шаблона, но разработчики обычно ожидают предсказуемый порядок. Документ начинается с одного заголовка первого уровня и короткого объяснения назначения проекта. Далее указываются требования к среде, установка и команды, которые можно скопировать и выполнить из корня репозитория. Для ML-проекта отдельно описываются данные, конфигурация, обучение, инференс и тесты. Кодовые блоки получают обозначение языка, например bash, python или yaml. Внутренние ссылки лучше делать относительными. README не должен содержать токены, абсолютные локальные пути и большие результаты выполнения. При изменении команды запуска или контракта README обновляется в том же коммите. Подробные правила разработки можно вынести в CONTRIBUTING.md, а архитектуру — в 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Файл .gitignore решает очень практическую задачу: он не дает случайно добавить в Git то, что не должно становиться частью проекта. Виртуальное окружение, кэши Python, временные файлы IDE и служебные каталоги не нужны другому разработчику. Более того, они могут мешать запуску на другой машине.
Важно подчеркнуть: .gitignore не делает проект воспроизводимым сам по себе, но помогает сохранить его чистым. Воспроизводимость достигается через описание зависимостей и команд запуска. А .gitignore предотвращает ложную воспроизводимость, когда проект случайно работает только потому, что в репозиторий попали локальные мусорные артефакты.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Любой Python-проект зависит от внешних библиотек. Если зависимости не описаны, другой человек вынужден угадывать, что нужно установить. Если dependencies перечислены слишком широко, например экспортирован весь глобальный environment, проект становится тяжелым и плохо переносимым.
Для первой практики достаточно минимального requirements.txt: scikit-learn, pandas, joblib, pytest или аналогичный набор в зависимости от кода. Главное — соответствие фактическому проекту. Если библиотека не используется, она не должна появляться в списке. Если используется, но не указана, запуск на другой машине может сломаться. Так dependency-файл становится инженерным контрактом.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Конфигурация — это параметры, которые могут меняться без изменения логики программы: путь к модели, путь к входному файлу, имя выходного файла, порог, режим запуска. На первом занятии можно не вводить сложные config-фреймворки, но важно сформировать привычку не прятать все параметры в глубине кода.
Почему это важно для будущих тем? В Docker параметры часто передаются через переменные окружения или файлы конфигурации. В CI/CD команды должны быть повторяемыми. В API сервис должен знать, где находится модель. Поэтому даже простой проект должен быть подготовлен к тому, что его окружение будет меняться.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Инженерия требований в полном объеме — большая тема, но для первой практики нам нужен минимальный рабочий смысл. Требование — это проверяемое ожидание к проекту. Например: проект должен запускать обучение командой python src/train.py; проект должен сохранять модель в models/model.pkl; README должен содержать команды воспроизводимого запуска.
Такие требования помогают избежать неопределенности. Студент понимает, что именно нужно сделать, а преподаватель понимает, что именно проверять. Требование не должно быть красивой декларацией вроде «проект должен быть удобным». Лучше формулировать так, чтобы можно было открыть репозиторий и проверить выполнение.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Функциональные требования описывают поведение: проект обучает модель, сохраняет артефакт, выполняет предсказание для примера. Нефункциональные требования описывают свойства выполнения и сопровождения: проект устанавливается по инструкции, структура понятна, зависимости зафиксированы, есть минимальная проверка.
В ML-проектах студенты часто фокусируются только на функциональности: модель обучилась, предсказание напечаталось. Но для интеграции этого мало. Если проект невозможно повторить на другой машине или невозможно понять его структуру, он инженерно слаб. Поэтому в первой практике нефункциональные требования являются центральными.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Схему читаем слева направо. Входной notebook, скрипт или репозиторий сначала запускают в контролируемом окружении. Затем фиксируют входы и выходы и разделяют код по ответственности. После этого создают файлы проекта, добавляют конфигурацию и проверки. В конце сравнивают результат с исходным поведением, описывают запуск в README и фиксируют изменение в 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Слева показан типичный фрагмент notebook. Он зависит от локального пути и глобальной переменной model. Справа тот же смысл оформлен как функция train. Путь к данным и путь к артефакту передаются явно, а создание модели отделено в build_model. Теперь функцию можно вызвать из командной строки и проверить тестом без состояния предыдущих ячеек.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 analysis.py может содержать чтение данных, обучение, построение графиков и предсказание. При переносе код не режут на равные фрагменты. Каждому файлу назначают отдельную ответственность. data.py читает и проверяет данные, train.py создаёт модель, predict.py использует готовый артефакт, а tests фиксирует ожидаемое поведение. Визуализация остаётся в notebook, если она нужна только для анализа.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поток проходит слева направо: данные подготавливаются, train создаёт model.pkl, predict загружает артефакт и формирует результат. Конфигурация управляет обучением. README и командный интерфейс объясняют запуск предсказания. Тесты проверяют контракты train и predict. Эта схема помогает понять, почему изменение признаков затрагивает не один файл, а данные, обучение, предсказание и тесты.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Закрытый оригинал остаётся в защищённом хранилище. Перед помещением в Git из копии удаляют токены, персональные данные и тяжёлые результаты выполнения. Очищенный notebook сохраняет контекст исследования. Из него создают поддерживаемые файлы проекта. Git фиксирует очищенный источник и историю преобразования. В .gitignore перечисляют данные, секреты и крупные артефакты, которые не должны попасть в репозиторий.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Новая версия входного скрипта рассматривается как отдельная поставка. Сначала сохраняем её под новым именем, фиксируем дату и контрольную сумму. Затем запускаем на тех же контрольных данных и сравниваем код, входы, выходы и параметры. Команда nbconvert создаёт вспомогательный Python-файл для сравнения, но этот файл не копируется напрямую в 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классифицируем изменение. Новый набор признаков затрагивает подготовку данных и её тесты. Параметры модели требуют изменения конфигурации, обучения и нового артефакта. Формат ответа затрагивает predict, пользовательский интерфейс, тесты и README. Одна новая версия может содержать несколько типов изменений, поэтому на практике отмечаем все применимые ветви.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Новая версия сначала создаёт эталонное поведение на контрольном наборе. Затем это ожидание закрепляется тестом. Изменения переносятся по одному модулю, после чего выполняется pytest и сравниваются результаты. Только прошедшая проверку логическая часть попадает в отдельный коммит. Такой цикл локализует ошибку и показывает, какое изменение повлияло на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объясняет ход эксперимента и остаётся ссылочным материалом. Код в src предоставляет устойчивый интерфейс для запуска и интеграции. Между ними находится контракт: набор входных полей, последовательность преобразований и формат результата. Тесты показывают, что проект воспроизводит требуемое поведение без общего исполняемого файла с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примере исследователь добавил признак tenure и нормализацию. В проекте список признаков лучше вынести в конфигурацию, а нормализацию объединить с моделью в Pipeline. Тогда одни и те же преобразования применяются при обучении и предсказании, а сериализуется весь pipeline. Вместе с кодом обновляются тестовые данные, контракт входа и описание совместимости.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История Git должна отвечать на вопрос, как версия 2 входного материала превратилась в изменения проекта. Сначала можно сохранить очищенный источник и тест контракта. Затем отдельными логическими коммитами перенести preprocessing, обучение и документацию. В сообщениях указывается версия входного материала. Перед push проверяется, что в индекс не попали данные, секреты и крупный артефакт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ML-компонента ключевой инженерный принцип первой практики — разделение обучения и инференса. Обучение — это процесс создания модели: загрузили данные, обучили алгоритм, посчитали метрику, сохранили артефакт. Инференс — это использование уже готовой модели для ответа на новый вход.
Если predict.py каждый раз обучает модель заново, он не является предсказательным компонентом. Он становится смесью обучения и предсказания. Это ухудшает скорость, воспроизводимость и понятность. В дальнейшем такой код трудно превратить в API: пользователь сервиса ожидает предсказание, а не скрытое обучение при каждом запросе.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Скрипт train.py в первой практике должен быть простым и предсказуемым. Он загружает небольшой датасет, обучает модель, выводит краткую метрику качества и сохраняет модель. Не нужно усложнять его подбором гиперпараметров, тяжелой обработкой данных или большим экспериментальным протоколом.
Инженерно важна не сложность модели, а понятность сценария. Если train.py завершился успешно, в проекте должен появиться артефакт models/model.pkl. Это проверяемый результат. Такой подход готовит студентов к мысли, что результат обучения — это отдельный объект, который затем используется другими частями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Скрипт predict.py должен демонстрировать инференс. Он загружает уже сохраненную модель и выполняет предсказание. В простейшем варианте вход может быть задан внутри учебного примера или взят из data_sample/sample.csv. Главное, чтобы сценарий был понятен и повторяем.
Хорошая реализация predict.py не требует от пользователя знания внутренностей обучения. Пользователь запускает команду и получает результат. Если модель отсутствует, проект должен либо документировать необходимость сначала выполнить train.py, либо обработать ситуацию понятным сообщением. Такое поведение уже похоже на будущий сервисный компонент.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Артефакт модели — это сохраненный результат обучения. В первой практике это может быть model.pkl, созданный через joblib или pickle. Он нужен, чтобы отделить долгий или экспериментальный процесс обучения от более короткого процесса предсказания.
При этом важно не уходить в MLOps. В реальных системах могут использовать model registry, версии моделей, контроль данных и метаданных. Здесь мы берем минимальный учебный вариант: файл модели в согласованном каталоге. Но уже на этом уровне нужно понимать, откуда он берется, когда обновляется и какой код его использует.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воспроизводимого запуска полезно иметь маленький пример входных данных. Это не означает, что в репозиторий нужно добавлять весь датасет. Наоборот, большой датасет может быть лишним и вредным. Но один небольшой sample.csv помогает показать формат входа и быстро проверить predict.py.
В учебной работе такой файл играет роль контракта примера: пользователь видит, какие столбцы или признаки ожидаются, и может запустить предсказание без дополнительного поиска данных. Это особенно полезно перед переходом к API: будущий вход запроса должен быть таким же понятным, как строка в sample.csv.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Тестирование в курсе будет отдельной темой, но уже в первой практике нужен минимальный вход. Smoke-test — это проверка, что основной сценарий вообще запускается: модель загружается, predict.py не падает, результат имеет ожидаемый формат. Unit test обычно проверяет более маленькую единицу логики.
Не нужно требовать от первой практики полноценного тестового покрытия. Задача — сформировать привычку: проект должен иметь проверку, которую можно запустить командой. Даже один pytest-тест меняет характер проекта. Он превращает запуск из ручного действия автора в воспроизводимый контроль.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test_predict.py можно проверить несколько простых вещей. Во-первых, что модель существует или может быть создана предварительным запуском train.py. Во-вторых, что предсказание выполняется без исключения. В-третьих, что результат имеет ожидаемый формат: например, это метка класса или массив с одним элементом.
Важно подчеркнуть: такой тест не проверяет научное качество модели. Он не отвечает на вопрос, хорошая ли accuracy. Он отвечает на инженерный вопрос: можно ли использовать компонент по ожидаемому сценарию. Именно это нужно для интеграции.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Воспроизводимый запуск должен быть описан командами, а не общими словами. В README нужно привести создание виртуального окружения, установку зависимостей, запуск обучения, запуск предсказания и запуск тестов. Команды должны соответствовать фактической структуре проекта.
Полезно сказать студентам: перед сдачей откройте README и выполните свои же команды в новом окружении. Если команда в README не работает, это дефект документации или проекта. Такая самопроверка экономит время и сразу повышает качество результата.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Типовые проблемы повторяются из года в год. В README написана одна структура, а в репозитории другая. Команда python train.py указана в корне, хотя файл лежит в src. requirements.txt забыли обновить. Код содержит абсолютный путь вида C:\Users\... или /home/student/..., который не существует у проверяющего.
Еще одна распространенная ошибка — неявные ручные действия. Например, перед запуском нужно создать каталог models, но это нигде не написано и код сам его не создает. Или нужно скачать файл, но ссылка не указана. В первой практике студент должен научиться видеть такие зависимости как дефекты инженерной организации.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 концу первой лекции можно сформулировать чек-лист готовности к интеграции. Проект имеет структуру, README, зависимости, конфигурацию, разделенные train.py и predict.py, сохраненный артефакт модели, пример данных, минимальный тест, осмысленные коммиты и связи с issue.
Этот чек-лист важен не только для первой практики. Он станет входным условием следующих тем. API будет строиться вокруг уже организованного компонента. Docker будет упаковывать проект, который уже запускается локально. CI будет автоматизировать проверки, которые уже существуют. Поэтому первая практика — фундаментальная, а не вводная формальность.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этом слайде собираем логику трансформации. Исходная точка — исследовательский код, который доказал возможность решения задачи. Конечная точка первой практики — минимальный инженерный проект. Он еще не production-система, но уже имеет структуру, инструкции, проверку и понятное разделение ответственности.
Следующий шаг курса будет естественным: если predict.py умеет загружать модель и выдавать предсказание, его можно превратить в API endpoint. Если проект запускается локально, его можно контейнеризовать. Если есть тест, его можно запускать в CI. Так одна практическая работа становится базой для нескольких следующих.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Теперь связываем лекцию с практической работой. Первое действие — создать репозиторий и первичную структуру. Затем нужно сформулировать требования и завести issues: минимум две задачи и один дефект. После этого реализуются train.py и predict.py, сохраняется модель, добавляется тест или smoke-test и оформляется README.
Важно выполнить работу не как набор файлов, а как маленький процесс разработки. Коммиты должны появляться по этапам. Хотя бы один коммит должен быть связан с issue. Перед сдачей студент проверяет запуск по README. Именно это будет оцениваться: организация репозитория, воспроизводимый ML-компонент, проверка и документация.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качестве результата студент сдает ссылку на репозиторий и краткий отчет, фактически README может выполнять значительную часть роли отчета. Если репозиторий закрытый, преподавателю должен быть предоставлен доступ или материалы должны быть выгружены по согласованию.
Проверка будет идти по трем группам критериев. Первая — организация репозитория и разработки: структура, requirements, конфигурация, требования, issues, история коммитов. Вторая — воспроизводимый ML-компонент: проект устанавливается и запускается, train.py сохраняет модель, predict.py использует артефакт. Третья — проверка и документация: есть тест или smoke-test, README содержит нужные разделы и реальные команды.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Подводим итог. Сегодня мы не изучали новый алгоритм машинного обучения. Мы разобрали, что происходит с уже существующим ML-кодом, когда он должен стать частью программной системы. Главные свойства такого перехода — воспроизводимость, интегрируемость и поддерживаемость.
Первая практика закрепляет этот переход на минимальном проекте. Студенты должны показать, что умеют организовать репозиторий, описать зависимости и команды, отделить обучение от инференса, сохранить артефакт модели, добавить минимальную проверку и вести историю изменений через Git и issues. Это база, на которую дальше будут накладываться API, тестирование, контейнеризация, CI/CD и более сложные архитектурные решения.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f9e01cf1304c7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b433fa3a8e4a09" /><Relationship Type="http://schemas.openxmlformats.org/officeDocument/2006/relationships/slideLayout" Target="/ppt/slideLayouts/slideLayout1.xml" Id="R803d0bbc6e6b4fa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3d0bbc6e6b4fa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fdfda16773411b" /><Relationship Type="http://schemas.openxmlformats.org/officeDocument/2006/relationships/image" Target="/ppt/media/image.png" Id="Rae12d695a913468a" /><Relationship Type="http://schemas.openxmlformats.org/officeDocument/2006/relationships/image" Target="/ppt/media/image2.png" Id="R4113587fc040431f" /><Relationship Type="http://schemas.openxmlformats.org/officeDocument/2006/relationships/notesSlide" Target="/ppt/notesSlides/notesSlide1.xml" Id="Rf4ed8657d6464c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46d64ac9c34528" /><Relationship Type="http://schemas.openxmlformats.org/officeDocument/2006/relationships/notesSlide" Target="/ppt/notesSlides/notesSlide2.xml" Id="R1c6898502fcd4a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426634f4c14836" /><Relationship Type="http://schemas.openxmlformats.org/officeDocument/2006/relationships/notesSlide" Target="/ppt/notesSlides/notesSlide3.xml" Id="R78996dbaeeb840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e64275b19d40b2" /><Relationship Type="http://schemas.openxmlformats.org/officeDocument/2006/relationships/notesSlide" Target="/ppt/notesSlides/notesSlide4.xml" Id="R8d4b4a71b0434c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e8d19740dd4149" /><Relationship Type="http://schemas.openxmlformats.org/officeDocument/2006/relationships/notesSlide" Target="/ppt/notesSlides/notesSlide5.xml" Id="Ra07ab1af1c794a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1e24f6a2494849" /><Relationship Type="http://schemas.openxmlformats.org/officeDocument/2006/relationships/notesSlide" Target="/ppt/notesSlides/notesSlide6.xml" Id="R5a54fdb6603a41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532288166a4dc8" /><Relationship Type="http://schemas.openxmlformats.org/officeDocument/2006/relationships/notesSlide" Target="/ppt/notesSlides/notesSlide7.xml" Id="Red13d4987d4b4d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636f5da73a443b" /><Relationship Type="http://schemas.openxmlformats.org/officeDocument/2006/relationships/notesSlide" Target="/ppt/notesSlides/notesSlide8.xml" Id="R424ffa8206c643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6b6c0f8ede4d27" /><Relationship Type="http://schemas.openxmlformats.org/officeDocument/2006/relationships/notesSlide" Target="/ppt/notesSlides/notesSlide9.xml" Id="R580baac9606d46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780703c3ea41fb" /><Relationship Type="http://schemas.openxmlformats.org/officeDocument/2006/relationships/notesSlide" Target="/ppt/notesSlides/notesSlide10.xml" Id="R31f847943a7a48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43317bd5f74fad" /><Relationship Type="http://schemas.openxmlformats.org/officeDocument/2006/relationships/notesSlide" Target="/ppt/notesSlides/notesSlide11.xml" Id="Rf04d494491f44c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5cd6fa0b524faa" /><Relationship Type="http://schemas.openxmlformats.org/officeDocument/2006/relationships/notesSlide" Target="/ppt/notesSlides/notesSlide12.xml" Id="Rd17cc46b6c2c4d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7ba849d9634b99" /><Relationship Type="http://schemas.openxmlformats.org/officeDocument/2006/relationships/notesSlide" Target="/ppt/notesSlides/notesSlide13.xml" Id="Rf57a427217e24c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b98d89a6e44abb" /><Relationship Type="http://schemas.openxmlformats.org/officeDocument/2006/relationships/notesSlide" Target="/ppt/notesSlides/notesSlide14.xml" Id="R4214fd89a6204e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a5093be56d4826" /><Relationship Type="http://schemas.openxmlformats.org/officeDocument/2006/relationships/notesSlide" Target="/ppt/notesSlides/notesSlide15.xml" Id="R6041b4469f234b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b9027b5d6e4530" /><Relationship Type="http://schemas.openxmlformats.org/officeDocument/2006/relationships/notesSlide" Target="/ppt/notesSlides/notesSlide16.xml" Id="R13e2b801340e47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cea4c961d624a4c" /><Relationship Type="http://schemas.openxmlformats.org/officeDocument/2006/relationships/notesSlide" Target="/ppt/notesSlides/notesSlide17.xml" Id="R1eed1b6ab5c744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ca2983f3455439d" /><Relationship Type="http://schemas.openxmlformats.org/officeDocument/2006/relationships/notesSlide" Target="/ppt/notesSlides/notesSlide18.xml" Id="R6dd793d3e81a4e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f2a1cf786e94ed0" /><Relationship Type="http://schemas.openxmlformats.org/officeDocument/2006/relationships/notesSlide" Target="/ppt/notesSlides/notesSlide19.xml" Id="R9c4db3853c294f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396c5f8530408d" /><Relationship Type="http://schemas.openxmlformats.org/officeDocument/2006/relationships/notesSlide" Target="/ppt/notesSlides/notesSlide20.xml" Id="R290e3098e83849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52076b204642af" /><Relationship Type="http://schemas.openxmlformats.org/officeDocument/2006/relationships/notesSlide" Target="/ppt/notesSlides/notesSlide21.xml" Id="R792031276cf84f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738c949cd9d4d45" /><Relationship Type="http://schemas.openxmlformats.org/officeDocument/2006/relationships/notesSlide" Target="/ppt/notesSlides/notesSlide22.xml" Id="R608a57a82ec0438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72d544707784400" /><Relationship Type="http://schemas.openxmlformats.org/officeDocument/2006/relationships/notesSlide" Target="/ppt/notesSlides/notesSlide23.xml" Id="R600f27de0ffa4e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68d5e78a018404e" /><Relationship Type="http://schemas.openxmlformats.org/officeDocument/2006/relationships/notesSlide" Target="/ppt/notesSlides/notesSlide24.xml" Id="R651de45f1fb4409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bae1ef77a5433f" /><Relationship Type="http://schemas.openxmlformats.org/officeDocument/2006/relationships/notesSlide" Target="/ppt/notesSlides/notesSlide25.xml" Id="Ra97528523d88483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7b837cffdf4e2d" /><Relationship Type="http://schemas.openxmlformats.org/officeDocument/2006/relationships/notesSlide" Target="/ppt/notesSlides/notesSlide26.xml" Id="R9dd9d70fb3ca4e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b06f79592b4e17" /><Relationship Type="http://schemas.openxmlformats.org/officeDocument/2006/relationships/notesSlide" Target="/ppt/notesSlides/notesSlide27.xml" Id="R25e03fc89ff641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fa33cabd5d842e8" /><Relationship Type="http://schemas.openxmlformats.org/officeDocument/2006/relationships/notesSlide" Target="/ppt/notesSlides/notesSlide28.xml" Id="R088ea46310264ed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82f8dd2a5b04b93" /><Relationship Type="http://schemas.openxmlformats.org/officeDocument/2006/relationships/notesSlide" Target="/ppt/notesSlides/notesSlide29.xml" Id="Rd5e6d908ca5840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66350cdbec04174" /><Relationship Type="http://schemas.openxmlformats.org/officeDocument/2006/relationships/notesSlide" Target="/ppt/notesSlides/notesSlide30.xml" Id="R799b7c3ff1334c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a5e1f634ef74bfa" /><Relationship Type="http://schemas.openxmlformats.org/officeDocument/2006/relationships/notesSlide" Target="/ppt/notesSlides/notesSlide31.xml" Id="R19a4c149618c41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075bbf13a79478a" /><Relationship Type="http://schemas.openxmlformats.org/officeDocument/2006/relationships/notesSlide" Target="/ppt/notesSlides/notesSlide32.xml" Id="Rfd2b3690d536422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39e529409e64853" /><Relationship Type="http://schemas.openxmlformats.org/officeDocument/2006/relationships/notesSlide" Target="/ppt/notesSlides/notesSlide33.xml" Id="R9c84c8180926489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294b3a1e4c64dea" /><Relationship Type="http://schemas.openxmlformats.org/officeDocument/2006/relationships/notesSlide" Target="/ppt/notesSlides/notesSlide34.xml" Id="Rb193747d6d2e467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c42c8f1ca9e41d0" /><Relationship Type="http://schemas.openxmlformats.org/officeDocument/2006/relationships/notesSlide" Target="/ppt/notesSlides/notesSlide35.xml" Id="Re5e5046a6f6d48b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c05d86078394088" /><Relationship Type="http://schemas.openxmlformats.org/officeDocument/2006/relationships/notesSlide" Target="/ppt/notesSlides/notesSlide36.xml" Id="Rd9f6ce554aba48e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5d401ef60f64107" /><Relationship Type="http://schemas.openxmlformats.org/officeDocument/2006/relationships/notesSlide" Target="/ppt/notesSlides/notesSlide37.xml" Id="R6aee7f3edcb245f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e11810ea151493f" /><Relationship Type="http://schemas.openxmlformats.org/officeDocument/2006/relationships/notesSlide" Target="/ppt/notesSlides/notesSlide38.xml" Id="R5ae9c5d915e8483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03f30a10e2e46a9" /><Relationship Type="http://schemas.openxmlformats.org/officeDocument/2006/relationships/notesSlide" Target="/ppt/notesSlides/notesSlide39.xml" Id="R6106ac825b544a3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5bddcd186ba4a45" /><Relationship Type="http://schemas.openxmlformats.org/officeDocument/2006/relationships/notesSlide" Target="/ppt/notesSlides/notesSlide40.xml" Id="Ra7652116a53d46b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ebbb05fb4d54618" /><Relationship Type="http://schemas.openxmlformats.org/officeDocument/2006/relationships/notesSlide" Target="/ppt/notesSlides/notesSlide41.xml" Id="Rd5282badaebd47c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33a8d734e45407b" /><Relationship Type="http://schemas.openxmlformats.org/officeDocument/2006/relationships/notesSlide" Target="/ppt/notesSlides/notesSlide42.xml" Id="R3492bcced0804b6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1de5524221f40fe" /><Relationship Type="http://schemas.openxmlformats.org/officeDocument/2006/relationships/notesSlide" Target="/ppt/notesSlides/notesSlide43.xml" Id="Rb4e2797c21e9452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4bc2354589944e9" /><Relationship Type="http://schemas.openxmlformats.org/officeDocument/2006/relationships/notesSlide" Target="/ppt/notesSlides/notesSlide44.xml" Id="R3d67e5f0157c448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7972c52f1ff491f" /><Relationship Type="http://schemas.openxmlformats.org/officeDocument/2006/relationships/notesSlide" Target="/ppt/notesSlides/notesSlide45.xml" Id="Rfd03865ed650474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5201301ffdf42ac" /><Relationship Type="http://schemas.openxmlformats.org/officeDocument/2006/relationships/notesSlide" Target="/ppt/notesSlides/notesSlide46.xml" Id="R3a5db159ff6345f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3af09469d5b4f56" /><Relationship Type="http://schemas.openxmlformats.org/officeDocument/2006/relationships/notesSlide" Target="/ppt/notesSlides/notesSlide47.xml" Id="Rc607390c5adb4a8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c2efe6539404ff5" /><Relationship Type="http://schemas.openxmlformats.org/officeDocument/2006/relationships/notesSlide" Target="/ppt/notesSlides/notesSlide48.xml" Id="R7fe2fd8541e54ca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c75792fd3cc40df" /><Relationship Type="http://schemas.openxmlformats.org/officeDocument/2006/relationships/notesSlide" Target="/ppt/notesSlides/notesSlide49.xml" Id="R9f0d78a98cda4b3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f0b958969d443f7" /><Relationship Type="http://schemas.openxmlformats.org/officeDocument/2006/relationships/notesSlide" Target="/ppt/notesSlides/notesSlide50.xml" Id="Rf6028b9c67b241a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da19caa2bd34282" /><Relationship Type="http://schemas.openxmlformats.org/officeDocument/2006/relationships/notesSlide" Target="/ppt/notesSlides/notesSlide51.xml" Id="R3229069939bc4d6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b262ce53e5c44d2" /><Relationship Type="http://schemas.openxmlformats.org/officeDocument/2006/relationships/notesSlide" Target="/ppt/notesSlides/notesSlide52.xml" Id="R4ac50ffe3054413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2fc7cbd7eb640f5" /><Relationship Type="http://schemas.openxmlformats.org/officeDocument/2006/relationships/notesSlide" Target="/ppt/notesSlides/notesSlide53.xml" Id="Red02ac2167e4487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Прямоугольник 1">
            <a:extLst xmlns:a="http://schemas.openxmlformats.org/drawingml/2006/main">
              <a:ext uri="{FF2B5EF4-FFF2-40B4-BE49-F238E27FC236}">
                <a16:creationId xmlns:a16="http://schemas.microsoft.com/office/drawing/2014/main" id="{99820CB0-0293-4FAD-AC1D-4F974293E869}"/>
              </a:ext>
            </a:extLst>
          </p:cNvPr>
          <p:cNvSpPr>
            <a:spLocks xmlns:a="http://schemas.openxmlformats.org/drawingml/2006/main" noGrp="1"/>
          </p:cNvSpPr>
          <p:nvPr/>
        </p:nvSpPr>
        <p:spPr>
          <a:xfrm xmlns:a="http://schemas.openxmlformats.org/drawingml/2006/main">
            <a:off x="107504" y="-1"/>
            <a:ext cx="11958990" cy="6795247"/>
          </a:xfrm>
          <a:prstGeom xmlns:a="http://schemas.openxmlformats.org/drawingml/2006/main" prst="rect">
            <a:avLst/>
          </a:prstGeom>
          <a:solidFill xmlns:a="http://schemas.openxmlformats.org/drawingml/2006/main">
            <a:srgbClr val="256569"/>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4000"/>
          </a:p>
        </p:txBody>
      </p:sp>
      <p:pic>
        <p:nvPicPr>
          <p:cNvPr id="14" name="Рисунок 2"/>
          <p:cNvPicPr>
            <a:picLocks xmlns:a="http://schemas.openxmlformats.org/drawingml/2006/main" noChangeAspect="1"/>
          </p:cNvPicPr>
          <p:nvPr/>
        </p:nvPicPr>
        <p:blipFill>
          <a:blip xmlns:r="http://schemas.openxmlformats.org/officeDocument/2006/relationships" xmlns:a="http://schemas.openxmlformats.org/drawingml/2006/main" r:embed="Rae12d695a913468a"/>
          <a:stretch xmlns:a="http://schemas.openxmlformats.org/drawingml/2006/main">
            <a:fillRect l="0" t="0" r="0" b="0"/>
          </a:stretch>
        </p:blipFill>
        <p:spPr>
          <a:xfrm xmlns:a="http://schemas.openxmlformats.org/drawingml/2006/main">
            <a:off x="7377691" y="1871970"/>
            <a:ext cx="4551435" cy="4773178"/>
          </a:xfrm>
          <a:prstGeom xmlns:a="http://schemas.openxmlformats.org/drawingml/2006/main" prst="rect">
            <a:avLst/>
          </a:prstGeom>
        </p:spPr>
      </p:pic>
      <p:pic>
        <p:nvPicPr>
          <p:cNvPr id="15" name="Рисунок 3"/>
          <p:cNvPicPr>
            <a:picLocks xmlns:a="http://schemas.openxmlformats.org/drawingml/2006/main" noChangeAspect="1"/>
          </p:cNvPicPr>
          <p:nvPr/>
        </p:nvPicPr>
        <p:blipFill rotWithShape="1">
          <a:blip xmlns:r="http://schemas.openxmlformats.org/officeDocument/2006/relationships" xmlns:a="http://schemas.openxmlformats.org/drawingml/2006/main" r:embed="R4113587fc040431f"/>
          <a:srcRect xmlns:a="http://schemas.openxmlformats.org/drawingml/2006/main" l="0" t="80000" r="0" b="0"/>
          <a:stretch xmlns:a="http://schemas.openxmlformats.org/drawingml/2006/main"/>
        </p:blipFill>
        <p:spPr>
          <a:xfrm xmlns:a="http://schemas.openxmlformats.org/drawingml/2006/main">
            <a:off x="3650675" y="282341"/>
            <a:ext cx="3186282" cy="1107187"/>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8513BC34-7DDE-4E83-B5C8-D77AE155FCBB}"/>
              </a:ext>
            </a:extLst>
          </p:cNvPr>
          <p:cNvSpPr>
            <a:spLocks xmlns:a="http://schemas.openxmlformats.org/drawingml/2006/main" noGrp="1"/>
          </p:cNvSpPr>
          <p:nvPr/>
        </p:nvSpPr>
        <p:spPr>
          <a:xfrm xmlns:a="http://schemas.openxmlformats.org/drawingml/2006/main">
            <a:off x="1290917" y="1936375"/>
            <a:ext cx="7342094" cy="70788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b="1">
                <a:solidFill>
                  <a:schemeClr val="bg1"/>
                </a:solidFill>
                <a:latin typeface="Book Antiqua"/>
                <a:ea typeface="Book Antiqua"/>
                <a:cs typeface="Book Antiqua"/>
              </a:rPr>
              <a:t>Разработка и интеграция</a:t>
            </a:r>
          </a:p>
        </p:txBody>
      </p:sp>
      <p:sp>
        <p:nvSpPr>
          <p:cNvPr id="10" name="TextBox 9">
            <a:extLst xmlns:a="http://schemas.openxmlformats.org/drawingml/2006/main">
              <a:ext uri="{FF2B5EF4-FFF2-40B4-BE49-F238E27FC236}">
                <a16:creationId xmlns:a16="http://schemas.microsoft.com/office/drawing/2014/main" id="{88636AA5-0C27-444F-9C57-F8963F7051D9}"/>
              </a:ext>
            </a:extLst>
          </p:cNvPr>
          <p:cNvSpPr>
            <a:spLocks xmlns:a="http://schemas.openxmlformats.org/drawingml/2006/main" noGrp="1"/>
          </p:cNvSpPr>
          <p:nvPr/>
        </p:nvSpPr>
        <p:spPr>
          <a:xfrm xmlns:a="http://schemas.openxmlformats.org/drawingml/2006/main">
            <a:off x="932329" y="3585882"/>
            <a:ext cx="6149789" cy="25853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a:solidFill>
                  <a:srgbClr val="FFFFFF"/>
                </a:solidFill>
              </a:rPr>
              <a:t>Лекция 1 </a:t>
            </a:r>
          </a:p>
          <a:p xmlns:a="http://schemas.openxmlformats.org/drawingml/2006/main">
            <a:r>
              <a:rPr sz="3600" b="1">
                <a:solidFill>
                  <a:srgbClr val="FFFFFF"/>
                </a:solidFill>
              </a:rPr>
              <a:t>От исследовательского ML-кода к инженерному программному проекту</a:t>
            </a:r>
          </a:p>
          <a:p xmlns:a="http://schemas.openxmlformats.org/drawingml/2006/main">
            <a:endParaRPr/>
          </a:p>
        </p:txBody>
      </p:sp>
    </p:spTree>
    <p:extLst>
      <p:ext uri="{BB962C8B-B14F-4D97-AF65-F5344CB8AC3E}">
        <p14:creationId xmlns:p14="http://schemas.microsoft.com/office/powerpoint/2010/main" val="5409377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1F3FDF-B3EC-4213-93FB-CB91F78BBFE7}"/>
              </a:ext>
            </a:extLst>
          </p:cNvPr>
          <p:cNvSpPr>
            <a:spLocks xmlns:a="http://schemas.openxmlformats.org/drawingml/2006/main" noGrp="1"/>
          </p:cNvSpPr>
          <p:nvPr/>
        </p:nvSpPr>
        <p:spPr>
          <a:xfrm xmlns:a="http://schemas.openxmlformats.org/drawingml/2006/main">
            <a:off x="685800" y="502920"/>
            <a:ext cx="7498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475569"/>
                </a:solidFill>
                <a:latin typeface="Arial"/>
                <a:ea typeface="Arial"/>
                <a:cs typeface="Arial"/>
              </a:rPr>
              <a:t>Дисциплина «Разработка и интеграция»</a:t>
            </a:r>
            <a:endParaRPr sz="1500"/>
          </a:p>
        </p:txBody>
      </p:sp>
      <p:sp>
        <p:nvSpPr>
          <p:cNvPr id="3" name="Text 1">
            <a:extLst xmlns:a="http://schemas.openxmlformats.org/drawingml/2006/main">
              <a:ext uri="{FF2B5EF4-FFF2-40B4-BE49-F238E27FC236}">
                <a16:creationId xmlns:a16="http://schemas.microsoft.com/office/drawing/2014/main" id="{53D47309-2080-4CB3-9825-2FDB3FADC815}"/>
              </a:ext>
            </a:extLst>
          </p:cNvPr>
          <p:cNvSpPr>
            <a:spLocks xmlns:a="http://schemas.openxmlformats.org/drawingml/2006/main" noGrp="1"/>
          </p:cNvSpPr>
          <p:nvPr/>
        </p:nvSpPr>
        <p:spPr>
          <a:xfrm xmlns:a="http://schemas.openxmlformats.org/drawingml/2006/main">
            <a:off x="9692640" y="502920"/>
            <a:ext cx="1783080"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Лекция</a:t>
            </a:r>
            <a:r>
              <a:rPr sz="1300" b="1">
                <a:solidFill>
                  <a:srgbClr val="FFFFFF"/>
                </a:solidFill>
                <a:latin typeface="Arial"/>
                <a:ea typeface="Arial"/>
                <a:cs typeface="Arial"/>
              </a:rPr>
              <a:t> 1</a:t>
            </a:r>
            <a:endParaRPr sz="1300"/>
          </a:p>
        </p:txBody>
      </p:sp>
      <p:sp>
        <p:nvSpPr>
          <p:cNvPr id="4" name="Text 2">
            <a:extLst xmlns:a="http://schemas.openxmlformats.org/drawingml/2006/main">
              <a:ext uri="{FF2B5EF4-FFF2-40B4-BE49-F238E27FC236}">
                <a16:creationId xmlns:a16="http://schemas.microsoft.com/office/drawing/2014/main" id="{DF246339-315E-41C6-B64E-64616D33E7AB}"/>
              </a:ext>
            </a:extLst>
          </p:cNvPr>
          <p:cNvSpPr>
            <a:spLocks xmlns:a="http://schemas.openxmlformats.org/drawingml/2006/main" noGrp="1"/>
          </p:cNvSpPr>
          <p:nvPr/>
        </p:nvSpPr>
        <p:spPr>
          <a:xfrm xmlns:a="http://schemas.openxmlformats.org/drawingml/2006/main">
            <a:off x="685800" y="1508760"/>
            <a:ext cx="106070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3400" b="1">
                <a:solidFill>
                  <a:srgbClr val="111827"/>
                </a:solidFill>
                <a:latin typeface="Arial"/>
                <a:ea typeface="Arial"/>
                <a:cs typeface="Arial"/>
              </a:rPr>
              <a:t>От</a:t>
            </a:r>
            <a:r>
              <a:rPr sz="3400" b="1">
                <a:solidFill>
                  <a:srgbClr val="111827"/>
                </a:solidFill>
                <a:latin typeface="Arial"/>
                <a:ea typeface="Arial"/>
                <a:cs typeface="Arial"/>
              </a:rPr>
              <a:t> </a:t>
            </a:r>
            <a:r>
              <a:rPr sz="3400" b="1">
                <a:solidFill>
                  <a:srgbClr val="111827"/>
                </a:solidFill>
                <a:latin typeface="Arial"/>
                <a:ea typeface="Arial"/>
                <a:cs typeface="Arial"/>
              </a:rPr>
              <a:t>исследовательского</a:t>
            </a:r>
            <a:r>
              <a:rPr sz="3400" b="1">
                <a:solidFill>
                  <a:srgbClr val="111827"/>
                </a:solidFill>
                <a:latin typeface="Arial"/>
                <a:ea typeface="Arial"/>
                <a:cs typeface="Arial"/>
              </a:rPr>
              <a:t> ML-</a:t>
            </a:r>
            <a:r>
              <a:rPr sz="3400" b="1">
                <a:solidFill>
                  <a:srgbClr val="111827"/>
                </a:solidFill>
                <a:latin typeface="Arial"/>
                <a:ea typeface="Arial"/>
                <a:cs typeface="Arial"/>
              </a:rPr>
              <a:t>кода</a:t>
            </a:r>
            <a:r>
              <a:rPr sz="3400" b="1">
                <a:solidFill>
                  <a:srgbClr val="111827"/>
                </a:solidFill>
                <a:latin typeface="Arial"/>
                <a:ea typeface="Arial"/>
                <a:cs typeface="Arial"/>
              </a:rPr>
              <a:t> к </a:t>
            </a:r>
            <a:r>
              <a:rPr sz="3400" b="1">
                <a:solidFill>
                  <a:srgbClr val="111827"/>
                </a:solidFill>
                <a:latin typeface="Arial"/>
                <a:ea typeface="Arial"/>
                <a:cs typeface="Arial"/>
              </a:rPr>
              <a:t>инженерному</a:t>
            </a:r>
            <a:r>
              <a:rPr sz="3400" b="1">
                <a:solidFill>
                  <a:srgbClr val="111827"/>
                </a:solidFill>
                <a:latin typeface="Arial"/>
                <a:ea typeface="Arial"/>
                <a:cs typeface="Arial"/>
              </a:rPr>
              <a:t> </a:t>
            </a:r>
            <a:r>
              <a:rPr sz="3400" b="1">
                <a:solidFill>
                  <a:srgbClr val="111827"/>
                </a:solidFill>
                <a:latin typeface="Arial"/>
                <a:ea typeface="Arial"/>
                <a:cs typeface="Arial"/>
              </a:rPr>
              <a:t>программному</a:t>
            </a:r>
            <a:r>
              <a:rPr sz="3400" b="1">
                <a:solidFill>
                  <a:srgbClr val="111827"/>
                </a:solidFill>
                <a:latin typeface="Arial"/>
                <a:ea typeface="Arial"/>
                <a:cs typeface="Arial"/>
              </a:rPr>
              <a:t> </a:t>
            </a:r>
            <a:r>
              <a:rPr sz="3400" b="1">
                <a:solidFill>
                  <a:srgbClr val="111827"/>
                </a:solidFill>
                <a:latin typeface="Arial"/>
                <a:ea typeface="Arial"/>
                <a:cs typeface="Arial"/>
              </a:rPr>
              <a:t>проекту</a:t>
            </a:r>
            <a:endParaRPr sz="3400"/>
          </a:p>
        </p:txBody>
      </p:sp>
      <p:sp>
        <p:nvSpPr>
          <p:cNvPr id="5" name="Text 3">
            <a:extLst xmlns:a="http://schemas.openxmlformats.org/drawingml/2006/main">
              <a:ext uri="{FF2B5EF4-FFF2-40B4-BE49-F238E27FC236}">
                <a16:creationId xmlns:a16="http://schemas.microsoft.com/office/drawing/2014/main" id="{EE38308B-2CA4-40A2-AD1E-166543B447CC}"/>
              </a:ext>
            </a:extLst>
          </p:cNvPr>
          <p:cNvSpPr>
            <a:spLocks xmlns:a="http://schemas.openxmlformats.org/drawingml/2006/main" noGrp="1"/>
          </p:cNvSpPr>
          <p:nvPr/>
        </p:nvSpPr>
        <p:spPr>
          <a:xfrm xmlns:a="http://schemas.openxmlformats.org/drawingml/2006/main">
            <a:off x="685800" y="2724912"/>
            <a:ext cx="9966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563EB"/>
                </a:solidFill>
                <a:latin typeface="Arial"/>
                <a:ea typeface="Arial"/>
                <a:cs typeface="Arial"/>
              </a:rPr>
              <a:t>разработка • интеграция • воспроизводимость</a:t>
            </a:r>
            <a:endParaRPr sz="1700"/>
          </a:p>
        </p:txBody>
      </p:sp>
      <p:sp>
        <p:nvSpPr>
          <p:cNvPr id="6" name="Text 4">
            <a:extLst xmlns:a="http://schemas.openxmlformats.org/drawingml/2006/main">
              <a:ext uri="{FF2B5EF4-FFF2-40B4-BE49-F238E27FC236}">
                <a16:creationId xmlns:a16="http://schemas.microsoft.com/office/drawing/2014/main" id="{4917295B-E016-4101-BBF4-657AE1E8E8AA}"/>
              </a:ext>
            </a:extLst>
          </p:cNvPr>
          <p:cNvSpPr>
            <a:spLocks xmlns:a="http://schemas.openxmlformats.org/drawingml/2006/main" noGrp="1"/>
          </p:cNvSpPr>
          <p:nvPr/>
        </p:nvSpPr>
        <p:spPr>
          <a:xfrm xmlns:a="http://schemas.openxmlformats.org/drawingml/2006/main">
            <a:off x="685800" y="3657600"/>
            <a:ext cx="3474720" cy="256032"/>
          </a:xfrm>
          <a:prstGeom xmlns:a="http://schemas.openxmlformats.org/drawingml/2006/main" prst="rect">
            <a:avLst/>
          </a:prstGeom>
          <a:solidFill xmlns:a="http://schemas.openxmlformats.org/drawingml/2006/main">
            <a:srgbClr val="1F2937"/>
          </a:solidFill>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Центральный вопрос курса</a:t>
            </a:r>
            <a:endParaRPr sz="1100"/>
          </a:p>
        </p:txBody>
      </p:sp>
      <p:sp>
        <p:nvSpPr>
          <p:cNvPr id="7" name="Text 5">
            <a:extLst xmlns:a="http://schemas.openxmlformats.org/drawingml/2006/main">
              <a:ext uri="{FF2B5EF4-FFF2-40B4-BE49-F238E27FC236}">
                <a16:creationId xmlns:a16="http://schemas.microsoft.com/office/drawing/2014/main" id="{D5BD6D0A-8560-4E0E-B6CE-5E3433D1CB81}"/>
              </a:ext>
            </a:extLst>
          </p:cNvPr>
          <p:cNvSpPr>
            <a:spLocks xmlns:a="http://schemas.openxmlformats.org/drawingml/2006/main" noGrp="1"/>
          </p:cNvSpPr>
          <p:nvPr/>
        </p:nvSpPr>
        <p:spPr>
          <a:xfrm xmlns:a="http://schemas.openxmlformats.org/drawingml/2006/main">
            <a:off x="685800" y="4005072"/>
            <a:ext cx="1060704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lnSpcReduction="10000"/>
          </a:bodyPr>
          <a:lstStyle xmlns:a="http://schemas.openxmlformats.org/drawingml/2006/main"/>
          <a:p xmlns:a="http://schemas.openxmlformats.org/drawingml/2006/main">
            <a:pPr marL="0" indent="0">
              <a:buNone/>
            </a:pPr>
            <a:r>
              <a:rPr sz="2000">
                <a:solidFill>
                  <a:srgbClr val="111827"/>
                </a:solidFill>
                <a:latin typeface="Arial"/>
                <a:ea typeface="Arial"/>
                <a:cs typeface="Arial"/>
              </a:rPr>
              <a:t>Модель или алгоритм уже существуют.</a:t>
            </a:r>
            <a:endParaRPr sz="2000"/>
          </a:p>
          <a:p xmlns:a="http://schemas.openxmlformats.org/drawingml/2006/main">
            <a:pPr marL="0" indent="0">
              <a:buNone/>
            </a:pPr>
            <a:r>
              <a:rPr sz="2000">
                <a:solidFill>
                  <a:srgbClr val="111827"/>
                </a:solidFill>
                <a:latin typeface="Arial"/>
                <a:ea typeface="Arial"/>
                <a:cs typeface="Arial"/>
              </a:rPr>
              <a:t>Как превратить их в нормальный программный компонент и встроить в разрабатываемую систему?</a:t>
            </a:r>
            <a:endParaRPr sz="2000"/>
          </a:p>
        </p:txBody>
      </p:sp>
      <p:sp>
        <p:nvSpPr>
          <p:cNvPr id="8" name="Text 6">
            <a:extLst xmlns:a="http://schemas.openxmlformats.org/drawingml/2006/main">
              <a:ext uri="{FF2B5EF4-FFF2-40B4-BE49-F238E27FC236}">
                <a16:creationId xmlns:a16="http://schemas.microsoft.com/office/drawing/2014/main" id="{ABC5BDA8-E99C-44E0-BEE3-9D61351866AF}"/>
              </a:ext>
            </a:extLst>
          </p:cNvPr>
          <p:cNvSpPr>
            <a:spLocks xmlns:a="http://schemas.openxmlformats.org/drawingml/2006/main" noGrp="1"/>
          </p:cNvSpPr>
          <p:nvPr/>
        </p:nvSpPr>
        <p:spPr>
          <a:xfrm xmlns:a="http://schemas.openxmlformats.org/drawingml/2006/main">
            <a:off x="685800" y="5897880"/>
            <a:ext cx="10058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1050"/>
          </a:p>
        </p:txBody>
      </p:sp>
      <p:sp>
        <p:nvSpPr>
          <p:cNvPr id="9" name="Shape 7">
            <a:extLst xmlns:a="http://schemas.openxmlformats.org/drawingml/2006/main">
              <a:ext uri="{FF2B5EF4-FFF2-40B4-BE49-F238E27FC236}">
                <a16:creationId xmlns:a16="http://schemas.microsoft.com/office/drawing/2014/main" id="{4F4C85F8-9FDE-4F5E-85A3-6D0AD47CD77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0" name="Text 8">
            <a:extLst xmlns:a="http://schemas.openxmlformats.org/drawingml/2006/main">
              <a:ext uri="{FF2B5EF4-FFF2-40B4-BE49-F238E27FC236}">
                <a16:creationId xmlns:a16="http://schemas.microsoft.com/office/drawing/2014/main" id="{D1226FD3-CF38-4E8C-B9A7-54B3A85A27D8}"/>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11" name="Text 9">
            <a:extLst xmlns:a="http://schemas.openxmlformats.org/drawingml/2006/main">
              <a:ext uri="{FF2B5EF4-FFF2-40B4-BE49-F238E27FC236}">
                <a16:creationId xmlns:a16="http://schemas.microsoft.com/office/drawing/2014/main" id="{03355ACF-0039-4F55-BB86-0B0E661A2034}"/>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a:t>
            </a:r>
            <a:endParaRPr sz="850"/>
          </a:p>
        </p:txBody>
      </p:sp>
    </p:spTree>
    <p:extLst>
      <p:ext uri="{BB962C8B-B14F-4D97-AF65-F5344CB8AC3E}">
        <p14:creationId xmlns:p14="http://schemas.microsoft.com/office/powerpoint/2010/main" val="5762921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2CCBD5-DB2A-4370-A9EC-5B188E1F77E1}"/>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7A6F5BDF-5A20-4574-BDD9-20ADAFBF7168}"/>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Зачем эта дисциплина ML-инженеру</a:t>
            </a:r>
            <a:endParaRPr sz="2300"/>
          </a:p>
        </p:txBody>
      </p:sp>
      <p:sp>
        <p:nvSpPr>
          <p:cNvPr id="4" name="Text 2">
            <a:extLst xmlns:a="http://schemas.openxmlformats.org/drawingml/2006/main">
              <a:ext uri="{FF2B5EF4-FFF2-40B4-BE49-F238E27FC236}">
                <a16:creationId xmlns:a16="http://schemas.microsoft.com/office/drawing/2014/main" id="{9D0A9E1F-8698-412E-A3A7-0D6D3C8EFE3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ML-инженер работает не только с моделями, но и с кодовой базой продукта</a:t>
            </a:r>
            <a:endParaRPr sz="1800"/>
          </a:p>
          <a:p xmlns:a="http://schemas.openxmlformats.org/drawingml/2006/main">
            <a:pPr marL="0" indent="0">
              <a:buNone/>
            </a:pPr>
            <a:r>
              <a:rPr sz="1800">
                <a:solidFill>
                  <a:srgbClr val="111827"/>
                </a:solidFill>
                <a:latin typeface="Arial"/>
                <a:ea typeface="Arial"/>
                <a:cs typeface="Arial"/>
              </a:rPr>
              <a:t>• Интеграция требует интерфейсов, зависимостей, тестов, конфигурации и документации</a:t>
            </a:r>
            <a:endParaRPr sz="1800"/>
          </a:p>
          <a:p xmlns:a="http://schemas.openxmlformats.org/drawingml/2006/main">
            <a:pPr marL="0" indent="0">
              <a:buNone/>
            </a:pPr>
            <a:r>
              <a:rPr sz="1800">
                <a:solidFill>
                  <a:srgbClr val="111827"/>
                </a:solidFill>
                <a:latin typeface="Arial"/>
                <a:ea typeface="Arial"/>
                <a:cs typeface="Arial"/>
              </a:rPr>
              <a:t>• Хороший ML-код должен быть готов к сопровождению и совместной разработке</a:t>
            </a:r>
            <a:endParaRPr sz="1800"/>
          </a:p>
        </p:txBody>
      </p:sp>
      <p:sp>
        <p:nvSpPr>
          <p:cNvPr id="5" name="Text 3">
            <a:extLst xmlns:a="http://schemas.openxmlformats.org/drawingml/2006/main">
              <a:ext uri="{FF2B5EF4-FFF2-40B4-BE49-F238E27FC236}">
                <a16:creationId xmlns:a16="http://schemas.microsoft.com/office/drawing/2014/main" id="{D6ECB91B-EEB9-4F2F-AC49-8B43241B8008}"/>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Цель курса — инженерная зрелость ML-компонента внутри программной системы.</a:t>
            </a:r>
            <a:endParaRPr sz="1450"/>
          </a:p>
        </p:txBody>
      </p:sp>
      <p:sp>
        <p:nvSpPr>
          <p:cNvPr id="6" name="Text 4">
            <a:extLst xmlns:a="http://schemas.openxmlformats.org/drawingml/2006/main">
              <a:ext uri="{FF2B5EF4-FFF2-40B4-BE49-F238E27FC236}">
                <a16:creationId xmlns:a16="http://schemas.microsoft.com/office/drawing/2014/main" id="{14D1E45A-6BF8-4A92-957E-AA4A979431D1}"/>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Место лекции в курсе</a:t>
            </a:r>
            <a:endParaRPr sz="1200"/>
          </a:p>
        </p:txBody>
      </p:sp>
      <p:sp>
        <p:nvSpPr>
          <p:cNvPr id="7" name="Shape 5">
            <a:extLst xmlns:a="http://schemas.openxmlformats.org/drawingml/2006/main">
              <a:ext uri="{FF2B5EF4-FFF2-40B4-BE49-F238E27FC236}">
                <a16:creationId xmlns:a16="http://schemas.microsoft.com/office/drawing/2014/main" id="{C6E82CFD-56A7-4749-8128-ADC6053898B0}"/>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C5E5FD58-8FCA-4393-B95E-D671B7AFBBCC}"/>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9E54B3FC-F803-433D-A09D-ABE03A636BC8}"/>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a:t>
            </a:r>
            <a:endParaRPr sz="850"/>
          </a:p>
        </p:txBody>
      </p:sp>
    </p:spTree>
    <p:extLst>
      <p:ext uri="{BB962C8B-B14F-4D97-AF65-F5344CB8AC3E}">
        <p14:creationId xmlns:p14="http://schemas.microsoft.com/office/powerpoint/2010/main" val="16264101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0AB3195-B10F-4348-ACE7-2086408368E2}"/>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B3D7325C-B595-4C74-A6D3-5668F291A7AE}"/>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Место лекции в курсе</a:t>
            </a:r>
            <a:endParaRPr sz="2300"/>
          </a:p>
        </p:txBody>
      </p:sp>
      <p:sp>
        <p:nvSpPr>
          <p:cNvPr id="4" name="Text 2">
            <a:extLst xmlns:a="http://schemas.openxmlformats.org/drawingml/2006/main">
              <a:ext uri="{FF2B5EF4-FFF2-40B4-BE49-F238E27FC236}">
                <a16:creationId xmlns:a16="http://schemas.microsoft.com/office/drawing/2014/main" id="{2FE51E4A-73AA-4EAA-94F0-76055FE16A60}"/>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Модуль 5: базовая инженерная организация, Git, API, тесты, Docker, CI/CD</a:t>
            </a:r>
            <a:endParaRPr sz="1800"/>
          </a:p>
          <a:p xmlns:a="http://schemas.openxmlformats.org/drawingml/2006/main">
            <a:pPr marL="0" indent="0">
              <a:buNone/>
            </a:pPr>
            <a:r>
              <a:rPr sz="1800">
                <a:solidFill>
                  <a:srgbClr val="111827"/>
                </a:solidFill>
                <a:latin typeface="Arial"/>
                <a:ea typeface="Arial"/>
                <a:cs typeface="Arial"/>
              </a:rPr>
              <a:t>• Модуль 6: архитектура, микросервисы, мониторинг, Ansible, Kubernetes, Terraform</a:t>
            </a:r>
            <a:endParaRPr sz="1800"/>
          </a:p>
          <a:p xmlns:a="http://schemas.openxmlformats.org/drawingml/2006/main">
            <a:pPr marL="0" indent="0">
              <a:buNone/>
            </a:pPr>
            <a:r>
              <a:rPr sz="1800">
                <a:solidFill>
                  <a:srgbClr val="111827"/>
                </a:solidFill>
                <a:latin typeface="Arial"/>
                <a:ea typeface="Arial"/>
                <a:cs typeface="Arial"/>
              </a:rPr>
              <a:t>• Первая лекция задает язык и критерии инженерного качества проекта</a:t>
            </a:r>
            <a:endParaRPr sz="1800"/>
          </a:p>
        </p:txBody>
      </p:sp>
      <p:sp>
        <p:nvSpPr>
          <p:cNvPr id="5" name="Text 3">
            <a:extLst xmlns:a="http://schemas.openxmlformats.org/drawingml/2006/main">
              <a:ext uri="{FF2B5EF4-FFF2-40B4-BE49-F238E27FC236}">
                <a16:creationId xmlns:a16="http://schemas.microsoft.com/office/drawing/2014/main" id="{A419EED6-EF7A-4BDB-9C7D-35767FDF0D4A}"/>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Сегодня строим фундамент: проект, входящая заготовка, воспроизводимость, Git и ML-компонент.</a:t>
            </a:r>
            <a:endParaRPr sz="1450"/>
          </a:p>
        </p:txBody>
      </p:sp>
      <p:sp>
        <p:nvSpPr>
          <p:cNvPr id="6" name="Text 4">
            <a:extLst xmlns:a="http://schemas.openxmlformats.org/drawingml/2006/main">
              <a:ext uri="{FF2B5EF4-FFF2-40B4-BE49-F238E27FC236}">
                <a16:creationId xmlns:a16="http://schemas.microsoft.com/office/drawing/2014/main" id="{369E314E-C523-4F54-AF1D-4A6292584E0B}"/>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Что именно изучаем здесь</a:t>
            </a:r>
            <a:endParaRPr sz="1200"/>
          </a:p>
        </p:txBody>
      </p:sp>
      <p:sp>
        <p:nvSpPr>
          <p:cNvPr id="7" name="Shape 5">
            <a:extLst xmlns:a="http://schemas.openxmlformats.org/drawingml/2006/main">
              <a:ext uri="{FF2B5EF4-FFF2-40B4-BE49-F238E27FC236}">
                <a16:creationId xmlns:a16="http://schemas.microsoft.com/office/drawing/2014/main" id="{A24DFBC0-0448-41FB-B485-352A94312FD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073E8C6-4069-4D7C-B3B4-34C79575391D}"/>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5521C43F-D453-47EF-BB36-32EDC3BA80C4}"/>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a:t>
            </a:r>
            <a:endParaRPr sz="850"/>
          </a:p>
        </p:txBody>
      </p:sp>
    </p:spTree>
    <p:extLst>
      <p:ext uri="{BB962C8B-B14F-4D97-AF65-F5344CB8AC3E}">
        <p14:creationId xmlns:p14="http://schemas.microsoft.com/office/powerpoint/2010/main" val="963418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67C92B-ECAA-45E5-B18B-36DB94214598}"/>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B14C548C-2887-4B22-A6DE-CA9F6DAD802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Что именно изучаем здесь</a:t>
            </a:r>
            <a:endParaRPr sz="2300"/>
          </a:p>
        </p:txBody>
      </p:sp>
      <p:sp>
        <p:nvSpPr>
          <p:cNvPr id="4" name="Text 2">
            <a:extLst xmlns:a="http://schemas.openxmlformats.org/drawingml/2006/main">
              <a:ext uri="{FF2B5EF4-FFF2-40B4-BE49-F238E27FC236}">
                <a16:creationId xmlns:a16="http://schemas.microsoft.com/office/drawing/2014/main" id="{3C413122-F1DD-421B-A9C0-0A83D1EBFD3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Организация программного проекта и репозитория</a:t>
            </a:r>
            <a:endParaRPr sz="1800"/>
          </a:p>
          <a:p xmlns:a="http://schemas.openxmlformats.org/drawingml/2006/main">
            <a:pPr marL="0" indent="0">
              <a:buNone/>
            </a:pPr>
            <a:r>
              <a:rPr sz="1800">
                <a:solidFill>
                  <a:srgbClr val="111827"/>
                </a:solidFill>
                <a:latin typeface="Arial"/>
                <a:ea typeface="Arial"/>
                <a:cs typeface="Arial"/>
              </a:rPr>
              <a:t>• Интерфейсы, API, тестирование, контейнеризация и CI/CD</a:t>
            </a:r>
            <a:endParaRPr sz="1800"/>
          </a:p>
          <a:p xmlns:a="http://schemas.openxmlformats.org/drawingml/2006/main">
            <a:pPr marL="0" indent="0">
              <a:buNone/>
            </a:pPr>
            <a:r>
              <a:rPr sz="1800">
                <a:solidFill>
                  <a:srgbClr val="111827"/>
                </a:solidFill>
                <a:latin typeface="Arial"/>
                <a:ea typeface="Arial"/>
                <a:cs typeface="Arial"/>
              </a:rPr>
              <a:t>• Интеграционные и архитектурные решения на прикладном уровне</a:t>
            </a:r>
            <a:endParaRPr sz="1800"/>
          </a:p>
        </p:txBody>
      </p:sp>
      <p:sp>
        <p:nvSpPr>
          <p:cNvPr id="5" name="Text 3">
            <a:extLst xmlns:a="http://schemas.openxmlformats.org/drawingml/2006/main">
              <a:ext uri="{FF2B5EF4-FFF2-40B4-BE49-F238E27FC236}">
                <a16:creationId xmlns:a16="http://schemas.microsoft.com/office/drawing/2014/main" id="{D0FB50BC-90E1-46DE-A3D7-3FA07D7E8AC7}"/>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Это курс development &amp; integration для инженера машинного обучения.</a:t>
            </a:r>
            <a:endParaRPr sz="1450"/>
          </a:p>
        </p:txBody>
      </p:sp>
      <p:sp>
        <p:nvSpPr>
          <p:cNvPr id="6" name="Text 4">
            <a:extLst xmlns:a="http://schemas.openxmlformats.org/drawingml/2006/main">
              <a:ext uri="{FF2B5EF4-FFF2-40B4-BE49-F238E27FC236}">
                <a16:creationId xmlns:a16="http://schemas.microsoft.com/office/drawing/2014/main" id="{8EFC34B9-B7BD-4811-933E-06324FA230AE}"/>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Граница с MLOps</a:t>
            </a:r>
            <a:endParaRPr sz="1200"/>
          </a:p>
        </p:txBody>
      </p:sp>
      <p:sp>
        <p:nvSpPr>
          <p:cNvPr id="7" name="Shape 5">
            <a:extLst xmlns:a="http://schemas.openxmlformats.org/drawingml/2006/main">
              <a:ext uri="{FF2B5EF4-FFF2-40B4-BE49-F238E27FC236}">
                <a16:creationId xmlns:a16="http://schemas.microsoft.com/office/drawing/2014/main" id="{5921A769-BF98-47D2-B1BF-790AB1B383CB}"/>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DF90FB82-953B-443F-8F64-9DCB0C21BBE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3BC1050A-27AA-4C8C-B0EF-B457C859765D}"/>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a:t>
            </a:r>
            <a:endParaRPr sz="850"/>
          </a:p>
        </p:txBody>
      </p:sp>
    </p:spTree>
    <p:extLst>
      <p:ext uri="{BB962C8B-B14F-4D97-AF65-F5344CB8AC3E}">
        <p14:creationId xmlns:p14="http://schemas.microsoft.com/office/powerpoint/2010/main" val="1169645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8193E8-4527-46FB-8859-1FEDBB9C02D1}"/>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9196F218-7C32-482D-9240-C12BEA54D607}"/>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Граница с MLOps</a:t>
            </a:r>
            <a:endParaRPr sz="2300"/>
          </a:p>
        </p:txBody>
      </p:sp>
      <p:sp>
        <p:nvSpPr>
          <p:cNvPr id="4" name="Text 2">
            <a:extLst xmlns:a="http://schemas.openxmlformats.org/drawingml/2006/main">
              <a:ext uri="{FF2B5EF4-FFF2-40B4-BE49-F238E27FC236}">
                <a16:creationId xmlns:a16="http://schemas.microsoft.com/office/drawing/2014/main" id="{77A3EBDD-3E17-4A13-A8AF-D9F1890CF6A8}"/>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Здесь: проект, код, API, тесты, контейнеры, интеграция, инфраструктурный контекст</a:t>
            </a:r>
            <a:endParaRPr sz="1800"/>
          </a:p>
          <a:p xmlns:a="http://schemas.openxmlformats.org/drawingml/2006/main">
            <a:pPr marL="0" indent="0">
              <a:buNone/>
            </a:pPr>
            <a:r>
              <a:rPr sz="1800">
                <a:solidFill>
                  <a:srgbClr val="111827"/>
                </a:solidFill>
                <a:latin typeface="Arial"/>
                <a:ea typeface="Arial"/>
                <a:cs typeface="Arial"/>
              </a:rPr>
              <a:t>• В MLOps: эксперименты, registry, MLflow/DVC, drift, retraining, model lifecycle management</a:t>
            </a:r>
            <a:endParaRPr sz="1800"/>
          </a:p>
          <a:p xmlns:a="http://schemas.openxmlformats.org/drawingml/2006/main">
            <a:pPr marL="0" indent="0">
              <a:buNone/>
            </a:pPr>
            <a:r>
              <a:rPr sz="1800">
                <a:solidFill>
                  <a:srgbClr val="111827"/>
                </a:solidFill>
                <a:latin typeface="Arial"/>
                <a:ea typeface="Arial"/>
                <a:cs typeface="Arial"/>
              </a:rPr>
              <a:t>• Пересечения возможны, но акцент курса — программная инженерия вокруг ML-компонента</a:t>
            </a:r>
            <a:endParaRPr sz="1800"/>
          </a:p>
        </p:txBody>
      </p:sp>
      <p:sp>
        <p:nvSpPr>
          <p:cNvPr id="5" name="Text 3">
            <a:extLst xmlns:a="http://schemas.openxmlformats.org/drawingml/2006/main">
              <a:ext uri="{FF2B5EF4-FFF2-40B4-BE49-F238E27FC236}">
                <a16:creationId xmlns:a16="http://schemas.microsoft.com/office/drawing/2014/main" id="{20A4B425-3CC4-48DD-89F6-5F1D76C6C6C4}"/>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Не превращаем курс в MLOps: используем ML как объект интеграции.</a:t>
            </a:r>
            <a:endParaRPr sz="1450"/>
          </a:p>
        </p:txBody>
      </p:sp>
      <p:sp>
        <p:nvSpPr>
          <p:cNvPr id="6" name="Text 4">
            <a:extLst xmlns:a="http://schemas.openxmlformats.org/drawingml/2006/main">
              <a:ext uri="{FF2B5EF4-FFF2-40B4-BE49-F238E27FC236}">
                <a16:creationId xmlns:a16="http://schemas.microsoft.com/office/drawing/2014/main" id="{7D0E168D-DDAC-4A07-B624-2EB16BB0E1D7}"/>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ML-компонент как учебный объект</a:t>
            </a:r>
            <a:endParaRPr sz="1200"/>
          </a:p>
        </p:txBody>
      </p:sp>
      <p:sp>
        <p:nvSpPr>
          <p:cNvPr id="7" name="Shape 5">
            <a:extLst xmlns:a="http://schemas.openxmlformats.org/drawingml/2006/main">
              <a:ext uri="{FF2B5EF4-FFF2-40B4-BE49-F238E27FC236}">
                <a16:creationId xmlns:a16="http://schemas.microsoft.com/office/drawing/2014/main" id="{286C9372-EC75-4BBD-B38B-2DFC7F6F97AE}"/>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E293164-EC55-4318-B6C8-B9BB4DA1C6D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B5A786FE-4815-43E3-9C80-FDF89FBAF9C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5</a:t>
            </a:r>
            <a:endParaRPr sz="850"/>
          </a:p>
        </p:txBody>
      </p:sp>
    </p:spTree>
    <p:extLst>
      <p:ext uri="{BB962C8B-B14F-4D97-AF65-F5344CB8AC3E}">
        <p14:creationId xmlns:p14="http://schemas.microsoft.com/office/powerpoint/2010/main" val="11930940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9C22FCA-E3FB-4F0B-8040-F6759CE53305}"/>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06489E36-0E19-4F9C-92B2-19B4B161CD0D}"/>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ML-компонент как учебный объект</a:t>
            </a:r>
            <a:endParaRPr sz="2300"/>
          </a:p>
        </p:txBody>
      </p:sp>
      <p:sp>
        <p:nvSpPr>
          <p:cNvPr id="4" name="Text 2">
            <a:extLst xmlns:a="http://schemas.openxmlformats.org/drawingml/2006/main">
              <a:ext uri="{FF2B5EF4-FFF2-40B4-BE49-F238E27FC236}">
                <a16:creationId xmlns:a16="http://schemas.microsoft.com/office/drawing/2014/main" id="{E579F9A3-F91D-4EBA-8E70-3C48E8A12179}"/>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Модель используется как удобный компонент с понятным входом и выходом</a:t>
            </a:r>
            <a:endParaRPr sz="1800"/>
          </a:p>
          <a:p xmlns:a="http://schemas.openxmlformats.org/drawingml/2006/main">
            <a:pPr marL="0" indent="0">
              <a:buNone/>
            </a:pPr>
            <a:r>
              <a:rPr sz="1800">
                <a:solidFill>
                  <a:srgbClr val="111827"/>
                </a:solidFill>
                <a:latin typeface="Arial"/>
                <a:ea typeface="Arial"/>
                <a:cs typeface="Arial"/>
              </a:rPr>
              <a:t>• Качество модели не является предметом оценивания в первой практике</a:t>
            </a:r>
            <a:endParaRPr sz="1800"/>
          </a:p>
          <a:p xmlns:a="http://schemas.openxmlformats.org/drawingml/2006/main">
            <a:pPr marL="0" indent="0">
              <a:buNone/>
            </a:pPr>
            <a:r>
              <a:rPr sz="1800">
                <a:solidFill>
                  <a:srgbClr val="111827"/>
                </a:solidFill>
                <a:latin typeface="Arial"/>
                <a:ea typeface="Arial"/>
                <a:cs typeface="Arial"/>
              </a:rPr>
              <a:t>• Оценивается возможность повторить запуск и встроить компонент в следующую систему</a:t>
            </a:r>
            <a:endParaRPr sz="1800"/>
          </a:p>
        </p:txBody>
      </p:sp>
      <p:sp>
        <p:nvSpPr>
          <p:cNvPr id="5" name="Text 3">
            <a:extLst xmlns:a="http://schemas.openxmlformats.org/drawingml/2006/main">
              <a:ext uri="{FF2B5EF4-FFF2-40B4-BE49-F238E27FC236}">
                <a16:creationId xmlns:a16="http://schemas.microsoft.com/office/drawing/2014/main" id="{ECF3E7C8-466A-4B56-8321-F0CA4A3251FC}"/>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В первой практике модель может быть простой; инженерная упаковка должна быть осмысленной.</a:t>
            </a:r>
            <a:endParaRPr sz="1450"/>
          </a:p>
        </p:txBody>
      </p:sp>
      <p:sp>
        <p:nvSpPr>
          <p:cNvPr id="6" name="Text 4">
            <a:extLst xmlns:a="http://schemas.openxmlformats.org/drawingml/2006/main">
              <a:ext uri="{FF2B5EF4-FFF2-40B4-BE49-F238E27FC236}">
                <a16:creationId xmlns:a16="http://schemas.microsoft.com/office/drawing/2014/main" id="{57767A42-90EF-478E-AA52-0ECB9D297EBF}"/>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Место дисциплины в жизненном цикле ПО</a:t>
            </a:r>
            <a:endParaRPr sz="1200"/>
          </a:p>
        </p:txBody>
      </p:sp>
      <p:sp>
        <p:nvSpPr>
          <p:cNvPr id="7" name="Shape 5">
            <a:extLst xmlns:a="http://schemas.openxmlformats.org/drawingml/2006/main">
              <a:ext uri="{FF2B5EF4-FFF2-40B4-BE49-F238E27FC236}">
                <a16:creationId xmlns:a16="http://schemas.microsoft.com/office/drawing/2014/main" id="{6028BB36-7D2C-4FED-8F63-A8BD07897B0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28951E5A-7D80-45A5-A4C2-BF0820DAD433}"/>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E1F4849D-88A5-4591-8B84-20B9DF095EA2}"/>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6</a:t>
            </a:r>
            <a:endParaRPr sz="850"/>
          </a:p>
        </p:txBody>
      </p:sp>
    </p:spTree>
    <p:extLst>
      <p:ext uri="{BB962C8B-B14F-4D97-AF65-F5344CB8AC3E}">
        <p14:creationId xmlns:p14="http://schemas.microsoft.com/office/powerpoint/2010/main" val="20874216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A4A5D4-9A0F-4741-9A65-FAAEA8EDE1A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633A99B2-BEF9-48D0-BC96-E86142A1D5E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Место ПО в структуре и жизненном цикле бизнеса</a:t>
            </a:r>
            <a:endParaRPr sz="2300"/>
          </a:p>
        </p:txBody>
      </p:sp>
      <p:sp>
        <p:nvSpPr>
          <p:cNvPr id="4" name="Text 2">
            <a:extLst xmlns:a="http://schemas.openxmlformats.org/drawingml/2006/main">
              <a:ext uri="{FF2B5EF4-FFF2-40B4-BE49-F238E27FC236}">
                <a16:creationId xmlns:a16="http://schemas.microsoft.com/office/drawing/2014/main" id="{5B19DEF0-254B-4EC4-AFEC-AD13DB2C89E5}"/>
              </a:ext>
            </a:extLst>
          </p:cNvPr>
          <p:cNvSpPr>
            <a:spLocks xmlns:a="http://schemas.openxmlformats.org/drawingml/2006/main" noGrp="1"/>
          </p:cNvSpPr>
          <p:nvPr/>
        </p:nvSpPr>
        <p:spPr>
          <a:xfrm xmlns:a="http://schemas.openxmlformats.org/drawingml/2006/main">
            <a:off x="640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1</a:t>
            </a:r>
            <a:endParaRPr sz="1200"/>
          </a:p>
        </p:txBody>
      </p:sp>
      <p:sp>
        <p:nvSpPr>
          <p:cNvPr id="5" name="Text 3">
            <a:extLst xmlns:a="http://schemas.openxmlformats.org/drawingml/2006/main">
              <a:ext uri="{FF2B5EF4-FFF2-40B4-BE49-F238E27FC236}">
                <a16:creationId xmlns:a16="http://schemas.microsoft.com/office/drawing/2014/main" id="{76F00645-F058-4300-8745-350087BF1374}"/>
              </a:ext>
            </a:extLst>
          </p:cNvPr>
          <p:cNvSpPr>
            <a:spLocks xmlns:a="http://schemas.openxmlformats.org/drawingml/2006/main" noGrp="1"/>
          </p:cNvSpPr>
          <p:nvPr/>
        </p:nvSpPr>
        <p:spPr>
          <a:xfrm xmlns:a="http://schemas.openxmlformats.org/drawingml/2006/main">
            <a:off x="640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Цель бизнеса</a:t>
            </a:r>
            <a:endParaRPr sz="1400"/>
          </a:p>
          <a:p xmlns:a="http://schemas.openxmlformats.org/drawingml/2006/main">
            <a:pPr marL="0" indent="0" algn="ctr">
              <a:buNone/>
            </a:pPr>
            <a:r>
              <a:rPr sz="1400" b="1">
                <a:solidFill>
                  <a:srgbClr val="111827"/>
                </a:solidFill>
                <a:latin typeface="Arial"/>
                <a:ea typeface="Arial"/>
                <a:cs typeface="Arial"/>
              </a:rPr>
              <a:t>ценность</a:t>
            </a:r>
            <a:endParaRPr sz="1400"/>
          </a:p>
          <a:p xmlns:a="http://schemas.openxmlformats.org/drawingml/2006/main">
            <a:pPr marL="0" indent="0" algn="ctr">
              <a:buNone/>
            </a:pPr>
            <a:r>
              <a:rPr sz="1400" b="1">
                <a:solidFill>
                  <a:srgbClr val="111827"/>
                </a:solidFill>
                <a:latin typeface="Arial"/>
                <a:ea typeface="Arial"/>
                <a:cs typeface="Arial"/>
              </a:rPr>
              <a:t>и ограничения</a:t>
            </a:r>
            <a:endParaRPr sz="1400"/>
          </a:p>
        </p:txBody>
      </p:sp>
      <p:sp>
        <p:nvSpPr>
          <p:cNvPr id="6" name="Shape 4">
            <a:extLst xmlns:a="http://schemas.openxmlformats.org/drawingml/2006/main">
              <a:ext uri="{FF2B5EF4-FFF2-40B4-BE49-F238E27FC236}">
                <a16:creationId xmlns:a16="http://schemas.microsoft.com/office/drawing/2014/main" id="{0A4D44A4-AD68-4602-9FF9-4FD24DE6E45A}"/>
              </a:ext>
            </a:extLst>
          </p:cNvPr>
          <p:cNvSpPr>
            <a:spLocks xmlns:a="http://schemas.openxmlformats.org/drawingml/2006/main" noGrp="1"/>
          </p:cNvSpPr>
          <p:nvPr/>
        </p:nvSpPr>
        <p:spPr>
          <a:xfrm xmlns:a="http://schemas.openxmlformats.org/drawingml/2006/main">
            <a:off x="2743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7" name="Text 5">
            <a:extLst xmlns:a="http://schemas.openxmlformats.org/drawingml/2006/main">
              <a:ext uri="{FF2B5EF4-FFF2-40B4-BE49-F238E27FC236}">
                <a16:creationId xmlns:a16="http://schemas.microsoft.com/office/drawing/2014/main" id="{FBEDA7ED-89C0-4D75-BB74-9656AD4C4518}"/>
              </a:ext>
            </a:extLst>
          </p:cNvPr>
          <p:cNvSpPr>
            <a:spLocks xmlns:a="http://schemas.openxmlformats.org/drawingml/2006/main" noGrp="1"/>
          </p:cNvSpPr>
          <p:nvPr/>
        </p:nvSpPr>
        <p:spPr>
          <a:xfrm xmlns:a="http://schemas.openxmlformats.org/drawingml/2006/main">
            <a:off x="2926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2</a:t>
            </a:r>
            <a:endParaRPr sz="1200"/>
          </a:p>
        </p:txBody>
      </p:sp>
      <p:sp>
        <p:nvSpPr>
          <p:cNvPr id="8" name="Text 6">
            <a:extLst xmlns:a="http://schemas.openxmlformats.org/drawingml/2006/main">
              <a:ext uri="{FF2B5EF4-FFF2-40B4-BE49-F238E27FC236}">
                <a16:creationId xmlns:a16="http://schemas.microsoft.com/office/drawing/2014/main" id="{2CB82D49-087C-45DB-B529-B104FACB6B87}"/>
              </a:ext>
            </a:extLst>
          </p:cNvPr>
          <p:cNvSpPr>
            <a:spLocks xmlns:a="http://schemas.openxmlformats.org/drawingml/2006/main" noGrp="1"/>
          </p:cNvSpPr>
          <p:nvPr/>
        </p:nvSpPr>
        <p:spPr>
          <a:xfrm xmlns:a="http://schemas.openxmlformats.org/drawingml/2006/main">
            <a:off x="2926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Бизнес-процесс</a:t>
            </a:r>
            <a:endParaRPr sz="1400"/>
          </a:p>
          <a:p xmlns:a="http://schemas.openxmlformats.org/drawingml/2006/main">
            <a:pPr marL="0" indent="0" algn="ctr">
              <a:buNone/>
            </a:pPr>
            <a:r>
              <a:rPr sz="1400" b="1">
                <a:solidFill>
                  <a:srgbClr val="111827"/>
                </a:solidFill>
                <a:latin typeface="Arial"/>
                <a:ea typeface="Arial"/>
                <a:cs typeface="Arial"/>
              </a:rPr>
              <a:t>роли</a:t>
            </a:r>
            <a:endParaRPr sz="1400"/>
          </a:p>
          <a:p xmlns:a="http://schemas.openxmlformats.org/drawingml/2006/main">
            <a:pPr marL="0" indent="0" algn="ctr">
              <a:buNone/>
            </a:pPr>
            <a:r>
              <a:rPr sz="1400" b="1">
                <a:solidFill>
                  <a:srgbClr val="111827"/>
                </a:solidFill>
                <a:latin typeface="Arial"/>
                <a:ea typeface="Arial"/>
                <a:cs typeface="Arial"/>
              </a:rPr>
              <a:t>и правила</a:t>
            </a:r>
            <a:endParaRPr sz="1400"/>
          </a:p>
        </p:txBody>
      </p:sp>
      <p:sp>
        <p:nvSpPr>
          <p:cNvPr id="9" name="Shape 7">
            <a:extLst xmlns:a="http://schemas.openxmlformats.org/drawingml/2006/main">
              <a:ext uri="{FF2B5EF4-FFF2-40B4-BE49-F238E27FC236}">
                <a16:creationId xmlns:a16="http://schemas.microsoft.com/office/drawing/2014/main" id="{DCC0FB5E-9E6E-4AB6-975D-C8BF9341D21A}"/>
              </a:ext>
            </a:extLst>
          </p:cNvPr>
          <p:cNvSpPr>
            <a:spLocks xmlns:a="http://schemas.openxmlformats.org/drawingml/2006/main" noGrp="1"/>
          </p:cNvSpPr>
          <p:nvPr/>
        </p:nvSpPr>
        <p:spPr>
          <a:xfrm xmlns:a="http://schemas.openxmlformats.org/drawingml/2006/main">
            <a:off x="5029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0" name="Text 8">
            <a:extLst xmlns:a="http://schemas.openxmlformats.org/drawingml/2006/main">
              <a:ext uri="{FF2B5EF4-FFF2-40B4-BE49-F238E27FC236}">
                <a16:creationId xmlns:a16="http://schemas.microsoft.com/office/drawing/2014/main" id="{FC265460-6C3F-43B4-9E5E-80C101F3D198}"/>
              </a:ext>
            </a:extLst>
          </p:cNvPr>
          <p:cNvSpPr>
            <a:spLocks xmlns:a="http://schemas.openxmlformats.org/drawingml/2006/main" noGrp="1"/>
          </p:cNvSpPr>
          <p:nvPr/>
        </p:nvSpPr>
        <p:spPr>
          <a:xfrm xmlns:a="http://schemas.openxmlformats.org/drawingml/2006/main">
            <a:off x="5212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3</a:t>
            </a:r>
            <a:endParaRPr sz="1200"/>
          </a:p>
        </p:txBody>
      </p:sp>
      <p:sp>
        <p:nvSpPr>
          <p:cNvPr id="11" name="Text 9">
            <a:extLst xmlns:a="http://schemas.openxmlformats.org/drawingml/2006/main">
              <a:ext uri="{FF2B5EF4-FFF2-40B4-BE49-F238E27FC236}">
                <a16:creationId xmlns:a16="http://schemas.microsoft.com/office/drawing/2014/main" id="{667FB3D3-6EFA-4DD0-8E4F-BD4611C729F2}"/>
              </a:ext>
            </a:extLst>
          </p:cNvPr>
          <p:cNvSpPr>
            <a:spLocks xmlns:a="http://schemas.openxmlformats.org/drawingml/2006/main" noGrp="1"/>
          </p:cNvSpPr>
          <p:nvPr/>
        </p:nvSpPr>
        <p:spPr>
          <a:xfrm xmlns:a="http://schemas.openxmlformats.org/drawingml/2006/main">
            <a:off x="5212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Программная</a:t>
            </a:r>
            <a:endParaRPr sz="1400"/>
          </a:p>
          <a:p xmlns:a="http://schemas.openxmlformats.org/drawingml/2006/main">
            <a:pPr marL="0" indent="0" algn="ctr">
              <a:buNone/>
            </a:pPr>
            <a:r>
              <a:rPr sz="1400" b="1">
                <a:solidFill>
                  <a:srgbClr val="111827"/>
                </a:solidFill>
                <a:latin typeface="Arial"/>
                <a:ea typeface="Arial"/>
                <a:cs typeface="Arial"/>
              </a:rPr>
              <a:t>система</a:t>
            </a:r>
            <a:endParaRPr sz="1400"/>
          </a:p>
          <a:p xmlns:a="http://schemas.openxmlformats.org/drawingml/2006/main">
            <a:pPr marL="0" indent="0" algn="ctr">
              <a:buNone/>
            </a:pPr>
            <a:r>
              <a:rPr sz="1400" b="1">
                <a:solidFill>
                  <a:srgbClr val="111827"/>
                </a:solidFill>
                <a:latin typeface="Arial"/>
                <a:ea typeface="Arial"/>
                <a:cs typeface="Arial"/>
              </a:rPr>
              <a:t>и данные</a:t>
            </a:r>
            <a:endParaRPr sz="1400"/>
          </a:p>
        </p:txBody>
      </p:sp>
      <p:sp>
        <p:nvSpPr>
          <p:cNvPr id="12" name="Shape 10">
            <a:extLst xmlns:a="http://schemas.openxmlformats.org/drawingml/2006/main">
              <a:ext uri="{FF2B5EF4-FFF2-40B4-BE49-F238E27FC236}">
                <a16:creationId xmlns:a16="http://schemas.microsoft.com/office/drawing/2014/main" id="{EFED1E37-4E8B-41C0-94AA-13D80084A6D6}"/>
              </a:ext>
            </a:extLst>
          </p:cNvPr>
          <p:cNvSpPr>
            <a:spLocks xmlns:a="http://schemas.openxmlformats.org/drawingml/2006/main" noGrp="1"/>
          </p:cNvSpPr>
          <p:nvPr/>
        </p:nvSpPr>
        <p:spPr>
          <a:xfrm xmlns:a="http://schemas.openxmlformats.org/drawingml/2006/main">
            <a:off x="7315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3" name="Text 11">
            <a:extLst xmlns:a="http://schemas.openxmlformats.org/drawingml/2006/main">
              <a:ext uri="{FF2B5EF4-FFF2-40B4-BE49-F238E27FC236}">
                <a16:creationId xmlns:a16="http://schemas.microsoft.com/office/drawing/2014/main" id="{CE53C30F-17B9-4054-A307-3B562FAEEBC5}"/>
              </a:ext>
            </a:extLst>
          </p:cNvPr>
          <p:cNvSpPr>
            <a:spLocks xmlns:a="http://schemas.openxmlformats.org/drawingml/2006/main" noGrp="1"/>
          </p:cNvSpPr>
          <p:nvPr/>
        </p:nvSpPr>
        <p:spPr>
          <a:xfrm xmlns:a="http://schemas.openxmlformats.org/drawingml/2006/main">
            <a:off x="7498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4</a:t>
            </a:r>
            <a:endParaRPr sz="1200"/>
          </a:p>
        </p:txBody>
      </p:sp>
      <p:sp>
        <p:nvSpPr>
          <p:cNvPr id="14" name="Text 12">
            <a:extLst xmlns:a="http://schemas.openxmlformats.org/drawingml/2006/main">
              <a:ext uri="{FF2B5EF4-FFF2-40B4-BE49-F238E27FC236}">
                <a16:creationId xmlns:a16="http://schemas.microsoft.com/office/drawing/2014/main" id="{76503B5A-3C2E-4596-8571-F5395173BC77}"/>
              </a:ext>
            </a:extLst>
          </p:cNvPr>
          <p:cNvSpPr>
            <a:spLocks xmlns:a="http://schemas.openxmlformats.org/drawingml/2006/main" noGrp="1"/>
          </p:cNvSpPr>
          <p:nvPr/>
        </p:nvSpPr>
        <p:spPr>
          <a:xfrm xmlns:a="http://schemas.openxmlformats.org/drawingml/2006/main">
            <a:off x="7498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Операционная</a:t>
            </a:r>
            <a:endParaRPr sz="1400"/>
          </a:p>
          <a:p xmlns:a="http://schemas.openxmlformats.org/drawingml/2006/main">
            <a:pPr marL="0" indent="0" algn="ctr">
              <a:buNone/>
            </a:pPr>
            <a:r>
              <a:rPr sz="1400" b="1">
                <a:solidFill>
                  <a:srgbClr val="111827"/>
                </a:solidFill>
                <a:latin typeface="Arial"/>
                <a:ea typeface="Arial"/>
                <a:cs typeface="Arial"/>
              </a:rPr>
              <a:t>работа</a:t>
            </a:r>
            <a:endParaRPr sz="1400"/>
          </a:p>
          <a:p xmlns:a="http://schemas.openxmlformats.org/drawingml/2006/main">
            <a:pPr marL="0" indent="0" algn="ctr">
              <a:buNone/>
            </a:pPr>
            <a:r>
              <a:rPr sz="1400" b="1">
                <a:solidFill>
                  <a:srgbClr val="111827"/>
                </a:solidFill>
                <a:latin typeface="Arial"/>
                <a:ea typeface="Arial"/>
                <a:cs typeface="Arial"/>
              </a:rPr>
              <a:t>и метрики</a:t>
            </a:r>
            <a:endParaRPr sz="1400"/>
          </a:p>
        </p:txBody>
      </p:sp>
      <p:sp>
        <p:nvSpPr>
          <p:cNvPr id="15" name="Shape 13">
            <a:extLst xmlns:a="http://schemas.openxmlformats.org/drawingml/2006/main">
              <a:ext uri="{FF2B5EF4-FFF2-40B4-BE49-F238E27FC236}">
                <a16:creationId xmlns:a16="http://schemas.microsoft.com/office/drawing/2014/main" id="{5CE083EB-1D2D-48EF-80DB-F33D33F36D42}"/>
              </a:ext>
            </a:extLst>
          </p:cNvPr>
          <p:cNvSpPr>
            <a:spLocks xmlns:a="http://schemas.openxmlformats.org/drawingml/2006/main" noGrp="1"/>
          </p:cNvSpPr>
          <p:nvPr/>
        </p:nvSpPr>
        <p:spPr>
          <a:xfrm xmlns:a="http://schemas.openxmlformats.org/drawingml/2006/main">
            <a:off x="9601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6" name="Text 14">
            <a:extLst xmlns:a="http://schemas.openxmlformats.org/drawingml/2006/main">
              <a:ext uri="{FF2B5EF4-FFF2-40B4-BE49-F238E27FC236}">
                <a16:creationId xmlns:a16="http://schemas.microsoft.com/office/drawing/2014/main" id="{96A82715-8E34-4F0A-BB49-3338617AE454}"/>
              </a:ext>
            </a:extLst>
          </p:cNvPr>
          <p:cNvSpPr>
            <a:spLocks xmlns:a="http://schemas.openxmlformats.org/drawingml/2006/main" noGrp="1"/>
          </p:cNvSpPr>
          <p:nvPr/>
        </p:nvSpPr>
        <p:spPr>
          <a:xfrm xmlns:a="http://schemas.openxmlformats.org/drawingml/2006/main">
            <a:off x="9784080" y="1600200"/>
            <a:ext cx="384048" cy="292608"/>
          </a:xfrm>
          <a:prstGeom xmlns:a="http://schemas.openxmlformats.org/drawingml/2006/main" prst="rect">
            <a:avLst/>
          </a:prstGeom>
          <a:solidFill xmlns:a="http://schemas.openxmlformats.org/drawingml/2006/main">
            <a:srgbClr val="6D28D9"/>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5</a:t>
            </a:r>
            <a:endParaRPr sz="1200"/>
          </a:p>
        </p:txBody>
      </p:sp>
      <p:sp>
        <p:nvSpPr>
          <p:cNvPr id="17" name="Text 15">
            <a:extLst xmlns:a="http://schemas.openxmlformats.org/drawingml/2006/main">
              <a:ext uri="{FF2B5EF4-FFF2-40B4-BE49-F238E27FC236}">
                <a16:creationId xmlns:a16="http://schemas.microsoft.com/office/drawing/2014/main" id="{C5683AC7-C61E-4B71-8540-89CE1EA2B0CE}"/>
              </a:ext>
            </a:extLst>
          </p:cNvPr>
          <p:cNvSpPr>
            <a:spLocks xmlns:a="http://schemas.openxmlformats.org/drawingml/2006/main" noGrp="1"/>
          </p:cNvSpPr>
          <p:nvPr/>
        </p:nvSpPr>
        <p:spPr>
          <a:xfrm xmlns:a="http://schemas.openxmlformats.org/drawingml/2006/main">
            <a:off x="9784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Результат</a:t>
            </a:r>
            <a:endParaRPr sz="1400"/>
          </a:p>
          <a:p xmlns:a="http://schemas.openxmlformats.org/drawingml/2006/main">
            <a:pPr marL="0" indent="0" algn="ctr">
              <a:buNone/>
            </a:pPr>
            <a:r>
              <a:rPr sz="1400" b="1">
                <a:solidFill>
                  <a:srgbClr val="111827"/>
                </a:solidFill>
                <a:latin typeface="Arial"/>
                <a:ea typeface="Arial"/>
                <a:cs typeface="Arial"/>
              </a:rPr>
              <a:t>обратная связь</a:t>
            </a:r>
            <a:endParaRPr sz="1400"/>
          </a:p>
          <a:p xmlns:a="http://schemas.openxmlformats.org/drawingml/2006/main">
            <a:pPr marL="0" indent="0" algn="ctr">
              <a:buNone/>
            </a:pPr>
            <a:r>
              <a:rPr sz="1400" b="1">
                <a:solidFill>
                  <a:srgbClr val="111827"/>
                </a:solidFill>
                <a:latin typeface="Arial"/>
                <a:ea typeface="Arial"/>
                <a:cs typeface="Arial"/>
              </a:rPr>
              <a:t>и изменения</a:t>
            </a:r>
            <a:endParaRPr sz="1400"/>
          </a:p>
        </p:txBody>
      </p:sp>
      <p:sp>
        <p:nvSpPr>
          <p:cNvPr id="18" name="Text 16">
            <a:extLst xmlns:a="http://schemas.openxmlformats.org/drawingml/2006/main">
              <a:ext uri="{FF2B5EF4-FFF2-40B4-BE49-F238E27FC236}">
                <a16:creationId xmlns:a16="http://schemas.microsoft.com/office/drawing/2014/main" id="{2FC6C8FF-00AF-4BFE-97ED-50A8234DA0A7}"/>
              </a:ext>
            </a:extLst>
          </p:cNvPr>
          <p:cNvSpPr>
            <a:spLocks xmlns:a="http://schemas.openxmlformats.org/drawingml/2006/main" noGrp="1"/>
          </p:cNvSpPr>
          <p:nvPr/>
        </p:nvSpPr>
        <p:spPr>
          <a:xfrm xmlns:a="http://schemas.openxmlformats.org/drawingml/2006/main">
            <a:off x="731520" y="3657600"/>
            <a:ext cx="6492240" cy="13716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latin typeface="Arial"/>
                <a:ea typeface="Arial"/>
                <a:cs typeface="Arial"/>
              </a:rPr>
              <a:t>• ПО автоматизирует или поддерживает конкретный бизнес-процесс</a:t>
            </a:r>
            <a:endParaRPr sz="1600"/>
          </a:p>
          <a:p xmlns:a="http://schemas.openxmlformats.org/drawingml/2006/main">
            <a:pPr marL="0" indent="0">
              <a:buNone/>
            </a:pPr>
            <a:r>
              <a:rPr sz="1600">
                <a:solidFill>
                  <a:srgbClr val="111827"/>
                </a:solidFill>
                <a:latin typeface="Arial"/>
                <a:ea typeface="Arial"/>
                <a:cs typeface="Arial"/>
              </a:rPr>
              <a:t>• Работа системы измеряется через операционные и бизнес-метрики</a:t>
            </a:r>
            <a:endParaRPr sz="1600"/>
          </a:p>
          <a:p xmlns:a="http://schemas.openxmlformats.org/drawingml/2006/main">
            <a:pPr marL="0" indent="0">
              <a:buNone/>
            </a:pPr>
            <a:r>
              <a:rPr sz="1600">
                <a:solidFill>
                  <a:srgbClr val="111827"/>
                </a:solidFill>
                <a:latin typeface="Arial"/>
                <a:ea typeface="Arial"/>
                <a:cs typeface="Arial"/>
              </a:rPr>
              <a:t>• Изменение цели или процесса создаёт новую версию требований к ПО</a:t>
            </a:r>
            <a:endParaRPr sz="1600"/>
          </a:p>
        </p:txBody>
      </p:sp>
      <p:sp>
        <p:nvSpPr>
          <p:cNvPr id="19" name="Text 17">
            <a:extLst xmlns:a="http://schemas.openxmlformats.org/drawingml/2006/main">
              <a:ext uri="{FF2B5EF4-FFF2-40B4-BE49-F238E27FC236}">
                <a16:creationId xmlns:a16="http://schemas.microsoft.com/office/drawing/2014/main" id="{C18E2DE5-D66C-4171-8968-CA4109178486}"/>
              </a:ext>
            </a:extLst>
          </p:cNvPr>
          <p:cNvSpPr>
            <a:spLocks xmlns:a="http://schemas.openxmlformats.org/drawingml/2006/main" noGrp="1"/>
          </p:cNvSpPr>
          <p:nvPr/>
        </p:nvSpPr>
        <p:spPr>
          <a:xfrm xmlns:a="http://schemas.openxmlformats.org/drawingml/2006/main">
            <a:off x="7726680" y="3520440"/>
            <a:ext cx="3474720" cy="274320"/>
          </a:xfrm>
          <a:prstGeom xmlns:a="http://schemas.openxmlformats.org/drawingml/2006/main" prst="rect">
            <a:avLst/>
          </a:prstGeom>
          <a:solidFill xmlns:a="http://schemas.openxmlformats.org/drawingml/2006/main">
            <a:srgbClr val="2563EB"/>
          </a:solidFill>
        </p:spPr>
        <p:txBody>
          <a:bodyPr xmlns:a="http://schemas.openxmlformats.org/drawingml/2006/main" wrap="square" lIns="381" tIns="381" rIns="381" bIns="381"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Роль ПО</a:t>
            </a:r>
            <a:endParaRPr sz="1100"/>
          </a:p>
        </p:txBody>
      </p:sp>
      <p:sp>
        <p:nvSpPr>
          <p:cNvPr id="20" name="Text 18">
            <a:extLst xmlns:a="http://schemas.openxmlformats.org/drawingml/2006/main">
              <a:ext uri="{FF2B5EF4-FFF2-40B4-BE49-F238E27FC236}">
                <a16:creationId xmlns:a16="http://schemas.microsoft.com/office/drawing/2014/main" id="{737AF35C-62F8-44CC-9918-E6FEB6498B03}"/>
              </a:ext>
            </a:extLst>
          </p:cNvPr>
          <p:cNvSpPr>
            <a:spLocks xmlns:a="http://schemas.openxmlformats.org/drawingml/2006/main" noGrp="1"/>
          </p:cNvSpPr>
          <p:nvPr/>
        </p:nvSpPr>
        <p:spPr>
          <a:xfrm xmlns:a="http://schemas.openxmlformats.org/drawingml/2006/main">
            <a:off x="7726680" y="3886200"/>
            <a:ext cx="3474720" cy="109728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032" tIns="2032" rIns="2032" bIns="2032" anchor="ctr">
            <a:normAutofit/>
          </a:bodyPr>
          <a:lstStyle xmlns:a="http://schemas.openxmlformats.org/drawingml/2006/main"/>
          <a:p xmlns:a="http://schemas.openxmlformats.org/drawingml/2006/main">
            <a:pPr marL="0" indent="0">
              <a:buNone/>
            </a:pPr>
            <a:r>
              <a:rPr sz="1500">
                <a:solidFill>
                  <a:srgbClr val="111827"/>
                </a:solidFill>
                <a:latin typeface="Arial"/>
                <a:ea typeface="Arial"/>
                <a:cs typeface="Arial"/>
              </a:rPr>
              <a:t>ПО связывает правила бизнеса с повторяемым выполнением операций и измеримым результатом.</a:t>
            </a:r>
            <a:endParaRPr sz="1500"/>
          </a:p>
        </p:txBody>
      </p:sp>
      <p:sp>
        <p:nvSpPr>
          <p:cNvPr id="21" name="Shape 19">
            <a:extLst xmlns:a="http://schemas.openxmlformats.org/drawingml/2006/main">
              <a:ext uri="{FF2B5EF4-FFF2-40B4-BE49-F238E27FC236}">
                <a16:creationId xmlns:a16="http://schemas.microsoft.com/office/drawing/2014/main" id="{163000F9-3D7C-4728-B241-DF048824DB4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D3260D82-1363-4778-89E4-003C58978D7C}"/>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23" name="Text 21">
            <a:extLst xmlns:a="http://schemas.openxmlformats.org/drawingml/2006/main">
              <a:ext uri="{FF2B5EF4-FFF2-40B4-BE49-F238E27FC236}">
                <a16:creationId xmlns:a16="http://schemas.microsoft.com/office/drawing/2014/main" id="{93E1E90A-F6BF-4399-9B88-93880476245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8</a:t>
            </a:r>
            <a:endParaRPr sz="850"/>
          </a:p>
        </p:txBody>
      </p:sp>
    </p:spTree>
    <p:extLst>
      <p:ext uri="{BB962C8B-B14F-4D97-AF65-F5344CB8AC3E}">
        <p14:creationId xmlns:p14="http://schemas.microsoft.com/office/powerpoint/2010/main" val="3217756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A4A5D4-9A0F-4741-9A65-FAAEA8EDE1A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633A99B2-BEF9-48D0-BC96-E86142A1D5E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Место дисциплины в жизненном цикле ПО</a:t>
            </a:r>
            <a:endParaRPr sz="2300"/>
          </a:p>
        </p:txBody>
      </p:sp>
      <p:sp>
        <p:nvSpPr>
          <p:cNvPr id="4" name="Text 2">
            <a:extLst xmlns:a="http://schemas.openxmlformats.org/drawingml/2006/main">
              <a:ext uri="{FF2B5EF4-FFF2-40B4-BE49-F238E27FC236}">
                <a16:creationId xmlns:a16="http://schemas.microsoft.com/office/drawing/2014/main" id="{5B19DEF0-254B-4EC4-AFEC-AD13DB2C89E5}"/>
              </a:ext>
            </a:extLst>
          </p:cNvPr>
          <p:cNvSpPr>
            <a:spLocks xmlns:a="http://schemas.openxmlformats.org/drawingml/2006/main" noGrp="1"/>
          </p:cNvSpPr>
          <p:nvPr/>
        </p:nvSpPr>
        <p:spPr>
          <a:xfrm xmlns:a="http://schemas.openxmlformats.org/drawingml/2006/main">
            <a:off x="640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1</a:t>
            </a:r>
            <a:endParaRPr sz="1200"/>
          </a:p>
        </p:txBody>
      </p:sp>
      <p:sp>
        <p:nvSpPr>
          <p:cNvPr id="5" name="Text 3">
            <a:extLst xmlns:a="http://schemas.openxmlformats.org/drawingml/2006/main">
              <a:ext uri="{FF2B5EF4-FFF2-40B4-BE49-F238E27FC236}">
                <a16:creationId xmlns:a16="http://schemas.microsoft.com/office/drawing/2014/main" id="{76F00645-F058-4300-8745-350087BF1374}"/>
              </a:ext>
            </a:extLst>
          </p:cNvPr>
          <p:cNvSpPr>
            <a:spLocks xmlns:a="http://schemas.openxmlformats.org/drawingml/2006/main" noGrp="1"/>
          </p:cNvSpPr>
          <p:nvPr/>
        </p:nvSpPr>
        <p:spPr>
          <a:xfrm xmlns:a="http://schemas.openxmlformats.org/drawingml/2006/main">
            <a:off x="640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Потребность</a:t>
            </a:r>
            <a:endParaRPr sz="1400"/>
          </a:p>
          <a:p xmlns:a="http://schemas.openxmlformats.org/drawingml/2006/main">
            <a:pPr marL="0" indent="0" algn="ctr">
              <a:buNone/>
            </a:pPr>
            <a:r>
              <a:rPr sz="1400" b="1">
                <a:solidFill>
                  <a:srgbClr val="111827"/>
                </a:solidFill>
                <a:latin typeface="Arial"/>
                <a:ea typeface="Arial"/>
                <a:cs typeface="Arial"/>
              </a:rPr>
              <a:t>и требования</a:t>
            </a:r>
            <a:endParaRPr sz="1400"/>
          </a:p>
          <a:p xmlns:a="http://schemas.openxmlformats.org/drawingml/2006/main">
            <a:pPr marL="0" indent="0" algn="ctr">
              <a:buNone/>
            </a:pPr>
            <a:r>
              <a:rPr sz="1400" b="1">
                <a:solidFill>
                  <a:srgbClr val="111827"/>
                </a:solidFill>
                <a:latin typeface="Arial"/>
                <a:ea typeface="Arial"/>
                <a:cs typeface="Arial"/>
              </a:rPr>
              <a:t>к системе</a:t>
            </a:r>
            <a:endParaRPr sz="1400"/>
          </a:p>
        </p:txBody>
      </p:sp>
      <p:sp>
        <p:nvSpPr>
          <p:cNvPr id="6" name="Shape 4">
            <a:extLst xmlns:a="http://schemas.openxmlformats.org/drawingml/2006/main">
              <a:ext uri="{FF2B5EF4-FFF2-40B4-BE49-F238E27FC236}">
                <a16:creationId xmlns:a16="http://schemas.microsoft.com/office/drawing/2014/main" id="{0A4D44A4-AD68-4602-9FF9-4FD24DE6E45A}"/>
              </a:ext>
            </a:extLst>
          </p:cNvPr>
          <p:cNvSpPr>
            <a:spLocks xmlns:a="http://schemas.openxmlformats.org/drawingml/2006/main" noGrp="1"/>
          </p:cNvSpPr>
          <p:nvPr/>
        </p:nvSpPr>
        <p:spPr>
          <a:xfrm xmlns:a="http://schemas.openxmlformats.org/drawingml/2006/main">
            <a:off x="2743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7" name="Text 5">
            <a:extLst xmlns:a="http://schemas.openxmlformats.org/drawingml/2006/main">
              <a:ext uri="{FF2B5EF4-FFF2-40B4-BE49-F238E27FC236}">
                <a16:creationId xmlns:a16="http://schemas.microsoft.com/office/drawing/2014/main" id="{FBEDA7ED-89C0-4D75-BB74-9656AD4C4518}"/>
              </a:ext>
            </a:extLst>
          </p:cNvPr>
          <p:cNvSpPr>
            <a:spLocks xmlns:a="http://schemas.openxmlformats.org/drawingml/2006/main" noGrp="1"/>
          </p:cNvSpPr>
          <p:nvPr/>
        </p:nvSpPr>
        <p:spPr>
          <a:xfrm xmlns:a="http://schemas.openxmlformats.org/drawingml/2006/main">
            <a:off x="2926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2</a:t>
            </a:r>
            <a:endParaRPr sz="1200"/>
          </a:p>
        </p:txBody>
      </p:sp>
      <p:sp>
        <p:nvSpPr>
          <p:cNvPr id="8" name="Text 6">
            <a:extLst xmlns:a="http://schemas.openxmlformats.org/drawingml/2006/main">
              <a:ext uri="{FF2B5EF4-FFF2-40B4-BE49-F238E27FC236}">
                <a16:creationId xmlns:a16="http://schemas.microsoft.com/office/drawing/2014/main" id="{2CB82D49-087C-45DB-B529-B104FACB6B87}"/>
              </a:ext>
            </a:extLst>
          </p:cNvPr>
          <p:cNvSpPr>
            <a:spLocks xmlns:a="http://schemas.openxmlformats.org/drawingml/2006/main" noGrp="1"/>
          </p:cNvSpPr>
          <p:nvPr/>
        </p:nvSpPr>
        <p:spPr>
          <a:xfrm xmlns:a="http://schemas.openxmlformats.org/drawingml/2006/main">
            <a:off x="2926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Проектирование</a:t>
            </a:r>
            <a:endParaRPr sz="1400"/>
          </a:p>
          <a:p xmlns:a="http://schemas.openxmlformats.org/drawingml/2006/main">
            <a:pPr marL="0" indent="0" algn="ctr">
              <a:buNone/>
            </a:pPr>
            <a:r>
              <a:rPr sz="1400" b="1">
                <a:solidFill>
                  <a:srgbClr val="111827"/>
                </a:solidFill>
                <a:latin typeface="Arial"/>
                <a:ea typeface="Arial"/>
                <a:cs typeface="Arial"/>
              </a:rPr>
              <a:t>и компонента</a:t>
            </a:r>
            <a:endParaRPr sz="1400"/>
          </a:p>
          <a:p xmlns:a="http://schemas.openxmlformats.org/drawingml/2006/main">
            <a:pPr marL="0" indent="0" algn="ctr">
              <a:buNone/>
            </a:pPr>
            <a:r>
              <a:rPr sz="1400" b="1">
                <a:solidFill>
                  <a:srgbClr val="111827"/>
                </a:solidFill>
                <a:latin typeface="Arial"/>
                <a:ea typeface="Arial"/>
                <a:cs typeface="Arial"/>
              </a:rPr>
              <a:t>разработка</a:t>
            </a:r>
            <a:endParaRPr sz="1400"/>
          </a:p>
        </p:txBody>
      </p:sp>
      <p:sp>
        <p:nvSpPr>
          <p:cNvPr id="9" name="Shape 7">
            <a:extLst xmlns:a="http://schemas.openxmlformats.org/drawingml/2006/main">
              <a:ext uri="{FF2B5EF4-FFF2-40B4-BE49-F238E27FC236}">
                <a16:creationId xmlns:a16="http://schemas.microsoft.com/office/drawing/2014/main" id="{DCC0FB5E-9E6E-4AB6-975D-C8BF9341D21A}"/>
              </a:ext>
            </a:extLst>
          </p:cNvPr>
          <p:cNvSpPr>
            <a:spLocks xmlns:a="http://schemas.openxmlformats.org/drawingml/2006/main" noGrp="1"/>
          </p:cNvSpPr>
          <p:nvPr/>
        </p:nvSpPr>
        <p:spPr>
          <a:xfrm xmlns:a="http://schemas.openxmlformats.org/drawingml/2006/main">
            <a:off x="5029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0" name="Text 8">
            <a:extLst xmlns:a="http://schemas.openxmlformats.org/drawingml/2006/main">
              <a:ext uri="{FF2B5EF4-FFF2-40B4-BE49-F238E27FC236}">
                <a16:creationId xmlns:a16="http://schemas.microsoft.com/office/drawing/2014/main" id="{FC265460-6C3F-43B4-9E5E-80C101F3D198}"/>
              </a:ext>
            </a:extLst>
          </p:cNvPr>
          <p:cNvSpPr>
            <a:spLocks xmlns:a="http://schemas.openxmlformats.org/drawingml/2006/main" noGrp="1"/>
          </p:cNvSpPr>
          <p:nvPr/>
        </p:nvSpPr>
        <p:spPr>
          <a:xfrm xmlns:a="http://schemas.openxmlformats.org/drawingml/2006/main">
            <a:off x="5212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3</a:t>
            </a:r>
            <a:endParaRPr sz="1200"/>
          </a:p>
        </p:txBody>
      </p:sp>
      <p:sp>
        <p:nvSpPr>
          <p:cNvPr id="11" name="Text 9">
            <a:extLst xmlns:a="http://schemas.openxmlformats.org/drawingml/2006/main">
              <a:ext uri="{FF2B5EF4-FFF2-40B4-BE49-F238E27FC236}">
                <a16:creationId xmlns:a16="http://schemas.microsoft.com/office/drawing/2014/main" id="{667FB3D3-6EFA-4DD0-8E4F-BD4611C729F2}"/>
              </a:ext>
            </a:extLst>
          </p:cNvPr>
          <p:cNvSpPr>
            <a:spLocks xmlns:a="http://schemas.openxmlformats.org/drawingml/2006/main" noGrp="1"/>
          </p:cNvSpPr>
          <p:nvPr/>
        </p:nvSpPr>
        <p:spPr>
          <a:xfrm xmlns:a="http://schemas.openxmlformats.org/drawingml/2006/main">
            <a:off x="5212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Интеграция</a:t>
            </a:r>
            <a:endParaRPr sz="1400"/>
          </a:p>
          <a:p xmlns:a="http://schemas.openxmlformats.org/drawingml/2006/main">
            <a:pPr marL="0" indent="0" algn="ctr">
              <a:buNone/>
            </a:pPr>
            <a:r>
              <a:rPr sz="1400" b="1">
                <a:solidFill>
                  <a:srgbClr val="111827"/>
                </a:solidFill>
                <a:latin typeface="Arial"/>
                <a:ea typeface="Arial"/>
                <a:cs typeface="Arial"/>
              </a:rPr>
              <a:t>проверка</a:t>
            </a:r>
            <a:endParaRPr sz="1400"/>
          </a:p>
          <a:p xmlns:a="http://schemas.openxmlformats.org/drawingml/2006/main">
            <a:pPr marL="0" indent="0" algn="ctr">
              <a:buNone/>
            </a:pPr>
            <a:r>
              <a:rPr sz="1400" b="1">
                <a:solidFill>
                  <a:srgbClr val="111827"/>
                </a:solidFill>
                <a:latin typeface="Arial"/>
                <a:ea typeface="Arial"/>
                <a:cs typeface="Arial"/>
              </a:rPr>
              <a:t>и поставка</a:t>
            </a:r>
            <a:endParaRPr sz="1400"/>
          </a:p>
        </p:txBody>
      </p:sp>
      <p:sp>
        <p:nvSpPr>
          <p:cNvPr id="12" name="Shape 10">
            <a:extLst xmlns:a="http://schemas.openxmlformats.org/drawingml/2006/main">
              <a:ext uri="{FF2B5EF4-FFF2-40B4-BE49-F238E27FC236}">
                <a16:creationId xmlns:a16="http://schemas.microsoft.com/office/drawing/2014/main" id="{EFED1E37-4E8B-41C0-94AA-13D80084A6D6}"/>
              </a:ext>
            </a:extLst>
          </p:cNvPr>
          <p:cNvSpPr>
            <a:spLocks xmlns:a="http://schemas.openxmlformats.org/drawingml/2006/main" noGrp="1"/>
          </p:cNvSpPr>
          <p:nvPr/>
        </p:nvSpPr>
        <p:spPr>
          <a:xfrm xmlns:a="http://schemas.openxmlformats.org/drawingml/2006/main">
            <a:off x="7315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3" name="Text 11">
            <a:extLst xmlns:a="http://schemas.openxmlformats.org/drawingml/2006/main">
              <a:ext uri="{FF2B5EF4-FFF2-40B4-BE49-F238E27FC236}">
                <a16:creationId xmlns:a16="http://schemas.microsoft.com/office/drawing/2014/main" id="{CE53C30F-17B9-4054-A307-3B562FAEEBC5}"/>
              </a:ext>
            </a:extLst>
          </p:cNvPr>
          <p:cNvSpPr>
            <a:spLocks xmlns:a="http://schemas.openxmlformats.org/drawingml/2006/main" noGrp="1"/>
          </p:cNvSpPr>
          <p:nvPr/>
        </p:nvSpPr>
        <p:spPr>
          <a:xfrm xmlns:a="http://schemas.openxmlformats.org/drawingml/2006/main">
            <a:off x="7498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4</a:t>
            </a:r>
            <a:endParaRPr sz="1200"/>
          </a:p>
        </p:txBody>
      </p:sp>
      <p:sp>
        <p:nvSpPr>
          <p:cNvPr id="14" name="Text 12">
            <a:extLst xmlns:a="http://schemas.openxmlformats.org/drawingml/2006/main">
              <a:ext uri="{FF2B5EF4-FFF2-40B4-BE49-F238E27FC236}">
                <a16:creationId xmlns:a16="http://schemas.microsoft.com/office/drawing/2014/main" id="{76503B5A-3C2E-4596-8571-F5395173BC77}"/>
              </a:ext>
            </a:extLst>
          </p:cNvPr>
          <p:cNvSpPr>
            <a:spLocks xmlns:a="http://schemas.openxmlformats.org/drawingml/2006/main" noGrp="1"/>
          </p:cNvSpPr>
          <p:nvPr/>
        </p:nvSpPr>
        <p:spPr>
          <a:xfrm xmlns:a="http://schemas.openxmlformats.org/drawingml/2006/main">
            <a:off x="7498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Эксплуатация</a:t>
            </a:r>
            <a:endParaRPr sz="1400"/>
          </a:p>
          <a:p xmlns:a="http://schemas.openxmlformats.org/drawingml/2006/main">
            <a:pPr marL="0" indent="0" algn="ctr">
              <a:buNone/>
            </a:pPr>
            <a:r>
              <a:rPr sz="1400" b="1">
                <a:solidFill>
                  <a:srgbClr val="111827"/>
                </a:solidFill>
                <a:latin typeface="Arial"/>
                <a:ea typeface="Arial"/>
                <a:cs typeface="Arial"/>
              </a:rPr>
              <a:t>наблюдение</a:t>
            </a:r>
            <a:endParaRPr sz="1400"/>
          </a:p>
          <a:p xmlns:a="http://schemas.openxmlformats.org/drawingml/2006/main">
            <a:pPr marL="0" indent="0" algn="ctr">
              <a:buNone/>
            </a:pPr>
            <a:r>
              <a:rPr sz="1400" b="1">
                <a:solidFill>
                  <a:srgbClr val="111827"/>
                </a:solidFill>
                <a:latin typeface="Arial"/>
                <a:ea typeface="Arial"/>
                <a:cs typeface="Arial"/>
              </a:rPr>
              <a:t>и поддержка</a:t>
            </a:r>
            <a:endParaRPr sz="1400"/>
          </a:p>
        </p:txBody>
      </p:sp>
      <p:sp>
        <p:nvSpPr>
          <p:cNvPr id="15" name="Shape 13">
            <a:extLst xmlns:a="http://schemas.openxmlformats.org/drawingml/2006/main">
              <a:ext uri="{FF2B5EF4-FFF2-40B4-BE49-F238E27FC236}">
                <a16:creationId xmlns:a16="http://schemas.microsoft.com/office/drawing/2014/main" id="{5CE083EB-1D2D-48EF-80DB-F33D33F36D42}"/>
              </a:ext>
            </a:extLst>
          </p:cNvPr>
          <p:cNvSpPr>
            <a:spLocks xmlns:a="http://schemas.openxmlformats.org/drawingml/2006/main" noGrp="1"/>
          </p:cNvSpPr>
          <p:nvPr/>
        </p:nvSpPr>
        <p:spPr>
          <a:xfrm xmlns:a="http://schemas.openxmlformats.org/drawingml/2006/main">
            <a:off x="9601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6" name="Text 14">
            <a:extLst xmlns:a="http://schemas.openxmlformats.org/drawingml/2006/main">
              <a:ext uri="{FF2B5EF4-FFF2-40B4-BE49-F238E27FC236}">
                <a16:creationId xmlns:a16="http://schemas.microsoft.com/office/drawing/2014/main" id="{96A82715-8E34-4F0A-BB49-3338617AE454}"/>
              </a:ext>
            </a:extLst>
          </p:cNvPr>
          <p:cNvSpPr>
            <a:spLocks xmlns:a="http://schemas.openxmlformats.org/drawingml/2006/main" noGrp="1"/>
          </p:cNvSpPr>
          <p:nvPr/>
        </p:nvSpPr>
        <p:spPr>
          <a:xfrm xmlns:a="http://schemas.openxmlformats.org/drawingml/2006/main">
            <a:off x="9784080" y="1600200"/>
            <a:ext cx="384048" cy="292608"/>
          </a:xfrm>
          <a:prstGeom xmlns:a="http://schemas.openxmlformats.org/drawingml/2006/main" prst="rect">
            <a:avLst/>
          </a:prstGeom>
          <a:solidFill xmlns:a="http://schemas.openxmlformats.org/drawingml/2006/main">
            <a:srgbClr val="6D28D9"/>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5</a:t>
            </a:r>
            <a:endParaRPr sz="1200"/>
          </a:p>
        </p:txBody>
      </p:sp>
      <p:sp>
        <p:nvSpPr>
          <p:cNvPr id="17" name="Text 15">
            <a:extLst xmlns:a="http://schemas.openxmlformats.org/drawingml/2006/main">
              <a:ext uri="{FF2B5EF4-FFF2-40B4-BE49-F238E27FC236}">
                <a16:creationId xmlns:a16="http://schemas.microsoft.com/office/drawing/2014/main" id="{C5683AC7-C61E-4B71-8540-89CE1EA2B0CE}"/>
              </a:ext>
            </a:extLst>
          </p:cNvPr>
          <p:cNvSpPr>
            <a:spLocks xmlns:a="http://schemas.openxmlformats.org/drawingml/2006/main" noGrp="1"/>
          </p:cNvSpPr>
          <p:nvPr/>
        </p:nvSpPr>
        <p:spPr>
          <a:xfrm xmlns:a="http://schemas.openxmlformats.org/drawingml/2006/main">
            <a:off x="9784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Обратная связь</a:t>
            </a:r>
            <a:endParaRPr sz="1400"/>
          </a:p>
          <a:p xmlns:a="http://schemas.openxmlformats.org/drawingml/2006/main">
            <a:pPr marL="0" indent="0" algn="ctr">
              <a:buNone/>
            </a:pPr>
            <a:r>
              <a:rPr sz="1400" b="1">
                <a:solidFill>
                  <a:srgbClr val="111827"/>
                </a:solidFill>
                <a:latin typeface="Arial"/>
                <a:ea typeface="Arial"/>
                <a:cs typeface="Arial"/>
              </a:rPr>
              <a:t>изменения</a:t>
            </a:r>
            <a:endParaRPr sz="1400"/>
          </a:p>
          <a:p xmlns:a="http://schemas.openxmlformats.org/drawingml/2006/main">
            <a:pPr marL="0" indent="0" algn="ctr">
              <a:buNone/>
            </a:pPr>
            <a:r>
              <a:rPr sz="1400" b="1">
                <a:solidFill>
                  <a:srgbClr val="111827"/>
                </a:solidFill>
                <a:latin typeface="Arial"/>
                <a:ea typeface="Arial"/>
                <a:cs typeface="Arial"/>
              </a:rPr>
              <a:t>новый цикл</a:t>
            </a:r>
            <a:endParaRPr sz="1400"/>
          </a:p>
        </p:txBody>
      </p:sp>
      <p:sp>
        <p:nvSpPr>
          <p:cNvPr id="18" name="Text 16">
            <a:extLst xmlns:a="http://schemas.openxmlformats.org/drawingml/2006/main">
              <a:ext uri="{FF2B5EF4-FFF2-40B4-BE49-F238E27FC236}">
                <a16:creationId xmlns:a16="http://schemas.microsoft.com/office/drawing/2014/main" id="{2FC6C8FF-00AF-4BFE-97ED-50A8234DA0A7}"/>
              </a:ext>
            </a:extLst>
          </p:cNvPr>
          <p:cNvSpPr>
            <a:spLocks xmlns:a="http://schemas.openxmlformats.org/drawingml/2006/main" noGrp="1"/>
          </p:cNvSpPr>
          <p:nvPr/>
        </p:nvSpPr>
        <p:spPr>
          <a:xfrm xmlns:a="http://schemas.openxmlformats.org/drawingml/2006/main">
            <a:off x="731520" y="3657600"/>
            <a:ext cx="6492240" cy="13716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latin typeface="Arial"/>
                <a:ea typeface="Arial"/>
                <a:cs typeface="Arial"/>
              </a:rPr>
              <a:t>• Дисциплина связывает разработку компонента с его включением в систему</a:t>
            </a:r>
            <a:endParaRPr sz="1600"/>
          </a:p>
          <a:p xmlns:a="http://schemas.openxmlformats.org/drawingml/2006/main">
            <a:pPr marL="0" indent="0">
              <a:buNone/>
            </a:pPr>
            <a:r>
              <a:rPr sz="1600">
                <a:solidFill>
                  <a:srgbClr val="111827"/>
                </a:solidFill>
                <a:latin typeface="Arial"/>
                <a:ea typeface="Arial"/>
                <a:cs typeface="Arial"/>
              </a:rPr>
              <a:t>• Репозиторий, тесты и поставка позволяют повторять изменения управляемо</a:t>
            </a:r>
            <a:endParaRPr sz="1600"/>
          </a:p>
          <a:p xmlns:a="http://schemas.openxmlformats.org/drawingml/2006/main">
            <a:pPr marL="0" indent="0">
              <a:buNone/>
            </a:pPr>
            <a:r>
              <a:rPr sz="1600">
                <a:solidFill>
                  <a:srgbClr val="111827"/>
                </a:solidFill>
                <a:latin typeface="Arial"/>
                <a:ea typeface="Arial"/>
                <a:cs typeface="Arial"/>
              </a:rPr>
              <a:t>• Эксплуатационная обратная связь возвращается в разработку</a:t>
            </a:r>
            <a:endParaRPr sz="1600"/>
          </a:p>
        </p:txBody>
      </p:sp>
      <p:sp>
        <p:nvSpPr>
          <p:cNvPr id="19" name="Text 17">
            <a:extLst xmlns:a="http://schemas.openxmlformats.org/drawingml/2006/main">
              <a:ext uri="{FF2B5EF4-FFF2-40B4-BE49-F238E27FC236}">
                <a16:creationId xmlns:a16="http://schemas.microsoft.com/office/drawing/2014/main" id="{C18E2DE5-D66C-4171-8968-CA4109178486}"/>
              </a:ext>
            </a:extLst>
          </p:cNvPr>
          <p:cNvSpPr>
            <a:spLocks xmlns:a="http://schemas.openxmlformats.org/drawingml/2006/main" noGrp="1"/>
          </p:cNvSpPr>
          <p:nvPr/>
        </p:nvSpPr>
        <p:spPr>
          <a:xfrm xmlns:a="http://schemas.openxmlformats.org/drawingml/2006/main">
            <a:off x="7726680" y="3520440"/>
            <a:ext cx="3474720" cy="274320"/>
          </a:xfrm>
          <a:prstGeom xmlns:a="http://schemas.openxmlformats.org/drawingml/2006/main" prst="rect">
            <a:avLst/>
          </a:prstGeom>
          <a:solidFill xmlns:a="http://schemas.openxmlformats.org/drawingml/2006/main">
            <a:srgbClr val="2563EB"/>
          </a:solidFill>
        </p:spPr>
        <p:txBody>
          <a:bodyPr xmlns:a="http://schemas.openxmlformats.org/drawingml/2006/main" wrap="square" lIns="381" tIns="381" rIns="381" bIns="381"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Фокус дисциплины</a:t>
            </a:r>
            <a:endParaRPr sz="1100"/>
          </a:p>
        </p:txBody>
      </p:sp>
      <p:sp>
        <p:nvSpPr>
          <p:cNvPr id="20" name="Text 18">
            <a:extLst xmlns:a="http://schemas.openxmlformats.org/drawingml/2006/main">
              <a:ext uri="{FF2B5EF4-FFF2-40B4-BE49-F238E27FC236}">
                <a16:creationId xmlns:a16="http://schemas.microsoft.com/office/drawing/2014/main" id="{737AF35C-62F8-44CC-9918-E6FEB6498B03}"/>
              </a:ext>
            </a:extLst>
          </p:cNvPr>
          <p:cNvSpPr>
            <a:spLocks xmlns:a="http://schemas.openxmlformats.org/drawingml/2006/main" noGrp="1"/>
          </p:cNvSpPr>
          <p:nvPr/>
        </p:nvSpPr>
        <p:spPr>
          <a:xfrm xmlns:a="http://schemas.openxmlformats.org/drawingml/2006/main">
            <a:off x="7726680" y="3886200"/>
            <a:ext cx="3474720" cy="109728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032" tIns="2032" rIns="2032" bIns="2032" anchor="ctr">
            <a:normAutofit/>
          </a:bodyPr>
          <a:lstStyle xmlns:a="http://schemas.openxmlformats.org/drawingml/2006/main"/>
          <a:p xmlns:a="http://schemas.openxmlformats.org/drawingml/2006/main">
            <a:pPr marL="0" indent="0">
              <a:buNone/>
            </a:pPr>
            <a:r>
              <a:rPr sz="1500">
                <a:solidFill>
                  <a:srgbClr val="111827"/>
                </a:solidFill>
                <a:latin typeface="Arial"/>
                <a:ea typeface="Arial"/>
                <a:cs typeface="Arial"/>
              </a:rPr>
              <a:t>Разработка, интеграция и подготовка компонента к эксплуатации и последующим изменениям.</a:t>
            </a:r>
            <a:endParaRPr sz="1500"/>
          </a:p>
        </p:txBody>
      </p:sp>
      <p:sp>
        <p:nvSpPr>
          <p:cNvPr id="21" name="Shape 19">
            <a:extLst xmlns:a="http://schemas.openxmlformats.org/drawingml/2006/main">
              <a:ext uri="{FF2B5EF4-FFF2-40B4-BE49-F238E27FC236}">
                <a16:creationId xmlns:a16="http://schemas.microsoft.com/office/drawing/2014/main" id="{163000F9-3D7C-4728-B241-DF048824DB4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D3260D82-1363-4778-89E4-003C58978D7C}"/>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23" name="Text 21">
            <a:extLst xmlns:a="http://schemas.openxmlformats.org/drawingml/2006/main">
              <a:ext uri="{FF2B5EF4-FFF2-40B4-BE49-F238E27FC236}">
                <a16:creationId xmlns:a16="http://schemas.microsoft.com/office/drawing/2014/main" id="{93E1E90A-F6BF-4399-9B88-93880476245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7</a:t>
            </a:r>
            <a:endParaRPr sz="850"/>
          </a:p>
        </p:txBody>
      </p:sp>
    </p:spTree>
    <p:extLst>
      <p:ext uri="{BB962C8B-B14F-4D97-AF65-F5344CB8AC3E}">
        <p14:creationId xmlns:p14="http://schemas.microsoft.com/office/powerpoint/2010/main" val="3217756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A4A5D4-9A0F-4741-9A65-FAAEA8EDE1A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633A99B2-BEF9-48D0-BC96-E86142A1D5E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Карта курса: от репозитория к инфраструктуре</a:t>
            </a:r>
            <a:endParaRPr sz="2300"/>
          </a:p>
        </p:txBody>
      </p:sp>
      <p:sp>
        <p:nvSpPr>
          <p:cNvPr id="4" name="Text 2">
            <a:extLst xmlns:a="http://schemas.openxmlformats.org/drawingml/2006/main">
              <a:ext uri="{FF2B5EF4-FFF2-40B4-BE49-F238E27FC236}">
                <a16:creationId xmlns:a16="http://schemas.microsoft.com/office/drawing/2014/main" id="{5B19DEF0-254B-4EC4-AFEC-AD13DB2C89E5}"/>
              </a:ext>
            </a:extLst>
          </p:cNvPr>
          <p:cNvSpPr>
            <a:spLocks xmlns:a="http://schemas.openxmlformats.org/drawingml/2006/main" noGrp="1"/>
          </p:cNvSpPr>
          <p:nvPr/>
        </p:nvSpPr>
        <p:spPr>
          <a:xfrm xmlns:a="http://schemas.openxmlformats.org/drawingml/2006/main">
            <a:off x="640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1</a:t>
            </a:r>
            <a:endParaRPr sz="1200"/>
          </a:p>
        </p:txBody>
      </p:sp>
      <p:sp>
        <p:nvSpPr>
          <p:cNvPr id="5" name="Text 3">
            <a:extLst xmlns:a="http://schemas.openxmlformats.org/drawingml/2006/main">
              <a:ext uri="{FF2B5EF4-FFF2-40B4-BE49-F238E27FC236}">
                <a16:creationId xmlns:a16="http://schemas.microsoft.com/office/drawing/2014/main" id="{76F00645-F058-4300-8745-350087BF1374}"/>
              </a:ext>
            </a:extLst>
          </p:cNvPr>
          <p:cNvSpPr>
            <a:spLocks xmlns:a="http://schemas.openxmlformats.org/drawingml/2006/main" noGrp="1"/>
          </p:cNvSpPr>
          <p:nvPr/>
        </p:nvSpPr>
        <p:spPr>
          <a:xfrm xmlns:a="http://schemas.openxmlformats.org/drawingml/2006/main">
            <a:off x="640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Репозиторий</a:t>
            </a:r>
            <a:endParaRPr sz="1400"/>
          </a:p>
          <a:p xmlns:a="http://schemas.openxmlformats.org/drawingml/2006/main">
            <a:pPr marL="0" indent="0" algn="ctr">
              <a:buNone/>
            </a:pPr>
            <a:r>
              <a:rPr sz="1400" b="1">
                <a:solidFill>
                  <a:srgbClr val="111827"/>
                </a:solidFill>
                <a:latin typeface="Arial"/>
                <a:ea typeface="Arial"/>
                <a:cs typeface="Arial"/>
              </a:rPr>
              <a:t>структура</a:t>
            </a:r>
            <a:endParaRPr sz="1400"/>
          </a:p>
          <a:p xmlns:a="http://schemas.openxmlformats.org/drawingml/2006/main">
            <a:pPr marL="0" indent="0" algn="ctr">
              <a:buNone/>
            </a:pPr>
            <a:r>
              <a:rPr sz="1400" b="1">
                <a:solidFill>
                  <a:srgbClr val="111827"/>
                </a:solidFill>
                <a:latin typeface="Arial"/>
                <a:ea typeface="Arial"/>
                <a:cs typeface="Arial"/>
              </a:rPr>
              <a:t>README</a:t>
            </a:r>
            <a:endParaRPr sz="1400"/>
          </a:p>
        </p:txBody>
      </p:sp>
      <p:sp>
        <p:nvSpPr>
          <p:cNvPr id="6" name="Shape 4">
            <a:extLst xmlns:a="http://schemas.openxmlformats.org/drawingml/2006/main">
              <a:ext uri="{FF2B5EF4-FFF2-40B4-BE49-F238E27FC236}">
                <a16:creationId xmlns:a16="http://schemas.microsoft.com/office/drawing/2014/main" id="{0A4D44A4-AD68-4602-9FF9-4FD24DE6E45A}"/>
              </a:ext>
            </a:extLst>
          </p:cNvPr>
          <p:cNvSpPr>
            <a:spLocks xmlns:a="http://schemas.openxmlformats.org/drawingml/2006/main" noGrp="1"/>
          </p:cNvSpPr>
          <p:nvPr/>
        </p:nvSpPr>
        <p:spPr>
          <a:xfrm xmlns:a="http://schemas.openxmlformats.org/drawingml/2006/main">
            <a:off x="2743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7" name="Text 5">
            <a:extLst xmlns:a="http://schemas.openxmlformats.org/drawingml/2006/main">
              <a:ext uri="{FF2B5EF4-FFF2-40B4-BE49-F238E27FC236}">
                <a16:creationId xmlns:a16="http://schemas.microsoft.com/office/drawing/2014/main" id="{FBEDA7ED-89C0-4D75-BB74-9656AD4C4518}"/>
              </a:ext>
            </a:extLst>
          </p:cNvPr>
          <p:cNvSpPr>
            <a:spLocks xmlns:a="http://schemas.openxmlformats.org/drawingml/2006/main" noGrp="1"/>
          </p:cNvSpPr>
          <p:nvPr/>
        </p:nvSpPr>
        <p:spPr>
          <a:xfrm xmlns:a="http://schemas.openxmlformats.org/drawingml/2006/main">
            <a:off x="2926080" y="1600200"/>
            <a:ext cx="384048" cy="292608"/>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2</a:t>
            </a:r>
            <a:endParaRPr sz="1200"/>
          </a:p>
        </p:txBody>
      </p:sp>
      <p:sp>
        <p:nvSpPr>
          <p:cNvPr id="8" name="Text 6">
            <a:extLst xmlns:a="http://schemas.openxmlformats.org/drawingml/2006/main">
              <a:ext uri="{FF2B5EF4-FFF2-40B4-BE49-F238E27FC236}">
                <a16:creationId xmlns:a16="http://schemas.microsoft.com/office/drawing/2014/main" id="{2CB82D49-087C-45DB-B529-B104FACB6B87}"/>
              </a:ext>
            </a:extLst>
          </p:cNvPr>
          <p:cNvSpPr>
            <a:spLocks xmlns:a="http://schemas.openxmlformats.org/drawingml/2006/main" noGrp="1"/>
          </p:cNvSpPr>
          <p:nvPr/>
        </p:nvSpPr>
        <p:spPr>
          <a:xfrm xmlns:a="http://schemas.openxmlformats.org/drawingml/2006/main">
            <a:off x="2926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Git</a:t>
            </a:r>
            <a:endParaRPr sz="1400"/>
          </a:p>
          <a:p xmlns:a="http://schemas.openxmlformats.org/drawingml/2006/main">
            <a:pPr marL="0" indent="0" algn="ctr">
              <a:buNone/>
            </a:pPr>
            <a:r>
              <a:rPr sz="1400" b="1">
                <a:solidFill>
                  <a:srgbClr val="111827"/>
                </a:solidFill>
                <a:latin typeface="Arial"/>
                <a:ea typeface="Arial"/>
                <a:cs typeface="Arial"/>
              </a:rPr>
              <a:t>совместная</a:t>
            </a:r>
            <a:endParaRPr sz="1400"/>
          </a:p>
          <a:p xmlns:a="http://schemas.openxmlformats.org/drawingml/2006/main">
            <a:pPr marL="0" indent="0" algn="ctr">
              <a:buNone/>
            </a:pPr>
            <a:r>
              <a:rPr sz="1400" b="1">
                <a:solidFill>
                  <a:srgbClr val="111827"/>
                </a:solidFill>
                <a:latin typeface="Arial"/>
                <a:ea typeface="Arial"/>
                <a:cs typeface="Arial"/>
              </a:rPr>
              <a:t>разработка</a:t>
            </a:r>
            <a:endParaRPr sz="1400"/>
          </a:p>
        </p:txBody>
      </p:sp>
      <p:sp>
        <p:nvSpPr>
          <p:cNvPr id="9" name="Shape 7">
            <a:extLst xmlns:a="http://schemas.openxmlformats.org/drawingml/2006/main">
              <a:ext uri="{FF2B5EF4-FFF2-40B4-BE49-F238E27FC236}">
                <a16:creationId xmlns:a16="http://schemas.microsoft.com/office/drawing/2014/main" id="{DCC0FB5E-9E6E-4AB6-975D-C8BF9341D21A}"/>
              </a:ext>
            </a:extLst>
          </p:cNvPr>
          <p:cNvSpPr>
            <a:spLocks xmlns:a="http://schemas.openxmlformats.org/drawingml/2006/main" noGrp="1"/>
          </p:cNvSpPr>
          <p:nvPr/>
        </p:nvSpPr>
        <p:spPr>
          <a:xfrm xmlns:a="http://schemas.openxmlformats.org/drawingml/2006/main">
            <a:off x="5029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0" name="Text 8">
            <a:extLst xmlns:a="http://schemas.openxmlformats.org/drawingml/2006/main">
              <a:ext uri="{FF2B5EF4-FFF2-40B4-BE49-F238E27FC236}">
                <a16:creationId xmlns:a16="http://schemas.microsoft.com/office/drawing/2014/main" id="{FC265460-6C3F-43B4-9E5E-80C101F3D198}"/>
              </a:ext>
            </a:extLst>
          </p:cNvPr>
          <p:cNvSpPr>
            <a:spLocks xmlns:a="http://schemas.openxmlformats.org/drawingml/2006/main" noGrp="1"/>
          </p:cNvSpPr>
          <p:nvPr/>
        </p:nvSpPr>
        <p:spPr>
          <a:xfrm xmlns:a="http://schemas.openxmlformats.org/drawingml/2006/main">
            <a:off x="5212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3</a:t>
            </a:r>
            <a:endParaRPr sz="1200"/>
          </a:p>
        </p:txBody>
      </p:sp>
      <p:sp>
        <p:nvSpPr>
          <p:cNvPr id="11" name="Text 9">
            <a:extLst xmlns:a="http://schemas.openxmlformats.org/drawingml/2006/main">
              <a:ext uri="{FF2B5EF4-FFF2-40B4-BE49-F238E27FC236}">
                <a16:creationId xmlns:a16="http://schemas.microsoft.com/office/drawing/2014/main" id="{667FB3D3-6EFA-4DD0-8E4F-BD4611C729F2}"/>
              </a:ext>
            </a:extLst>
          </p:cNvPr>
          <p:cNvSpPr>
            <a:spLocks xmlns:a="http://schemas.openxmlformats.org/drawingml/2006/main" noGrp="1"/>
          </p:cNvSpPr>
          <p:nvPr/>
        </p:nvSpPr>
        <p:spPr>
          <a:xfrm xmlns:a="http://schemas.openxmlformats.org/drawingml/2006/main">
            <a:off x="5212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API</a:t>
            </a:r>
            <a:endParaRPr sz="1400"/>
          </a:p>
          <a:p xmlns:a="http://schemas.openxmlformats.org/drawingml/2006/main">
            <a:pPr marL="0" indent="0" algn="ctr">
              <a:buNone/>
            </a:pPr>
            <a:r>
              <a:rPr sz="1400" b="1">
                <a:solidFill>
                  <a:srgbClr val="111827"/>
                </a:solidFill>
                <a:latin typeface="Arial"/>
                <a:ea typeface="Arial"/>
                <a:cs typeface="Arial"/>
              </a:rPr>
              <a:t>тесты</a:t>
            </a:r>
            <a:endParaRPr sz="1400"/>
          </a:p>
          <a:p xmlns:a="http://schemas.openxmlformats.org/drawingml/2006/main">
            <a:pPr marL="0" indent="0" algn="ctr">
              <a:buNone/>
            </a:pPr>
            <a:r>
              <a:rPr sz="1400" b="1">
                <a:solidFill>
                  <a:srgbClr val="111827"/>
                </a:solidFill>
                <a:latin typeface="Arial"/>
                <a:ea typeface="Arial"/>
                <a:cs typeface="Arial"/>
              </a:rPr>
              <a:t>контейнеры</a:t>
            </a:r>
            <a:endParaRPr sz="1400"/>
          </a:p>
        </p:txBody>
      </p:sp>
      <p:sp>
        <p:nvSpPr>
          <p:cNvPr id="12" name="Shape 10">
            <a:extLst xmlns:a="http://schemas.openxmlformats.org/drawingml/2006/main">
              <a:ext uri="{FF2B5EF4-FFF2-40B4-BE49-F238E27FC236}">
                <a16:creationId xmlns:a16="http://schemas.microsoft.com/office/drawing/2014/main" id="{EFED1E37-4E8B-41C0-94AA-13D80084A6D6}"/>
              </a:ext>
            </a:extLst>
          </p:cNvPr>
          <p:cNvSpPr>
            <a:spLocks xmlns:a="http://schemas.openxmlformats.org/drawingml/2006/main" noGrp="1"/>
          </p:cNvSpPr>
          <p:nvPr/>
        </p:nvSpPr>
        <p:spPr>
          <a:xfrm xmlns:a="http://schemas.openxmlformats.org/drawingml/2006/main">
            <a:off x="7315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3" name="Text 11">
            <a:extLst xmlns:a="http://schemas.openxmlformats.org/drawingml/2006/main">
              <a:ext uri="{FF2B5EF4-FFF2-40B4-BE49-F238E27FC236}">
                <a16:creationId xmlns:a16="http://schemas.microsoft.com/office/drawing/2014/main" id="{CE53C30F-17B9-4054-A307-3B562FAEEBC5}"/>
              </a:ext>
            </a:extLst>
          </p:cNvPr>
          <p:cNvSpPr>
            <a:spLocks xmlns:a="http://schemas.openxmlformats.org/drawingml/2006/main" noGrp="1"/>
          </p:cNvSpPr>
          <p:nvPr/>
        </p:nvSpPr>
        <p:spPr>
          <a:xfrm xmlns:a="http://schemas.openxmlformats.org/drawingml/2006/main">
            <a:off x="7498080" y="1600200"/>
            <a:ext cx="384048" cy="292608"/>
          </a:xfrm>
          <a:prstGeom xmlns:a="http://schemas.openxmlformats.org/drawingml/2006/main" prst="rect">
            <a:avLst/>
          </a:prstGeom>
          <a:solidFill xmlns:a="http://schemas.openxmlformats.org/drawingml/2006/main">
            <a:srgbClr val="2563EB"/>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4</a:t>
            </a:r>
            <a:endParaRPr sz="1200"/>
          </a:p>
        </p:txBody>
      </p:sp>
      <p:sp>
        <p:nvSpPr>
          <p:cNvPr id="14" name="Text 12">
            <a:extLst xmlns:a="http://schemas.openxmlformats.org/drawingml/2006/main">
              <a:ext uri="{FF2B5EF4-FFF2-40B4-BE49-F238E27FC236}">
                <a16:creationId xmlns:a16="http://schemas.microsoft.com/office/drawing/2014/main" id="{76503B5A-3C2E-4596-8571-F5395173BC77}"/>
              </a:ext>
            </a:extLst>
          </p:cNvPr>
          <p:cNvSpPr>
            <a:spLocks xmlns:a="http://schemas.openxmlformats.org/drawingml/2006/main" noGrp="1"/>
          </p:cNvSpPr>
          <p:nvPr/>
        </p:nvSpPr>
        <p:spPr>
          <a:xfrm xmlns:a="http://schemas.openxmlformats.org/drawingml/2006/main">
            <a:off x="7498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CI/CD</a:t>
            </a:r>
            <a:endParaRPr sz="1400"/>
          </a:p>
          <a:p xmlns:a="http://schemas.openxmlformats.org/drawingml/2006/main">
            <a:pPr marL="0" indent="0" algn="ctr">
              <a:buNone/>
            </a:pPr>
            <a:r>
              <a:rPr sz="1400" b="1">
                <a:solidFill>
                  <a:srgbClr val="111827"/>
                </a:solidFill>
                <a:latin typeface="Arial"/>
                <a:ea typeface="Arial"/>
                <a:cs typeface="Arial"/>
              </a:rPr>
              <a:t>поставка</a:t>
            </a:r>
            <a:endParaRPr sz="1400"/>
          </a:p>
          <a:p xmlns:a="http://schemas.openxmlformats.org/drawingml/2006/main">
            <a:pPr marL="0" indent="0" algn="ctr">
              <a:buNone/>
            </a:pPr>
            <a:r>
              <a:rPr sz="1400" b="1">
                <a:solidFill>
                  <a:srgbClr val="111827"/>
                </a:solidFill>
                <a:latin typeface="Arial"/>
                <a:ea typeface="Arial"/>
                <a:cs typeface="Arial"/>
              </a:rPr>
              <a:t>развертывание</a:t>
            </a:r>
            <a:endParaRPr sz="1400"/>
          </a:p>
        </p:txBody>
      </p:sp>
      <p:sp>
        <p:nvSpPr>
          <p:cNvPr id="15" name="Shape 13">
            <a:extLst xmlns:a="http://schemas.openxmlformats.org/drawingml/2006/main">
              <a:ext uri="{FF2B5EF4-FFF2-40B4-BE49-F238E27FC236}">
                <a16:creationId xmlns:a16="http://schemas.microsoft.com/office/drawing/2014/main" id="{5CE083EB-1D2D-48EF-80DB-F33D33F36D42}"/>
              </a:ext>
            </a:extLst>
          </p:cNvPr>
          <p:cNvSpPr>
            <a:spLocks xmlns:a="http://schemas.openxmlformats.org/drawingml/2006/main" noGrp="1"/>
          </p:cNvSpPr>
          <p:nvPr/>
        </p:nvSpPr>
        <p:spPr>
          <a:xfrm xmlns:a="http://schemas.openxmlformats.org/drawingml/2006/main">
            <a:off x="9601200" y="2404872"/>
            <a:ext cx="137160"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headEnd type="none"/>
            <a:tailEnd type="triangle"/>
          </a:ln>
        </p:spPr>
      </p:sp>
      <p:sp>
        <p:nvSpPr>
          <p:cNvPr id="16" name="Text 14">
            <a:extLst xmlns:a="http://schemas.openxmlformats.org/drawingml/2006/main">
              <a:ext uri="{FF2B5EF4-FFF2-40B4-BE49-F238E27FC236}">
                <a16:creationId xmlns:a16="http://schemas.microsoft.com/office/drawing/2014/main" id="{96A82715-8E34-4F0A-BB49-3338617AE454}"/>
              </a:ext>
            </a:extLst>
          </p:cNvPr>
          <p:cNvSpPr>
            <a:spLocks xmlns:a="http://schemas.openxmlformats.org/drawingml/2006/main" noGrp="1"/>
          </p:cNvSpPr>
          <p:nvPr/>
        </p:nvSpPr>
        <p:spPr>
          <a:xfrm xmlns:a="http://schemas.openxmlformats.org/drawingml/2006/main">
            <a:off x="9784080" y="1600200"/>
            <a:ext cx="384048" cy="292608"/>
          </a:xfrm>
          <a:prstGeom xmlns:a="http://schemas.openxmlformats.org/drawingml/2006/main" prst="rect">
            <a:avLst/>
          </a:prstGeom>
          <a:solidFill xmlns:a="http://schemas.openxmlformats.org/drawingml/2006/main">
            <a:srgbClr val="6D28D9"/>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5</a:t>
            </a:r>
            <a:endParaRPr sz="1200"/>
          </a:p>
        </p:txBody>
      </p:sp>
      <p:sp>
        <p:nvSpPr>
          <p:cNvPr id="17" name="Text 15">
            <a:extLst xmlns:a="http://schemas.openxmlformats.org/drawingml/2006/main">
              <a:ext uri="{FF2B5EF4-FFF2-40B4-BE49-F238E27FC236}">
                <a16:creationId xmlns:a16="http://schemas.microsoft.com/office/drawing/2014/main" id="{C5683AC7-C61E-4B71-8540-89CE1EA2B0CE}"/>
              </a:ext>
            </a:extLst>
          </p:cNvPr>
          <p:cNvSpPr>
            <a:spLocks xmlns:a="http://schemas.openxmlformats.org/drawingml/2006/main" noGrp="1"/>
          </p:cNvSpPr>
          <p:nvPr/>
        </p:nvSpPr>
        <p:spPr>
          <a:xfrm xmlns:a="http://schemas.openxmlformats.org/drawingml/2006/main">
            <a:off x="9784080" y="1984248"/>
            <a:ext cx="2057400" cy="841248"/>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016" tIns="1016" rIns="1016" bIns="1016" anchor="ctr">
            <a:normAutofit/>
          </a:bodyPr>
          <a:lstStyle xmlns:a="http://schemas.openxmlformats.org/drawingml/2006/main"/>
          <a:p xmlns:a="http://schemas.openxmlformats.org/drawingml/2006/main">
            <a:pPr marL="0" indent="0" algn="ctr">
              <a:buNone/>
            </a:pPr>
            <a:r>
              <a:rPr sz="1400" b="1">
                <a:solidFill>
                  <a:srgbClr val="111827"/>
                </a:solidFill>
                <a:latin typeface="Arial"/>
                <a:ea typeface="Arial"/>
                <a:cs typeface="Arial"/>
              </a:rPr>
              <a:t>Архитектура</a:t>
            </a:r>
            <a:endParaRPr sz="1400"/>
          </a:p>
          <a:p xmlns:a="http://schemas.openxmlformats.org/drawingml/2006/main">
            <a:pPr marL="0" indent="0" algn="ctr">
              <a:buNone/>
            </a:pPr>
            <a:r>
              <a:rPr sz="1400" b="1">
                <a:solidFill>
                  <a:srgbClr val="111827"/>
                </a:solidFill>
                <a:latin typeface="Arial"/>
                <a:ea typeface="Arial"/>
                <a:cs typeface="Arial"/>
              </a:rPr>
              <a:t>мониторинг</a:t>
            </a:r>
            <a:endParaRPr sz="1400"/>
          </a:p>
          <a:p xmlns:a="http://schemas.openxmlformats.org/drawingml/2006/main">
            <a:pPr marL="0" indent="0" algn="ctr">
              <a:buNone/>
            </a:pPr>
            <a:r>
              <a:rPr sz="1400" b="1">
                <a:solidFill>
                  <a:srgbClr val="111827"/>
                </a:solidFill>
                <a:latin typeface="Arial"/>
                <a:ea typeface="Arial"/>
                <a:cs typeface="Arial"/>
              </a:rPr>
              <a:t>IaC</a:t>
            </a:r>
            <a:endParaRPr sz="1400"/>
          </a:p>
        </p:txBody>
      </p:sp>
      <p:sp>
        <p:nvSpPr>
          <p:cNvPr id="18" name="Text 16">
            <a:extLst xmlns:a="http://schemas.openxmlformats.org/drawingml/2006/main">
              <a:ext uri="{FF2B5EF4-FFF2-40B4-BE49-F238E27FC236}">
                <a16:creationId xmlns:a16="http://schemas.microsoft.com/office/drawing/2014/main" id="{2FC6C8FF-00AF-4BFE-97ED-50A8234DA0A7}"/>
              </a:ext>
            </a:extLst>
          </p:cNvPr>
          <p:cNvSpPr>
            <a:spLocks xmlns:a="http://schemas.openxmlformats.org/drawingml/2006/main" noGrp="1"/>
          </p:cNvSpPr>
          <p:nvPr/>
        </p:nvSpPr>
        <p:spPr>
          <a:xfrm xmlns:a="http://schemas.openxmlformats.org/drawingml/2006/main">
            <a:off x="731520" y="3657600"/>
            <a:ext cx="6492240" cy="13716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latin typeface="Arial"/>
                <a:ea typeface="Arial"/>
                <a:cs typeface="Arial"/>
              </a:rPr>
              <a:t>• Репозиторий и структура → Git и GitVerse → API и тесты</a:t>
            </a:r>
            <a:endParaRPr sz="1600"/>
          </a:p>
          <a:p xmlns:a="http://schemas.openxmlformats.org/drawingml/2006/main">
            <a:pPr marL="0" indent="0">
              <a:buNone/>
            </a:pPr>
            <a:r>
              <a:rPr sz="1600">
                <a:solidFill>
                  <a:srgbClr val="111827"/>
                </a:solidFill>
                <a:latin typeface="Arial"/>
                <a:ea typeface="Arial"/>
                <a:cs typeface="Arial"/>
              </a:rPr>
              <a:t>• Docker и Compose → CI/CD → архитектура и межсервисное взаимодействие</a:t>
            </a:r>
            <a:endParaRPr sz="1600"/>
          </a:p>
          <a:p xmlns:a="http://schemas.openxmlformats.org/drawingml/2006/main">
            <a:pPr marL="0" indent="0">
              <a:buNone/>
            </a:pPr>
            <a:r>
              <a:rPr sz="1600">
                <a:solidFill>
                  <a:srgbClr val="111827"/>
                </a:solidFill>
                <a:latin typeface="Arial"/>
                <a:ea typeface="Arial"/>
                <a:cs typeface="Arial"/>
              </a:rPr>
              <a:t>• Мониторинг, журналы, Ansible, Kubernetes, Terraform</a:t>
            </a:r>
            <a:endParaRPr sz="1600"/>
          </a:p>
        </p:txBody>
      </p:sp>
      <p:sp>
        <p:nvSpPr>
          <p:cNvPr id="19" name="Text 17">
            <a:extLst xmlns:a="http://schemas.openxmlformats.org/drawingml/2006/main">
              <a:ext uri="{FF2B5EF4-FFF2-40B4-BE49-F238E27FC236}">
                <a16:creationId xmlns:a16="http://schemas.microsoft.com/office/drawing/2014/main" id="{C18E2DE5-D66C-4171-8968-CA4109178486}"/>
              </a:ext>
            </a:extLst>
          </p:cNvPr>
          <p:cNvSpPr>
            <a:spLocks xmlns:a="http://schemas.openxmlformats.org/drawingml/2006/main" noGrp="1"/>
          </p:cNvSpPr>
          <p:nvPr/>
        </p:nvSpPr>
        <p:spPr>
          <a:xfrm xmlns:a="http://schemas.openxmlformats.org/drawingml/2006/main">
            <a:off x="7726680" y="3520440"/>
            <a:ext cx="3474720" cy="274320"/>
          </a:xfrm>
          <a:prstGeom xmlns:a="http://schemas.openxmlformats.org/drawingml/2006/main" prst="rect">
            <a:avLst/>
          </a:prstGeom>
          <a:solidFill xmlns:a="http://schemas.openxmlformats.org/drawingml/2006/main">
            <a:srgbClr val="2563EB"/>
          </a:solidFill>
        </p:spPr>
        <p:txBody>
          <a:bodyPr xmlns:a="http://schemas.openxmlformats.org/drawingml/2006/main" wrap="square" lIns="381" tIns="381" rIns="381" bIns="381"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Логика курса</a:t>
            </a:r>
            <a:endParaRPr sz="1100"/>
          </a:p>
        </p:txBody>
      </p:sp>
      <p:sp>
        <p:nvSpPr>
          <p:cNvPr id="20" name="Text 18">
            <a:extLst xmlns:a="http://schemas.openxmlformats.org/drawingml/2006/main">
              <a:ext uri="{FF2B5EF4-FFF2-40B4-BE49-F238E27FC236}">
                <a16:creationId xmlns:a16="http://schemas.microsoft.com/office/drawing/2014/main" id="{737AF35C-62F8-44CC-9918-E6FEB6498B03}"/>
              </a:ext>
            </a:extLst>
          </p:cNvPr>
          <p:cNvSpPr>
            <a:spLocks xmlns:a="http://schemas.openxmlformats.org/drawingml/2006/main" noGrp="1"/>
          </p:cNvSpPr>
          <p:nvPr/>
        </p:nvSpPr>
        <p:spPr>
          <a:xfrm xmlns:a="http://schemas.openxmlformats.org/drawingml/2006/main">
            <a:off x="7726680" y="3886200"/>
            <a:ext cx="3474720" cy="109728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032" tIns="2032" rIns="2032" bIns="2032" anchor="ctr">
            <a:normAutofit/>
          </a:bodyPr>
          <a:lstStyle xmlns:a="http://schemas.openxmlformats.org/drawingml/2006/main"/>
          <a:p xmlns:a="http://schemas.openxmlformats.org/drawingml/2006/main">
            <a:pPr marL="0" indent="0">
              <a:buNone/>
            </a:pPr>
            <a:r>
              <a:rPr sz="1500">
                <a:solidFill>
                  <a:srgbClr val="111827"/>
                </a:solidFill>
                <a:latin typeface="Arial"/>
                <a:ea typeface="Arial"/>
                <a:cs typeface="Arial"/>
              </a:rPr>
              <a:t>Каждая следующая тема требует, чтобы предыдущая была сделана не формально, а работоспособно.</a:t>
            </a:r>
            <a:endParaRPr sz="1500"/>
          </a:p>
        </p:txBody>
      </p:sp>
      <p:sp>
        <p:nvSpPr>
          <p:cNvPr id="21" name="Shape 19">
            <a:extLst xmlns:a="http://schemas.openxmlformats.org/drawingml/2006/main">
              <a:ext uri="{FF2B5EF4-FFF2-40B4-BE49-F238E27FC236}">
                <a16:creationId xmlns:a16="http://schemas.microsoft.com/office/drawing/2014/main" id="{163000F9-3D7C-4728-B241-DF048824DB4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D3260D82-1363-4778-89E4-003C58978D7C}"/>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23" name="Text 21">
            <a:extLst xmlns:a="http://schemas.openxmlformats.org/drawingml/2006/main">
              <a:ext uri="{FF2B5EF4-FFF2-40B4-BE49-F238E27FC236}">
                <a16:creationId xmlns:a16="http://schemas.microsoft.com/office/drawing/2014/main" id="{93E1E90A-F6BF-4399-9B88-93880476245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9</a:t>
            </a:r>
            <a:endParaRPr sz="850"/>
          </a:p>
        </p:txBody>
      </p:sp>
    </p:spTree>
    <p:extLst>
      <p:ext uri="{BB962C8B-B14F-4D97-AF65-F5344CB8AC3E}">
        <p14:creationId xmlns:p14="http://schemas.microsoft.com/office/powerpoint/2010/main" val="3217756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0D7879-B1FD-4305-BE79-0F6CA22B5849}"/>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2563EB"/>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ВВЕДЕНИЕ</a:t>
            </a:r>
            <a:endParaRPr sz="850"/>
          </a:p>
        </p:txBody>
      </p:sp>
      <p:sp>
        <p:nvSpPr>
          <p:cNvPr id="3" name="Text 1">
            <a:extLst xmlns:a="http://schemas.openxmlformats.org/drawingml/2006/main">
              <a:ext uri="{FF2B5EF4-FFF2-40B4-BE49-F238E27FC236}">
                <a16:creationId xmlns:a16="http://schemas.microsoft.com/office/drawing/2014/main" id="{695F1CB0-B8A9-444A-9019-C65ACF03D89F}"/>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Как будем оценивать инженерность</a:t>
            </a:r>
            <a:endParaRPr sz="2300"/>
          </a:p>
        </p:txBody>
      </p:sp>
      <p:sp>
        <p:nvSpPr>
          <p:cNvPr id="4" name="Text 2">
            <a:extLst xmlns:a="http://schemas.openxmlformats.org/drawingml/2006/main">
              <a:ext uri="{FF2B5EF4-FFF2-40B4-BE49-F238E27FC236}">
                <a16:creationId xmlns:a16="http://schemas.microsoft.com/office/drawing/2014/main" id="{C9AA12B9-40BD-4BFE-9338-D010B623D839}"/>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Не только финальный код, но и путь от заготовки и история коммитов</a:t>
            </a:r>
            <a:endParaRPr sz="1800"/>
          </a:p>
          <a:p xmlns:a="http://schemas.openxmlformats.org/drawingml/2006/main">
            <a:pPr marL="0" indent="0">
              <a:buNone/>
            </a:pPr>
            <a:r>
              <a:rPr sz="1800">
                <a:solidFill>
                  <a:srgbClr val="111827"/>
                </a:solidFill>
                <a:latin typeface="Arial"/>
                <a:ea typeface="Arial"/>
                <a:cs typeface="Arial"/>
              </a:rPr>
              <a:t>• Не только запуск у автора, но и воспроизводимый запуск по инструкции</a:t>
            </a:r>
            <a:endParaRPr sz="1800"/>
          </a:p>
          <a:p xmlns:a="http://schemas.openxmlformats.org/drawingml/2006/main">
            <a:pPr marL="0" indent="0">
              <a:buNone/>
            </a:pPr>
            <a:r>
              <a:rPr sz="1800">
                <a:solidFill>
                  <a:srgbClr val="111827"/>
                </a:solidFill>
                <a:latin typeface="Arial"/>
                <a:ea typeface="Arial"/>
                <a:cs typeface="Arial"/>
              </a:rPr>
              <a:t>• Не только модель, но и документация, конфигурация, минимальные проверки</a:t>
            </a:r>
            <a:endParaRPr sz="1800"/>
          </a:p>
        </p:txBody>
      </p:sp>
      <p:sp>
        <p:nvSpPr>
          <p:cNvPr id="5" name="Text 3">
            <a:extLst xmlns:a="http://schemas.openxmlformats.org/drawingml/2006/main">
              <a:ext uri="{FF2B5EF4-FFF2-40B4-BE49-F238E27FC236}">
                <a16:creationId xmlns:a16="http://schemas.microsoft.com/office/drawing/2014/main" id="{0B7908D8-1F0C-4CA1-8B87-3D2A589563DD}"/>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Инженерный результат должен быть проверяемым другим человеком.</a:t>
            </a:r>
            <a:endParaRPr sz="1450"/>
          </a:p>
        </p:txBody>
      </p:sp>
      <p:sp>
        <p:nvSpPr>
          <p:cNvPr id="6" name="Text 4">
            <a:extLst xmlns:a="http://schemas.openxmlformats.org/drawingml/2006/main">
              <a:ext uri="{FF2B5EF4-FFF2-40B4-BE49-F238E27FC236}">
                <a16:creationId xmlns:a16="http://schemas.microsoft.com/office/drawing/2014/main" id="{BEF70F01-75E9-42AB-A290-62642A6EE5FB}"/>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Исследовательский код vs компонент</a:t>
            </a:r>
            <a:endParaRPr sz="1200"/>
          </a:p>
        </p:txBody>
      </p:sp>
      <p:sp>
        <p:nvSpPr>
          <p:cNvPr id="7" name="Shape 5">
            <a:extLst xmlns:a="http://schemas.openxmlformats.org/drawingml/2006/main">
              <a:ext uri="{FF2B5EF4-FFF2-40B4-BE49-F238E27FC236}">
                <a16:creationId xmlns:a16="http://schemas.microsoft.com/office/drawing/2014/main" id="{BAD1491A-69CD-41A8-99A6-872174C07B8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77672F1E-5102-495A-A737-931F89D4B0BA}"/>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E130C1B0-5061-4339-91CB-754D2A585A1B}"/>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10</a:t>
            </a:r>
            <a:endParaRPr sz="850"/>
          </a:p>
        </p:txBody>
      </p:sp>
    </p:spTree>
    <p:extLst>
      <p:ext uri="{BB962C8B-B14F-4D97-AF65-F5344CB8AC3E}">
        <p14:creationId xmlns:p14="http://schemas.microsoft.com/office/powerpoint/2010/main" val="19020708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9E828A-21AD-4944-8C02-C39C5A64A5AF}"/>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59764679-21B4-4663-82DB-0E6934B8B4D8}"/>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Исследовательский код vs компонент</a:t>
            </a:r>
            <a:endParaRPr sz="2300"/>
          </a:p>
        </p:txBody>
      </p:sp>
      <p:sp>
        <p:nvSpPr>
          <p:cNvPr id="4" name="Text 2">
            <a:extLst xmlns:a="http://schemas.openxmlformats.org/drawingml/2006/main">
              <a:ext uri="{FF2B5EF4-FFF2-40B4-BE49-F238E27FC236}">
                <a16:creationId xmlns:a16="http://schemas.microsoft.com/office/drawing/2014/main" id="{759E8A59-5DC6-4A3A-8F7E-EA23D4583B86}"/>
              </a:ext>
            </a:extLst>
          </p:cNvPr>
          <p:cNvSpPr>
            <a:spLocks xmlns:a="http://schemas.openxmlformats.org/drawingml/2006/main" noGrp="1"/>
          </p:cNvSpPr>
          <p:nvPr/>
        </p:nvSpPr>
        <p:spPr>
          <a:xfrm xmlns:a="http://schemas.openxmlformats.org/drawingml/2006/main">
            <a:off x="777240" y="1234440"/>
            <a:ext cx="5029200" cy="310896"/>
          </a:xfrm>
          <a:prstGeom xmlns:a="http://schemas.openxmlformats.org/drawingml/2006/main" prst="rect">
            <a:avLst/>
          </a:prstGeom>
          <a:solidFill xmlns:a="http://schemas.openxmlformats.org/drawingml/2006/main">
            <a:srgbClr val="6D28D9"/>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Исследовательский код</a:t>
            </a:r>
            <a:endParaRPr sz="1800"/>
          </a:p>
        </p:txBody>
      </p:sp>
      <p:sp>
        <p:nvSpPr>
          <p:cNvPr id="5" name="Text 3">
            <a:extLst xmlns:a="http://schemas.openxmlformats.org/drawingml/2006/main">
              <a:ext uri="{FF2B5EF4-FFF2-40B4-BE49-F238E27FC236}">
                <a16:creationId xmlns:a16="http://schemas.microsoft.com/office/drawing/2014/main" id="{75510D4F-33C8-495F-AF98-9C8A21B80606}"/>
              </a:ext>
            </a:extLst>
          </p:cNvPr>
          <p:cNvSpPr>
            <a:spLocks xmlns:a="http://schemas.openxmlformats.org/drawingml/2006/main" noGrp="1"/>
          </p:cNvSpPr>
          <p:nvPr/>
        </p:nvSpPr>
        <p:spPr>
          <a:xfrm xmlns:a="http://schemas.openxmlformats.org/drawingml/2006/main">
            <a:off x="6355080" y="1234440"/>
            <a:ext cx="5029200" cy="310896"/>
          </a:xfrm>
          <a:prstGeom xmlns:a="http://schemas.openxmlformats.org/drawingml/2006/main" prst="rect">
            <a:avLst/>
          </a:prstGeom>
          <a:solidFill xmlns:a="http://schemas.openxmlformats.org/drawingml/2006/main">
            <a:srgbClr val="04785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Программный компонент</a:t>
            </a:r>
            <a:endParaRPr sz="1800"/>
          </a:p>
        </p:txBody>
      </p:sp>
      <p:sp>
        <p:nvSpPr>
          <p:cNvPr id="6" name="Text 4">
            <a:extLst xmlns:a="http://schemas.openxmlformats.org/drawingml/2006/main">
              <a:ext uri="{FF2B5EF4-FFF2-40B4-BE49-F238E27FC236}">
                <a16:creationId xmlns:a16="http://schemas.microsoft.com/office/drawing/2014/main" id="{275D545A-2F8F-4D3A-93C1-C02AB5A79C87}"/>
              </a:ext>
            </a:extLst>
          </p:cNvPr>
          <p:cNvSpPr>
            <a:spLocks xmlns:a="http://schemas.openxmlformats.org/drawingml/2006/main" noGrp="1"/>
          </p:cNvSpPr>
          <p:nvPr/>
        </p:nvSpPr>
        <p:spPr>
          <a:xfrm xmlns:a="http://schemas.openxmlformats.org/drawingml/2006/main">
            <a:off x="777240" y="1737360"/>
            <a:ext cx="5029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032" tIns="2032" rIns="2032" bIns="2032" anchor="ctr">
            <a:normAutofit/>
          </a:bodyPr>
          <a:lstStyle xmlns:a="http://schemas.openxmlformats.org/drawingml/2006/main"/>
          <a:p xmlns:a="http://schemas.openxmlformats.org/drawingml/2006/main">
            <a:pPr marL="0" indent="0">
              <a:buNone/>
            </a:pPr>
            <a:r>
              <a:rPr sz="1700">
                <a:solidFill>
                  <a:srgbClr val="111827"/>
                </a:solidFill>
                <a:latin typeface="Arial"/>
                <a:ea typeface="Arial"/>
                <a:cs typeface="Arial"/>
              </a:rPr>
              <a:t>• проверка гипотезы</a:t>
            </a:r>
            <a:endParaRPr sz="1700"/>
          </a:p>
          <a:p xmlns:a="http://schemas.openxmlformats.org/drawingml/2006/main">
            <a:pPr marL="0" indent="0">
              <a:buNone/>
            </a:pPr>
            <a:r>
              <a:rPr sz="1700">
                <a:solidFill>
                  <a:srgbClr val="111827"/>
                </a:solidFill>
                <a:latin typeface="Arial"/>
                <a:ea typeface="Arial"/>
                <a:cs typeface="Arial"/>
              </a:rPr>
              <a:t>• удобство автора</a:t>
            </a:r>
            <a:endParaRPr sz="1700"/>
          </a:p>
          <a:p xmlns:a="http://schemas.openxmlformats.org/drawingml/2006/main">
            <a:pPr marL="0" indent="0">
              <a:buNone/>
            </a:pPr>
            <a:r>
              <a:rPr sz="1700">
                <a:solidFill>
                  <a:srgbClr val="111827"/>
                </a:solidFill>
                <a:latin typeface="Arial"/>
                <a:ea typeface="Arial"/>
                <a:cs typeface="Arial"/>
              </a:rPr>
              <a:t>• быстрый эксперимент</a:t>
            </a:r>
            <a:endParaRPr sz="1700"/>
          </a:p>
          <a:p xmlns:a="http://schemas.openxmlformats.org/drawingml/2006/main">
            <a:pPr marL="0" indent="0">
              <a:buNone/>
            </a:pPr>
            <a:r>
              <a:rPr sz="1700">
                <a:solidFill>
                  <a:srgbClr val="111827"/>
                </a:solidFill>
                <a:latin typeface="Arial"/>
                <a:ea typeface="Arial"/>
                <a:cs typeface="Arial"/>
              </a:rPr>
              <a:t>• допускает ручные шаги</a:t>
            </a:r>
            <a:endParaRPr sz="1700"/>
          </a:p>
        </p:txBody>
      </p:sp>
      <p:sp>
        <p:nvSpPr>
          <p:cNvPr id="7" name="Text 5">
            <a:extLst xmlns:a="http://schemas.openxmlformats.org/drawingml/2006/main">
              <a:ext uri="{FF2B5EF4-FFF2-40B4-BE49-F238E27FC236}">
                <a16:creationId xmlns:a16="http://schemas.microsoft.com/office/drawing/2014/main" id="{7C8A566F-0AB5-4056-B6A4-63B87B69862B}"/>
              </a:ext>
            </a:extLst>
          </p:cNvPr>
          <p:cNvSpPr>
            <a:spLocks xmlns:a="http://schemas.openxmlformats.org/drawingml/2006/main" noGrp="1"/>
          </p:cNvSpPr>
          <p:nvPr/>
        </p:nvSpPr>
        <p:spPr>
          <a:xfrm xmlns:a="http://schemas.openxmlformats.org/drawingml/2006/main">
            <a:off x="6355080" y="1737360"/>
            <a:ext cx="5029200" cy="201168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032" tIns="2032" rIns="2032" bIns="2032" anchor="ctr">
            <a:normAutofit/>
          </a:bodyPr>
          <a:lstStyle xmlns:a="http://schemas.openxmlformats.org/drawingml/2006/main"/>
          <a:p xmlns:a="http://schemas.openxmlformats.org/drawingml/2006/main">
            <a:pPr marL="0" indent="0">
              <a:buNone/>
            </a:pPr>
            <a:r>
              <a:rPr sz="1700">
                <a:solidFill>
                  <a:srgbClr val="111827"/>
                </a:solidFill>
                <a:latin typeface="Arial"/>
                <a:ea typeface="Arial"/>
                <a:cs typeface="Arial"/>
              </a:rPr>
              <a:t>• надежное использование</a:t>
            </a:r>
            <a:endParaRPr sz="1700"/>
          </a:p>
          <a:p xmlns:a="http://schemas.openxmlformats.org/drawingml/2006/main">
            <a:pPr marL="0" indent="0">
              <a:buNone/>
            </a:pPr>
            <a:r>
              <a:rPr sz="1700">
                <a:solidFill>
                  <a:srgbClr val="111827"/>
                </a:solidFill>
                <a:latin typeface="Arial"/>
                <a:ea typeface="Arial"/>
                <a:cs typeface="Arial"/>
              </a:rPr>
              <a:t>• понятные входы и выходы</a:t>
            </a:r>
            <a:endParaRPr sz="1700"/>
          </a:p>
          <a:p xmlns:a="http://schemas.openxmlformats.org/drawingml/2006/main">
            <a:pPr marL="0" indent="0">
              <a:buNone/>
            </a:pPr>
            <a:r>
              <a:rPr sz="1700">
                <a:solidFill>
                  <a:srgbClr val="111827"/>
                </a:solidFill>
                <a:latin typeface="Arial"/>
                <a:ea typeface="Arial"/>
                <a:cs typeface="Arial"/>
              </a:rPr>
              <a:t>• воспроизводимый запуск</a:t>
            </a:r>
            <a:endParaRPr sz="1700"/>
          </a:p>
          <a:p xmlns:a="http://schemas.openxmlformats.org/drawingml/2006/main">
            <a:pPr marL="0" indent="0">
              <a:buNone/>
            </a:pPr>
            <a:r>
              <a:rPr sz="1700">
                <a:solidFill>
                  <a:srgbClr val="111827"/>
                </a:solidFill>
                <a:latin typeface="Arial"/>
                <a:ea typeface="Arial"/>
                <a:cs typeface="Arial"/>
              </a:rPr>
              <a:t>• готовность к интеграции</a:t>
            </a:r>
            <a:endParaRPr sz="1700"/>
          </a:p>
        </p:txBody>
      </p:sp>
      <p:sp>
        <p:nvSpPr>
          <p:cNvPr id="8" name="Text 6">
            <a:extLst xmlns:a="http://schemas.openxmlformats.org/drawingml/2006/main">
              <a:ext uri="{FF2B5EF4-FFF2-40B4-BE49-F238E27FC236}">
                <a16:creationId xmlns:a16="http://schemas.microsoft.com/office/drawing/2014/main" id="{16DB09F2-C0B1-457D-8BB9-BED5C8BBF593}"/>
              </a:ext>
            </a:extLst>
          </p:cNvPr>
          <p:cNvSpPr>
            <a:spLocks xmlns:a="http://schemas.openxmlformats.org/drawingml/2006/main" noGrp="1"/>
          </p:cNvSpPr>
          <p:nvPr/>
        </p:nvSpPr>
        <p:spPr>
          <a:xfrm xmlns:a="http://schemas.openxmlformats.org/drawingml/2006/main">
            <a:off x="777240" y="4343400"/>
            <a:ext cx="10607040" cy="5943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lgn="ctr">
              <a:buNone/>
            </a:pPr>
            <a:r>
              <a:rPr sz="1900" b="1">
                <a:solidFill>
                  <a:srgbClr val="111827"/>
                </a:solidFill>
                <a:latin typeface="Arial"/>
                <a:ea typeface="Arial"/>
                <a:cs typeface="Arial"/>
              </a:rPr>
              <a:t>Notebook может доказать идею, но редко является готовым компонентом системы.</a:t>
            </a:r>
            <a:endParaRPr sz="1900"/>
          </a:p>
        </p:txBody>
      </p:sp>
      <p:sp>
        <p:nvSpPr>
          <p:cNvPr id="9" name="Shape 7">
            <a:extLst xmlns:a="http://schemas.openxmlformats.org/drawingml/2006/main">
              <a:ext uri="{FF2B5EF4-FFF2-40B4-BE49-F238E27FC236}">
                <a16:creationId xmlns:a16="http://schemas.microsoft.com/office/drawing/2014/main" id="{469ADAF4-59BB-42FF-9A5F-FA00D4CCB2AB}"/>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0" name="Text 8">
            <a:extLst xmlns:a="http://schemas.openxmlformats.org/drawingml/2006/main">
              <a:ext uri="{FF2B5EF4-FFF2-40B4-BE49-F238E27FC236}">
                <a16:creationId xmlns:a16="http://schemas.microsoft.com/office/drawing/2014/main" id="{ED923B7D-DB60-409F-B126-274E51E42B80}"/>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11" name="Text 9">
            <a:extLst xmlns:a="http://schemas.openxmlformats.org/drawingml/2006/main">
              <a:ext uri="{FF2B5EF4-FFF2-40B4-BE49-F238E27FC236}">
                <a16:creationId xmlns:a16="http://schemas.microsoft.com/office/drawing/2014/main" id="{7F887F5C-BB86-4F61-8602-C2DF331E0E7D}"/>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11</a:t>
            </a:r>
            <a:endParaRPr sz="850"/>
          </a:p>
        </p:txBody>
      </p:sp>
    </p:spTree>
    <p:extLst>
      <p:ext uri="{BB962C8B-B14F-4D97-AF65-F5344CB8AC3E}">
        <p14:creationId xmlns:p14="http://schemas.microsoft.com/office/powerpoint/2010/main" val="3070781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D7CC7AF-B6AE-4A14-8D04-ACF09331B8D0}"/>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F5E245C4-58B9-4E00-8A6F-AB03625ED05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Типичный путь ML-кода</a:t>
            </a:r>
            <a:endParaRPr sz="2300"/>
          </a:p>
        </p:txBody>
      </p:sp>
      <p:sp>
        <p:nvSpPr>
          <p:cNvPr id="4" name="Text 2">
            <a:extLst xmlns:a="http://schemas.openxmlformats.org/drawingml/2006/main">
              <a:ext uri="{FF2B5EF4-FFF2-40B4-BE49-F238E27FC236}">
                <a16:creationId xmlns:a16="http://schemas.microsoft.com/office/drawing/2014/main" id="{F51B01BB-AF36-43A3-BA33-FED2970A6E33}"/>
              </a:ext>
            </a:extLst>
          </p:cNvPr>
          <p:cNvSpPr>
            <a:spLocks xmlns:a="http://schemas.openxmlformats.org/drawingml/2006/main" noGrp="1"/>
          </p:cNvSpPr>
          <p:nvPr/>
        </p:nvSpPr>
        <p:spPr>
          <a:xfrm xmlns:a="http://schemas.openxmlformats.org/drawingml/2006/main">
            <a:off x="640080" y="1828800"/>
            <a:ext cx="2057400" cy="685800"/>
          </a:xfrm>
          <a:prstGeom xmlns:a="http://schemas.openxmlformats.org/drawingml/2006/main" prst="rect">
            <a:avLst/>
          </a:prstGeom>
          <a:solidFill xmlns:a="http://schemas.openxmlformats.org/drawingml/2006/main">
            <a:srgbClr val="6D28D9"/>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notebook</a:t>
            </a:r>
            <a:endParaRPr sz="1500"/>
          </a:p>
        </p:txBody>
      </p:sp>
      <p:sp>
        <p:nvSpPr>
          <p:cNvPr id="5" name="Shape 3">
            <a:extLst xmlns:a="http://schemas.openxmlformats.org/drawingml/2006/main">
              <a:ext uri="{FF2B5EF4-FFF2-40B4-BE49-F238E27FC236}">
                <a16:creationId xmlns:a16="http://schemas.microsoft.com/office/drawing/2014/main" id="{18F7ECD9-F49C-4761-9B69-2D8E57B6749F}"/>
              </a:ext>
            </a:extLst>
          </p:cNvPr>
          <p:cNvSpPr>
            <a:spLocks xmlns:a="http://schemas.openxmlformats.org/drawingml/2006/main" noGrp="1"/>
          </p:cNvSpPr>
          <p:nvPr/>
        </p:nvSpPr>
        <p:spPr>
          <a:xfrm xmlns:a="http://schemas.openxmlformats.org/drawingml/2006/main">
            <a:off x="2724912" y="2176272"/>
            <a:ext cx="155448"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tailEnd type="triangle"/>
          </a:ln>
        </p:spPr>
      </p:sp>
      <p:sp>
        <p:nvSpPr>
          <p:cNvPr id="6" name="Text 4">
            <a:extLst xmlns:a="http://schemas.openxmlformats.org/drawingml/2006/main">
              <a:ext uri="{FF2B5EF4-FFF2-40B4-BE49-F238E27FC236}">
                <a16:creationId xmlns:a16="http://schemas.microsoft.com/office/drawing/2014/main" id="{FCCDF1FA-4AEB-4365-99E0-A6C2392F99B6}"/>
              </a:ext>
            </a:extLst>
          </p:cNvPr>
          <p:cNvSpPr>
            <a:spLocks xmlns:a="http://schemas.openxmlformats.org/drawingml/2006/main" noGrp="1"/>
          </p:cNvSpPr>
          <p:nvPr/>
        </p:nvSpPr>
        <p:spPr>
          <a:xfrm xmlns:a="http://schemas.openxmlformats.org/drawingml/2006/main">
            <a:off x="2926080" y="1828800"/>
            <a:ext cx="2057400" cy="685800"/>
          </a:xfrm>
          <a:prstGeom xmlns:a="http://schemas.openxmlformats.org/drawingml/2006/main" prst="rect">
            <a:avLst/>
          </a:prstGeom>
          <a:solidFill xmlns:a="http://schemas.openxmlformats.org/drawingml/2006/main">
            <a:srgbClr val="6D28D9"/>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script</a:t>
            </a:r>
            <a:endParaRPr sz="1500"/>
          </a:p>
        </p:txBody>
      </p:sp>
      <p:sp>
        <p:nvSpPr>
          <p:cNvPr id="7" name="Shape 5">
            <a:extLst xmlns:a="http://schemas.openxmlformats.org/drawingml/2006/main">
              <a:ext uri="{FF2B5EF4-FFF2-40B4-BE49-F238E27FC236}">
                <a16:creationId xmlns:a16="http://schemas.microsoft.com/office/drawing/2014/main" id="{15F94628-E105-4FDC-B4BE-6A96BA746CE8}"/>
              </a:ext>
            </a:extLst>
          </p:cNvPr>
          <p:cNvSpPr>
            <a:spLocks xmlns:a="http://schemas.openxmlformats.org/drawingml/2006/main" noGrp="1"/>
          </p:cNvSpPr>
          <p:nvPr/>
        </p:nvSpPr>
        <p:spPr>
          <a:xfrm xmlns:a="http://schemas.openxmlformats.org/drawingml/2006/main">
            <a:off x="5010912" y="2176272"/>
            <a:ext cx="155448"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tailEnd type="triangle"/>
          </a:ln>
        </p:spPr>
      </p:sp>
      <p:sp>
        <p:nvSpPr>
          <p:cNvPr id="8" name="Text 6">
            <a:extLst xmlns:a="http://schemas.openxmlformats.org/drawingml/2006/main">
              <a:ext uri="{FF2B5EF4-FFF2-40B4-BE49-F238E27FC236}">
                <a16:creationId xmlns:a16="http://schemas.microsoft.com/office/drawing/2014/main" id="{58F8878A-21C7-41AC-9731-D9F31DC797C4}"/>
              </a:ext>
            </a:extLst>
          </p:cNvPr>
          <p:cNvSpPr>
            <a:spLocks xmlns:a="http://schemas.openxmlformats.org/drawingml/2006/main" noGrp="1"/>
          </p:cNvSpPr>
          <p:nvPr/>
        </p:nvSpPr>
        <p:spPr>
          <a:xfrm xmlns:a="http://schemas.openxmlformats.org/drawingml/2006/main">
            <a:off x="5212080" y="1828800"/>
            <a:ext cx="2057400" cy="685800"/>
          </a:xfrm>
          <a:prstGeom xmlns:a="http://schemas.openxmlformats.org/drawingml/2006/main" prst="rect">
            <a:avLst/>
          </a:prstGeom>
          <a:solidFill xmlns:a="http://schemas.openxmlformats.org/drawingml/2006/main">
            <a:srgbClr val="047857"/>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project</a:t>
            </a:r>
            <a:endParaRPr sz="1500"/>
          </a:p>
        </p:txBody>
      </p:sp>
      <p:sp>
        <p:nvSpPr>
          <p:cNvPr id="9" name="Shape 7">
            <a:extLst xmlns:a="http://schemas.openxmlformats.org/drawingml/2006/main">
              <a:ext uri="{FF2B5EF4-FFF2-40B4-BE49-F238E27FC236}">
                <a16:creationId xmlns:a16="http://schemas.microsoft.com/office/drawing/2014/main" id="{62D174B8-3E0C-4933-B139-7351C56B2016}"/>
              </a:ext>
            </a:extLst>
          </p:cNvPr>
          <p:cNvSpPr>
            <a:spLocks xmlns:a="http://schemas.openxmlformats.org/drawingml/2006/main" noGrp="1"/>
          </p:cNvSpPr>
          <p:nvPr/>
        </p:nvSpPr>
        <p:spPr>
          <a:xfrm xmlns:a="http://schemas.openxmlformats.org/drawingml/2006/main">
            <a:off x="7296912" y="2176272"/>
            <a:ext cx="155448"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tailEnd type="triangle"/>
          </a:ln>
        </p:spPr>
      </p:sp>
      <p:sp>
        <p:nvSpPr>
          <p:cNvPr id="10" name="Text 8">
            <a:extLst xmlns:a="http://schemas.openxmlformats.org/drawingml/2006/main">
              <a:ext uri="{FF2B5EF4-FFF2-40B4-BE49-F238E27FC236}">
                <a16:creationId xmlns:a16="http://schemas.microsoft.com/office/drawing/2014/main" id="{8D9B2916-FFBD-4659-AB53-6202ED381D6D}"/>
              </a:ext>
            </a:extLst>
          </p:cNvPr>
          <p:cNvSpPr>
            <a:spLocks xmlns:a="http://schemas.openxmlformats.org/drawingml/2006/main" noGrp="1"/>
          </p:cNvSpPr>
          <p:nvPr/>
        </p:nvSpPr>
        <p:spPr>
          <a:xfrm xmlns:a="http://schemas.openxmlformats.org/drawingml/2006/main">
            <a:off x="7498080" y="1828800"/>
            <a:ext cx="2057400" cy="685800"/>
          </a:xfrm>
          <a:prstGeom xmlns:a="http://schemas.openxmlformats.org/drawingml/2006/main" prst="rect">
            <a:avLst/>
          </a:prstGeom>
          <a:solidFill xmlns:a="http://schemas.openxmlformats.org/drawingml/2006/main">
            <a:srgbClr val="2563EB"/>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package/service</a:t>
            </a:r>
            <a:endParaRPr sz="1500"/>
          </a:p>
        </p:txBody>
      </p:sp>
      <p:sp>
        <p:nvSpPr>
          <p:cNvPr id="11" name="Shape 9">
            <a:extLst xmlns:a="http://schemas.openxmlformats.org/drawingml/2006/main">
              <a:ext uri="{FF2B5EF4-FFF2-40B4-BE49-F238E27FC236}">
                <a16:creationId xmlns:a16="http://schemas.microsoft.com/office/drawing/2014/main" id="{DF3CAB8F-DAEC-49E1-B60E-43A543838606}"/>
              </a:ext>
            </a:extLst>
          </p:cNvPr>
          <p:cNvSpPr>
            <a:spLocks xmlns:a="http://schemas.openxmlformats.org/drawingml/2006/main" noGrp="1"/>
          </p:cNvSpPr>
          <p:nvPr/>
        </p:nvSpPr>
        <p:spPr>
          <a:xfrm xmlns:a="http://schemas.openxmlformats.org/drawingml/2006/main">
            <a:off x="9582912" y="2176272"/>
            <a:ext cx="155448" cy="0"/>
          </a:xfrm>
          <a:prstGeom xmlns:a="http://schemas.openxmlformats.org/drawingml/2006/main" prst="line">
            <a:avLst/>
          </a:prstGeom>
          <a:noFill xmlns:a="http://schemas.openxmlformats.org/drawingml/2006/main"/>
          <a:ln xmlns:a="http://schemas.openxmlformats.org/drawingml/2006/main" w="15240">
            <a:solidFill>
              <a:srgbClr val="475569"/>
            </a:solidFill>
            <a:prstDash val="solid"/>
            <a:tailEnd type="triangle"/>
          </a:ln>
        </p:spPr>
      </p:sp>
      <p:sp>
        <p:nvSpPr>
          <p:cNvPr id="12" name="Text 10">
            <a:extLst xmlns:a="http://schemas.openxmlformats.org/drawingml/2006/main">
              <a:ext uri="{FF2B5EF4-FFF2-40B4-BE49-F238E27FC236}">
                <a16:creationId xmlns:a16="http://schemas.microsoft.com/office/drawing/2014/main" id="{7F972CDD-D203-46A0-8092-B1CA87CB5E2F}"/>
              </a:ext>
            </a:extLst>
          </p:cNvPr>
          <p:cNvSpPr>
            <a:spLocks xmlns:a="http://schemas.openxmlformats.org/drawingml/2006/main" noGrp="1"/>
          </p:cNvSpPr>
          <p:nvPr/>
        </p:nvSpPr>
        <p:spPr>
          <a:xfrm xmlns:a="http://schemas.openxmlformats.org/drawingml/2006/main">
            <a:off x="9784080" y="1828800"/>
            <a:ext cx="2057400" cy="685800"/>
          </a:xfrm>
          <a:prstGeom xmlns:a="http://schemas.openxmlformats.org/drawingml/2006/main" prst="rect">
            <a:avLst/>
          </a:prstGeom>
          <a:solidFill xmlns:a="http://schemas.openxmlformats.org/drawingml/2006/main">
            <a:srgbClr val="1F2937"/>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system component</a:t>
            </a:r>
            <a:endParaRPr sz="1500"/>
          </a:p>
        </p:txBody>
      </p:sp>
      <p:sp>
        <p:nvSpPr>
          <p:cNvPr id="13" name="Text 11">
            <a:extLst xmlns:a="http://schemas.openxmlformats.org/drawingml/2006/main">
              <a:ext uri="{FF2B5EF4-FFF2-40B4-BE49-F238E27FC236}">
                <a16:creationId xmlns:a16="http://schemas.microsoft.com/office/drawing/2014/main" id="{235A16CA-EA3F-43B1-9AE4-DD41AB717260}"/>
              </a:ext>
            </a:extLst>
          </p:cNvPr>
          <p:cNvSpPr>
            <a:spLocks xmlns:a="http://schemas.openxmlformats.org/drawingml/2006/main" noGrp="1"/>
          </p:cNvSpPr>
          <p:nvPr/>
        </p:nvSpPr>
        <p:spPr>
          <a:xfrm xmlns:a="http://schemas.openxmlformats.org/drawingml/2006/main">
            <a:off x="731520" y="3337560"/>
            <a:ext cx="6949440" cy="13716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latin typeface="Arial"/>
                <a:ea typeface="Arial"/>
                <a:cs typeface="Arial"/>
              </a:rPr>
              <a:t>• Notebook: проверка идеи и быстрый эксперимент</a:t>
            </a:r>
            <a:endParaRPr sz="1600"/>
          </a:p>
          <a:p xmlns:a="http://schemas.openxmlformats.org/drawingml/2006/main">
            <a:pPr marL="0" indent="0">
              <a:buNone/>
            </a:pPr>
            <a:r>
              <a:rPr sz="1600">
                <a:solidFill>
                  <a:srgbClr val="111827"/>
                </a:solidFill>
                <a:latin typeface="Arial"/>
                <a:ea typeface="Arial"/>
                <a:cs typeface="Arial"/>
              </a:rPr>
              <a:t>• Script: повторяемый запуск отдельного действия</a:t>
            </a:r>
            <a:endParaRPr sz="1600"/>
          </a:p>
          <a:p xmlns:a="http://schemas.openxmlformats.org/drawingml/2006/main">
            <a:pPr marL="0" indent="0">
              <a:buNone/>
            </a:pPr>
            <a:r>
              <a:rPr sz="1600">
                <a:solidFill>
                  <a:srgbClr val="111827"/>
                </a:solidFill>
                <a:latin typeface="Arial"/>
                <a:ea typeface="Arial"/>
                <a:cs typeface="Arial"/>
              </a:rPr>
              <a:t>• Project/package/service: компонент, который можно встроить и сопровождать</a:t>
            </a:r>
            <a:endParaRPr sz="1600"/>
          </a:p>
        </p:txBody>
      </p:sp>
      <p:sp>
        <p:nvSpPr>
          <p:cNvPr id="14" name="Text 12">
            <a:extLst xmlns:a="http://schemas.openxmlformats.org/drawingml/2006/main">
              <a:ext uri="{FF2B5EF4-FFF2-40B4-BE49-F238E27FC236}">
                <a16:creationId xmlns:a16="http://schemas.microsoft.com/office/drawing/2014/main" id="{554038B0-1F1D-4F55-9C02-0D476075C449}"/>
              </a:ext>
            </a:extLst>
          </p:cNvPr>
          <p:cNvSpPr>
            <a:spLocks xmlns:a="http://schemas.openxmlformats.org/drawingml/2006/main" noGrp="1"/>
          </p:cNvSpPr>
          <p:nvPr/>
        </p:nvSpPr>
        <p:spPr>
          <a:xfrm xmlns:a="http://schemas.openxmlformats.org/drawingml/2006/main">
            <a:off x="8092440" y="3246120"/>
            <a:ext cx="3017520" cy="128016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524" tIns="1524" rIns="1524" bIns="1524" anchor="ctr">
            <a:normAutofit/>
          </a:bodyPr>
          <a:lstStyle xmlns:a="http://schemas.openxmlformats.org/drawingml/2006/main"/>
          <a:p xmlns:a="http://schemas.openxmlformats.org/drawingml/2006/main">
            <a:pPr marL="0" indent="0">
              <a:buNone/>
            </a:pPr>
            <a:r>
              <a:rPr sz="1500" b="1">
                <a:solidFill>
                  <a:srgbClr val="111827"/>
                </a:solidFill>
                <a:latin typeface="Arial"/>
                <a:ea typeface="Arial"/>
                <a:cs typeface="Arial"/>
              </a:rPr>
              <a:t>Переход между стадиями требует явных инженерных решений.</a:t>
            </a:r>
            <a:endParaRPr sz="1500"/>
          </a:p>
        </p:txBody>
      </p:sp>
      <p:sp>
        <p:nvSpPr>
          <p:cNvPr id="15" name="Shape 13">
            <a:extLst xmlns:a="http://schemas.openxmlformats.org/drawingml/2006/main">
              <a:ext uri="{FF2B5EF4-FFF2-40B4-BE49-F238E27FC236}">
                <a16:creationId xmlns:a16="http://schemas.microsoft.com/office/drawing/2014/main" id="{E7B6BDB4-ED16-4604-8513-8C7B78D8D323}"/>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6" name="Text 14">
            <a:extLst xmlns:a="http://schemas.openxmlformats.org/drawingml/2006/main">
              <a:ext uri="{FF2B5EF4-FFF2-40B4-BE49-F238E27FC236}">
                <a16:creationId xmlns:a16="http://schemas.microsoft.com/office/drawing/2014/main" id="{4DC6C778-5995-49D1-A7DA-A5BB73C6592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17" name="Text 15">
            <a:extLst xmlns:a="http://schemas.openxmlformats.org/drawingml/2006/main">
              <a:ext uri="{FF2B5EF4-FFF2-40B4-BE49-F238E27FC236}">
                <a16:creationId xmlns:a16="http://schemas.microsoft.com/office/drawing/2014/main" id="{058BB8F8-2D5E-4367-B4DD-9D685F93A947}"/>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12</a:t>
            </a:r>
            <a:endParaRPr sz="850"/>
          </a:p>
        </p:txBody>
      </p:sp>
    </p:spTree>
    <p:extLst>
      <p:ext uri="{BB962C8B-B14F-4D97-AF65-F5344CB8AC3E}">
        <p14:creationId xmlns:p14="http://schemas.microsoft.com/office/powerpoint/2010/main" val="2064624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8EC23D-5183-4A41-8690-3DC3577544C4}"/>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672CE537-D349-43F6-BAED-99632CAC8D67}"/>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Проблема «работает у меня»</a:t>
            </a:r>
            <a:endParaRPr sz="2300"/>
          </a:p>
        </p:txBody>
      </p:sp>
      <p:sp>
        <p:nvSpPr>
          <p:cNvPr id="4" name="Text 2">
            <a:extLst xmlns:a="http://schemas.openxmlformats.org/drawingml/2006/main">
              <a:ext uri="{FF2B5EF4-FFF2-40B4-BE49-F238E27FC236}">
                <a16:creationId xmlns:a16="http://schemas.microsoft.com/office/drawing/2014/main" id="{996865DC-2247-4786-AEFC-4A993E8F3CC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Неизвестные версии библиотек и Python</a:t>
            </a:r>
            <a:endParaRPr sz="1800"/>
          </a:p>
          <a:p xmlns:a="http://schemas.openxmlformats.org/drawingml/2006/main">
            <a:pPr marL="0" indent="0">
              <a:buNone/>
            </a:pPr>
            <a:r>
              <a:rPr sz="1800">
                <a:solidFill>
                  <a:srgbClr val="111827"/>
                </a:solidFill>
                <a:latin typeface="Arial"/>
                <a:ea typeface="Arial"/>
                <a:cs typeface="Arial"/>
              </a:rPr>
              <a:t>• Локальные пути, файлы, переменные окружения и ручные действия</a:t>
            </a:r>
            <a:endParaRPr sz="1800"/>
          </a:p>
          <a:p xmlns:a="http://schemas.openxmlformats.org/drawingml/2006/main">
            <a:pPr marL="0" indent="0">
              <a:buNone/>
            </a:pPr>
            <a:r>
              <a:rPr sz="1800">
                <a:solidFill>
                  <a:srgbClr val="111827"/>
                </a:solidFill>
                <a:latin typeface="Arial"/>
                <a:ea typeface="Arial"/>
                <a:cs typeface="Arial"/>
              </a:rPr>
              <a:t>• Отсутствие проверки, что инструкция действительно воспроизводит запуск</a:t>
            </a:r>
            <a:endParaRPr sz="1800"/>
          </a:p>
        </p:txBody>
      </p:sp>
      <p:sp>
        <p:nvSpPr>
          <p:cNvPr id="5" name="Text 3">
            <a:extLst xmlns:a="http://schemas.openxmlformats.org/drawingml/2006/main">
              <a:ext uri="{FF2B5EF4-FFF2-40B4-BE49-F238E27FC236}">
                <a16:creationId xmlns:a16="http://schemas.microsoft.com/office/drawing/2014/main" id="{1996F3FE-755D-4C7E-A840-CC9EC9FD9E68}"/>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Воспроизводимость начинается с вопроса: сможет ли другой человек повторить результат без автора?</a:t>
            </a:r>
            <a:endParaRPr sz="1450"/>
          </a:p>
        </p:txBody>
      </p:sp>
      <p:sp>
        <p:nvSpPr>
          <p:cNvPr id="6" name="Text 4">
            <a:extLst xmlns:a="http://schemas.openxmlformats.org/drawingml/2006/main">
              <a:ext uri="{FF2B5EF4-FFF2-40B4-BE49-F238E27FC236}">
                <a16:creationId xmlns:a16="http://schemas.microsoft.com/office/drawing/2014/main" id="{D0AA9BD3-D710-47B8-BB1B-3CC6E311A1B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Риски исследовательского ML-кода</a:t>
            </a:r>
            <a:endParaRPr sz="1200"/>
          </a:p>
        </p:txBody>
      </p:sp>
      <p:sp>
        <p:nvSpPr>
          <p:cNvPr id="7" name="Shape 5">
            <a:extLst xmlns:a="http://schemas.openxmlformats.org/drawingml/2006/main">
              <a:ext uri="{FF2B5EF4-FFF2-40B4-BE49-F238E27FC236}">
                <a16:creationId xmlns:a16="http://schemas.microsoft.com/office/drawing/2014/main" id="{75F57F92-9C72-4B39-A079-A83BC6EFC6D7}"/>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F3D2B408-1D93-4670-8300-0C9579EBFA31}"/>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5209E7AC-0EBE-49E7-BC70-1909D76689C6}"/>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13</a:t>
            </a:r>
            <a:endParaRPr sz="850"/>
          </a:p>
        </p:txBody>
      </p:sp>
    </p:spTree>
    <p:extLst>
      <p:ext uri="{BB962C8B-B14F-4D97-AF65-F5344CB8AC3E}">
        <p14:creationId xmlns:p14="http://schemas.microsoft.com/office/powerpoint/2010/main" val="12586436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EDBBA9-E08E-47FE-92C4-DA21B445E04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CC4AFDC2-A405-4450-96C7-BBED1190F2E6}"/>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Риски исследовательского ML-кода</a:t>
            </a:r>
            <a:endParaRPr sz="2300"/>
          </a:p>
        </p:txBody>
      </p:sp>
      <p:sp>
        <p:nvSpPr>
          <p:cNvPr id="4" name="Text 2">
            <a:extLst xmlns:a="http://schemas.openxmlformats.org/drawingml/2006/main">
              <a:ext uri="{FF2B5EF4-FFF2-40B4-BE49-F238E27FC236}">
                <a16:creationId xmlns:a16="http://schemas.microsoft.com/office/drawing/2014/main" id="{FFD165DF-5734-4007-9308-61B6553F8E8C}"/>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Смешаны обучение, инференс, подготовка данных и визуализация</a:t>
            </a:r>
            <a:endParaRPr sz="1800"/>
          </a:p>
          <a:p xmlns:a="http://schemas.openxmlformats.org/drawingml/2006/main">
            <a:pPr marL="0" indent="0">
              <a:buNone/>
            </a:pPr>
            <a:r>
              <a:rPr sz="1800">
                <a:solidFill>
                  <a:srgbClr val="111827"/>
                </a:solidFill>
                <a:latin typeface="Arial"/>
                <a:ea typeface="Arial"/>
                <a:cs typeface="Arial"/>
              </a:rPr>
              <a:t>• Артефакты модели не сохраняются или создаются заново неявно</a:t>
            </a:r>
            <a:endParaRPr sz="1800"/>
          </a:p>
          <a:p xmlns:a="http://schemas.openxmlformats.org/drawingml/2006/main">
            <a:pPr marL="0" indent="0">
              <a:buNone/>
            </a:pPr>
            <a:r>
              <a:rPr sz="1800">
                <a:solidFill>
                  <a:srgbClr val="111827"/>
                </a:solidFill>
                <a:latin typeface="Arial"/>
                <a:ea typeface="Arial"/>
                <a:cs typeface="Arial"/>
              </a:rPr>
              <a:t>• Не описаны окружение, входы, история решений и минимальные тесты</a:t>
            </a:r>
            <a:endParaRPr sz="1800"/>
          </a:p>
        </p:txBody>
      </p:sp>
      <p:sp>
        <p:nvSpPr>
          <p:cNvPr id="5" name="Text 3">
            <a:extLst xmlns:a="http://schemas.openxmlformats.org/drawingml/2006/main">
              <a:ext uri="{FF2B5EF4-FFF2-40B4-BE49-F238E27FC236}">
                <a16:creationId xmlns:a16="http://schemas.microsoft.com/office/drawing/2014/main" id="{389141C0-8AE0-4275-BF94-B80485D24200}"/>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Риск не только в ошибке модели, но и в невозможности понять и повторить поведение кода.</a:t>
            </a:r>
            <a:endParaRPr sz="1450"/>
          </a:p>
        </p:txBody>
      </p:sp>
      <p:sp>
        <p:nvSpPr>
          <p:cNvPr id="6" name="Text 4">
            <a:extLst xmlns:a="http://schemas.openxmlformats.org/drawingml/2006/main">
              <a:ext uri="{FF2B5EF4-FFF2-40B4-BE49-F238E27FC236}">
                <a16:creationId xmlns:a16="http://schemas.microsoft.com/office/drawing/2014/main" id="{7F2F49BC-073D-4C30-A4A7-3C7B6C21D4DD}"/>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Воспроизводимость как требование</a:t>
            </a:r>
            <a:endParaRPr sz="1200"/>
          </a:p>
        </p:txBody>
      </p:sp>
      <p:sp>
        <p:nvSpPr>
          <p:cNvPr id="7" name="Shape 5">
            <a:extLst xmlns:a="http://schemas.openxmlformats.org/drawingml/2006/main">
              <a:ext uri="{FF2B5EF4-FFF2-40B4-BE49-F238E27FC236}">
                <a16:creationId xmlns:a16="http://schemas.microsoft.com/office/drawing/2014/main" id="{880DBDAC-3AC7-41BB-B316-F136C56518D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D96CD38C-E855-4CD2-92B3-AF588A593B8E}"/>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60447CF2-E25D-4298-80FB-F7452457A4FC}"/>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14</a:t>
            </a:r>
            <a:endParaRPr sz="850"/>
          </a:p>
        </p:txBody>
      </p:sp>
    </p:spTree>
    <p:extLst>
      <p:ext uri="{BB962C8B-B14F-4D97-AF65-F5344CB8AC3E}">
        <p14:creationId xmlns:p14="http://schemas.microsoft.com/office/powerpoint/2010/main" val="16065044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B35CF4-9AC7-46B3-9AC6-2CBCB8E6E9C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69F8F814-BB0B-4CE8-99F6-BF1E1EFAD2FC}"/>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Воспроизводимость как требование</a:t>
            </a:r>
            <a:endParaRPr sz="2300"/>
          </a:p>
        </p:txBody>
      </p:sp>
      <p:sp>
        <p:nvSpPr>
          <p:cNvPr id="4" name="Text 2">
            <a:extLst xmlns:a="http://schemas.openxmlformats.org/drawingml/2006/main">
              <a:ext uri="{FF2B5EF4-FFF2-40B4-BE49-F238E27FC236}">
                <a16:creationId xmlns:a16="http://schemas.microsoft.com/office/drawing/2014/main" id="{C852059A-4FC2-45FB-8AD9-A1FA41E5CF3A}"/>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Описаны команды установки и запуска</a:t>
            </a:r>
            <a:endParaRPr sz="1800"/>
          </a:p>
          <a:p xmlns:a="http://schemas.openxmlformats.org/drawingml/2006/main">
            <a:pPr marL="0" indent="0">
              <a:buNone/>
            </a:pPr>
            <a:r>
              <a:rPr sz="1800">
                <a:solidFill>
                  <a:srgbClr val="111827"/>
                </a:solidFill>
                <a:latin typeface="Arial"/>
                <a:ea typeface="Arial"/>
                <a:cs typeface="Arial"/>
              </a:rPr>
              <a:t>• Зафиксированы зависимости и минимальные входные данные</a:t>
            </a:r>
            <a:endParaRPr sz="1800"/>
          </a:p>
          <a:p xmlns:a="http://schemas.openxmlformats.org/drawingml/2006/main">
            <a:pPr marL="0" indent="0">
              <a:buNone/>
            </a:pPr>
            <a:r>
              <a:rPr sz="1800">
                <a:solidFill>
                  <a:srgbClr val="111827"/>
                </a:solidFill>
                <a:latin typeface="Arial"/>
                <a:ea typeface="Arial"/>
                <a:cs typeface="Arial"/>
              </a:rPr>
              <a:t>• Результат запуска проверяется тестом или smoke-test</a:t>
            </a:r>
            <a:endParaRPr sz="1800"/>
          </a:p>
        </p:txBody>
      </p:sp>
      <p:sp>
        <p:nvSpPr>
          <p:cNvPr id="5" name="Text 3">
            <a:extLst xmlns:a="http://schemas.openxmlformats.org/drawingml/2006/main">
              <a:ext uri="{FF2B5EF4-FFF2-40B4-BE49-F238E27FC236}">
                <a16:creationId xmlns:a16="http://schemas.microsoft.com/office/drawing/2014/main" id="{1D13F4A3-D645-4299-8279-409E3FF390C4}"/>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Воспроизводимость — не красивое слово, а проверяемое свойство проекта.</a:t>
            </a:r>
            <a:endParaRPr sz="1450"/>
          </a:p>
        </p:txBody>
      </p:sp>
      <p:sp>
        <p:nvSpPr>
          <p:cNvPr id="6" name="Text 4">
            <a:extLst xmlns:a="http://schemas.openxmlformats.org/drawingml/2006/main">
              <a:ext uri="{FF2B5EF4-FFF2-40B4-BE49-F238E27FC236}">
                <a16:creationId xmlns:a16="http://schemas.microsoft.com/office/drawing/2014/main" id="{DE9277D5-2B5D-442D-B17D-8228E8770AAD}"/>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Интегрируемость компонента</a:t>
            </a:r>
            <a:endParaRPr sz="1200"/>
          </a:p>
        </p:txBody>
      </p:sp>
      <p:sp>
        <p:nvSpPr>
          <p:cNvPr id="7" name="Shape 5">
            <a:extLst xmlns:a="http://schemas.openxmlformats.org/drawingml/2006/main">
              <a:ext uri="{FF2B5EF4-FFF2-40B4-BE49-F238E27FC236}">
                <a16:creationId xmlns:a16="http://schemas.microsoft.com/office/drawing/2014/main" id="{4FA5C243-8CAC-4457-8475-C43976F9D6E0}"/>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9EE394AB-08F9-4152-A26B-8AC917ECF5E2}"/>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B80FB654-D0D1-4CCA-BC16-DD7536069901}"/>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15</a:t>
            </a:r>
            <a:endParaRPr sz="850"/>
          </a:p>
        </p:txBody>
      </p:sp>
    </p:spTree>
    <p:extLst>
      <p:ext uri="{BB962C8B-B14F-4D97-AF65-F5344CB8AC3E}">
        <p14:creationId xmlns:p14="http://schemas.microsoft.com/office/powerpoint/2010/main" val="2073201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734F1D-9D7E-425C-AC1F-C222835DA4E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9CE0A9EA-957E-4F76-9110-F82EA7CCA7B6}"/>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Интегрируемость компонента</a:t>
            </a:r>
            <a:endParaRPr sz="2300"/>
          </a:p>
        </p:txBody>
      </p:sp>
      <p:sp>
        <p:nvSpPr>
          <p:cNvPr id="4" name="Text 2">
            <a:extLst xmlns:a="http://schemas.openxmlformats.org/drawingml/2006/main">
              <a:ext uri="{FF2B5EF4-FFF2-40B4-BE49-F238E27FC236}">
                <a16:creationId xmlns:a16="http://schemas.microsoft.com/office/drawing/2014/main" id="{CBF2E28B-27AB-475F-9429-303C794AA1CF}"/>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Понятный вход: формат данных, ограничения, пример</a:t>
            </a:r>
            <a:endParaRPr sz="1800"/>
          </a:p>
          <a:p xmlns:a="http://schemas.openxmlformats.org/drawingml/2006/main">
            <a:pPr marL="0" indent="0">
              <a:buNone/>
            </a:pPr>
            <a:r>
              <a:rPr sz="1800">
                <a:solidFill>
                  <a:srgbClr val="111827"/>
                </a:solidFill>
                <a:latin typeface="Arial"/>
                <a:ea typeface="Arial"/>
                <a:cs typeface="Arial"/>
              </a:rPr>
              <a:t>• Понятный выход: формат результата, ошибки, ожидаемое поведение</a:t>
            </a:r>
            <a:endParaRPr sz="1800"/>
          </a:p>
          <a:p xmlns:a="http://schemas.openxmlformats.org/drawingml/2006/main">
            <a:pPr marL="0" indent="0">
              <a:buNone/>
            </a:pPr>
            <a:r>
              <a:rPr sz="1800">
                <a:solidFill>
                  <a:srgbClr val="111827"/>
                </a:solidFill>
                <a:latin typeface="Arial"/>
                <a:ea typeface="Arial"/>
                <a:cs typeface="Arial"/>
              </a:rPr>
              <a:t>• Минимальная независимость от локальной машины автора</a:t>
            </a:r>
            <a:endParaRPr sz="1800"/>
          </a:p>
        </p:txBody>
      </p:sp>
      <p:sp>
        <p:nvSpPr>
          <p:cNvPr id="5" name="Text 3">
            <a:extLst xmlns:a="http://schemas.openxmlformats.org/drawingml/2006/main">
              <a:ext uri="{FF2B5EF4-FFF2-40B4-BE49-F238E27FC236}">
                <a16:creationId xmlns:a16="http://schemas.microsoft.com/office/drawing/2014/main" id="{A8EFD1C5-E0AE-4F10-9381-C519F1BFE9F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Интегрируемый компонент можно вызвать из другого кода без угадывания внутренних деталей.</a:t>
            </a:r>
            <a:endParaRPr sz="1450"/>
          </a:p>
        </p:txBody>
      </p:sp>
      <p:sp>
        <p:nvSpPr>
          <p:cNvPr id="6" name="Text 4">
            <a:extLst xmlns:a="http://schemas.openxmlformats.org/drawingml/2006/main">
              <a:ext uri="{FF2B5EF4-FFF2-40B4-BE49-F238E27FC236}">
                <a16:creationId xmlns:a16="http://schemas.microsoft.com/office/drawing/2014/main" id="{A3D1E7DD-1727-426B-8E83-ED98FC438C2B}"/>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Поддерживаемость проекта</a:t>
            </a:r>
            <a:endParaRPr sz="1200"/>
          </a:p>
        </p:txBody>
      </p:sp>
      <p:sp>
        <p:nvSpPr>
          <p:cNvPr id="7" name="Shape 5">
            <a:extLst xmlns:a="http://schemas.openxmlformats.org/drawingml/2006/main">
              <a:ext uri="{FF2B5EF4-FFF2-40B4-BE49-F238E27FC236}">
                <a16:creationId xmlns:a16="http://schemas.microsoft.com/office/drawing/2014/main" id="{100F548B-09F1-4514-86CA-BA08FB904C0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2C620BCE-0E6B-40DB-A1A5-85BDB7FCF399}"/>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D8106DBB-A3E9-4EE2-B180-FEC94D9D720B}"/>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16</a:t>
            </a:r>
            <a:endParaRPr sz="850"/>
          </a:p>
        </p:txBody>
      </p:sp>
    </p:spTree>
    <p:extLst>
      <p:ext uri="{BB962C8B-B14F-4D97-AF65-F5344CB8AC3E}">
        <p14:creationId xmlns:p14="http://schemas.microsoft.com/office/powerpoint/2010/main" val="6418557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3ACD92-E1E0-40C9-A48B-A0307AB6130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1F9CE9ED-DE82-40AC-92E1-521D305F19CF}"/>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Поддерживаемость проекта</a:t>
            </a:r>
            <a:endParaRPr sz="2300"/>
          </a:p>
        </p:txBody>
      </p:sp>
      <p:sp>
        <p:nvSpPr>
          <p:cNvPr id="4" name="Text 2">
            <a:extLst xmlns:a="http://schemas.openxmlformats.org/drawingml/2006/main">
              <a:ext uri="{FF2B5EF4-FFF2-40B4-BE49-F238E27FC236}">
                <a16:creationId xmlns:a16="http://schemas.microsoft.com/office/drawing/2014/main" id="{38628C5D-3671-45BA-88F6-AED8358AB1B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Код и структура понятны через месяц после сдачи</a:t>
            </a:r>
            <a:endParaRPr sz="1800"/>
          </a:p>
          <a:p xmlns:a="http://schemas.openxmlformats.org/drawingml/2006/main">
            <a:pPr marL="0" indent="0">
              <a:buNone/>
            </a:pPr>
            <a:r>
              <a:rPr sz="1800">
                <a:solidFill>
                  <a:srgbClr val="111827"/>
                </a:solidFill>
                <a:latin typeface="Arial"/>
                <a:ea typeface="Arial"/>
                <a:cs typeface="Arial"/>
              </a:rPr>
              <a:t>• Изменения можно связать с задачами и дефектами</a:t>
            </a:r>
            <a:endParaRPr sz="1800"/>
          </a:p>
          <a:p xmlns:a="http://schemas.openxmlformats.org/drawingml/2006/main">
            <a:pPr marL="0" indent="0">
              <a:buNone/>
            </a:pPr>
            <a:r>
              <a:rPr sz="1800">
                <a:solidFill>
                  <a:srgbClr val="111827"/>
                </a:solidFill>
                <a:latin typeface="Arial"/>
                <a:ea typeface="Arial"/>
                <a:cs typeface="Arial"/>
              </a:rPr>
              <a:t>• Документация объясняет назначение файлов и команд</a:t>
            </a:r>
            <a:endParaRPr sz="1800"/>
          </a:p>
        </p:txBody>
      </p:sp>
      <p:sp>
        <p:nvSpPr>
          <p:cNvPr id="5" name="Text 3">
            <a:extLst xmlns:a="http://schemas.openxmlformats.org/drawingml/2006/main">
              <a:ext uri="{FF2B5EF4-FFF2-40B4-BE49-F238E27FC236}">
                <a16:creationId xmlns:a16="http://schemas.microsoft.com/office/drawing/2014/main" id="{2B3ACFB4-A160-4EA1-AC28-50288139D6A6}"/>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Проект должен пережить момент первого успешного запуска.</a:t>
            </a:r>
            <a:endParaRPr sz="1450"/>
          </a:p>
        </p:txBody>
      </p:sp>
      <p:sp>
        <p:nvSpPr>
          <p:cNvPr id="6" name="Text 4">
            <a:extLst xmlns:a="http://schemas.openxmlformats.org/drawingml/2006/main">
              <a:ext uri="{FF2B5EF4-FFF2-40B4-BE49-F238E27FC236}">
                <a16:creationId xmlns:a16="http://schemas.microsoft.com/office/drawing/2014/main" id="{472AC617-CE58-4FB2-B735-41F959EACF50}"/>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Мини-кейс лекции</a:t>
            </a:r>
            <a:endParaRPr sz="1200"/>
          </a:p>
        </p:txBody>
      </p:sp>
      <p:sp>
        <p:nvSpPr>
          <p:cNvPr id="7" name="Shape 5">
            <a:extLst xmlns:a="http://schemas.openxmlformats.org/drawingml/2006/main">
              <a:ext uri="{FF2B5EF4-FFF2-40B4-BE49-F238E27FC236}">
                <a16:creationId xmlns:a16="http://schemas.microsoft.com/office/drawing/2014/main" id="{FC08D582-61CC-4CE7-A5D7-898A9687675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C854BF55-E747-4BD8-9D5E-18BD311A74F6}"/>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CB996ED7-C571-490A-B2D7-E30664613305}"/>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17</a:t>
            </a:r>
            <a:endParaRPr sz="850"/>
          </a:p>
        </p:txBody>
      </p:sp>
    </p:spTree>
    <p:extLst>
      <p:ext uri="{BB962C8B-B14F-4D97-AF65-F5344CB8AC3E}">
        <p14:creationId xmlns:p14="http://schemas.microsoft.com/office/powerpoint/2010/main" val="20901016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AD0B23-A1F4-4395-9A9C-00DCC0C6C6E2}"/>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6D28D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ИНЖЕНЕРНАЯ ПРОБЛЕМА</a:t>
            </a:r>
            <a:endParaRPr sz="850"/>
          </a:p>
        </p:txBody>
      </p:sp>
      <p:sp>
        <p:nvSpPr>
          <p:cNvPr id="3" name="Text 1">
            <a:extLst xmlns:a="http://schemas.openxmlformats.org/drawingml/2006/main">
              <a:ext uri="{FF2B5EF4-FFF2-40B4-BE49-F238E27FC236}">
                <a16:creationId xmlns:a16="http://schemas.microsoft.com/office/drawing/2014/main" id="{B99ED410-8F33-45A7-93BB-B562E44EE29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Мини-кейс лекции</a:t>
            </a:r>
            <a:endParaRPr sz="2300"/>
          </a:p>
        </p:txBody>
      </p:sp>
      <p:sp>
        <p:nvSpPr>
          <p:cNvPr id="4" name="Text 2">
            <a:extLst xmlns:a="http://schemas.openxmlformats.org/drawingml/2006/main">
              <a:ext uri="{FF2B5EF4-FFF2-40B4-BE49-F238E27FC236}">
                <a16:creationId xmlns:a16="http://schemas.microsoft.com/office/drawing/2014/main" id="{91174A20-36F4-4294-8C27-89DA23D92183}"/>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Есть скрипт, который обучает классификатор на маленьком датасете</a:t>
            </a:r>
            <a:endParaRPr sz="1800"/>
          </a:p>
          <a:p xmlns:a="http://schemas.openxmlformats.org/drawingml/2006/main">
            <a:pPr marL="0" indent="0">
              <a:buNone/>
            </a:pPr>
            <a:r>
              <a:rPr sz="1800">
                <a:solidFill>
                  <a:srgbClr val="111827"/>
                </a:solidFill>
                <a:latin typeface="Arial"/>
                <a:ea typeface="Arial"/>
                <a:cs typeface="Arial"/>
              </a:rPr>
              <a:t>• Нужно получить репозиторий с train.py, predict.py, model.pkl и тестом</a:t>
            </a:r>
            <a:endParaRPr sz="1800"/>
          </a:p>
          <a:p xmlns:a="http://schemas.openxmlformats.org/drawingml/2006/main">
            <a:pPr marL="0" indent="0">
              <a:buNone/>
            </a:pPr>
            <a:r>
              <a:rPr sz="1800">
                <a:solidFill>
                  <a:srgbClr val="111827"/>
                </a:solidFill>
                <a:latin typeface="Arial"/>
                <a:ea typeface="Arial"/>
                <a:cs typeface="Arial"/>
              </a:rPr>
              <a:t>• Критерий успеха: другой человек повторяет запуск по README</a:t>
            </a:r>
            <a:endParaRPr sz="1800"/>
          </a:p>
        </p:txBody>
      </p:sp>
      <p:sp>
        <p:nvSpPr>
          <p:cNvPr id="5" name="Text 3">
            <a:extLst xmlns:a="http://schemas.openxmlformats.org/drawingml/2006/main">
              <a:ext uri="{FF2B5EF4-FFF2-40B4-BE49-F238E27FC236}">
                <a16:creationId xmlns:a16="http://schemas.microsoft.com/office/drawing/2014/main" id="{2A424CA6-D11A-43B6-AB37-85626A8140D6}"/>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Этот кейс станет основой первой практики.</a:t>
            </a:r>
            <a:endParaRPr sz="1450"/>
          </a:p>
        </p:txBody>
      </p:sp>
      <p:sp>
        <p:nvSpPr>
          <p:cNvPr id="6" name="Text 4">
            <a:extLst xmlns:a="http://schemas.openxmlformats.org/drawingml/2006/main">
              <a:ext uri="{FF2B5EF4-FFF2-40B4-BE49-F238E27FC236}">
                <a16:creationId xmlns:a16="http://schemas.microsoft.com/office/drawing/2014/main" id="{DE5FEC76-5BD4-4633-A6EF-C5FF3B471DE1}"/>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Программный проект как единица работы</a:t>
            </a:r>
            <a:endParaRPr sz="1200"/>
          </a:p>
        </p:txBody>
      </p:sp>
      <p:sp>
        <p:nvSpPr>
          <p:cNvPr id="7" name="Shape 5">
            <a:extLst xmlns:a="http://schemas.openxmlformats.org/drawingml/2006/main">
              <a:ext uri="{FF2B5EF4-FFF2-40B4-BE49-F238E27FC236}">
                <a16:creationId xmlns:a16="http://schemas.microsoft.com/office/drawing/2014/main" id="{4853E555-7B87-419C-A174-A8FE8D495F2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D11ED8E0-A384-4548-A753-C42C593325C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DF2CC079-6226-4DF0-9DA7-A9D52DE36CA3}"/>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18</a:t>
            </a:r>
            <a:endParaRPr sz="850"/>
          </a:p>
        </p:txBody>
      </p:sp>
    </p:spTree>
    <p:extLst>
      <p:ext uri="{BB962C8B-B14F-4D97-AF65-F5344CB8AC3E}">
        <p14:creationId xmlns:p14="http://schemas.microsoft.com/office/powerpoint/2010/main" val="9025400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C49288-6CF4-4A16-BA8B-DA1830BC09A5}"/>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2F6B9845-BBBA-42C1-8229-72A646D3C21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Программный проект как единица работы</a:t>
            </a:r>
            <a:endParaRPr sz="2300"/>
          </a:p>
        </p:txBody>
      </p:sp>
      <p:sp>
        <p:nvSpPr>
          <p:cNvPr id="4" name="Text 2">
            <a:extLst xmlns:a="http://schemas.openxmlformats.org/drawingml/2006/main">
              <a:ext uri="{FF2B5EF4-FFF2-40B4-BE49-F238E27FC236}">
                <a16:creationId xmlns:a16="http://schemas.microsoft.com/office/drawing/2014/main" id="{6DFE0475-5D6D-413A-B11C-895C8A04810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Проект объединяет код, документацию, зависимости, конфигурацию и историю изменений</a:t>
            </a:r>
            <a:endParaRPr sz="1800"/>
          </a:p>
          <a:p xmlns:a="http://schemas.openxmlformats.org/drawingml/2006/main">
            <a:pPr marL="0" indent="0">
              <a:buNone/>
            </a:pPr>
            <a:r>
              <a:rPr sz="1800">
                <a:solidFill>
                  <a:srgbClr val="111827"/>
                </a:solidFill>
                <a:latin typeface="Arial"/>
                <a:ea typeface="Arial"/>
                <a:cs typeface="Arial"/>
              </a:rPr>
              <a:t>• Репозиторий фиксирует не только результат, но и процесс разработки</a:t>
            </a:r>
            <a:endParaRPr sz="1800"/>
          </a:p>
          <a:p xmlns:a="http://schemas.openxmlformats.org/drawingml/2006/main">
            <a:pPr marL="0" indent="0">
              <a:buNone/>
            </a:pPr>
            <a:r>
              <a:rPr sz="1800">
                <a:solidFill>
                  <a:srgbClr val="111827"/>
                </a:solidFill>
                <a:latin typeface="Arial"/>
                <a:ea typeface="Arial"/>
                <a:cs typeface="Arial"/>
              </a:rPr>
              <a:t>• Структура проекта должна помогать интеграции, а не только хранить файлы</a:t>
            </a:r>
            <a:endParaRPr sz="1800"/>
          </a:p>
        </p:txBody>
      </p:sp>
      <p:sp>
        <p:nvSpPr>
          <p:cNvPr id="5" name="Text 3">
            <a:extLst xmlns:a="http://schemas.openxmlformats.org/drawingml/2006/main">
              <a:ext uri="{FF2B5EF4-FFF2-40B4-BE49-F238E27FC236}">
                <a16:creationId xmlns:a16="http://schemas.microsoft.com/office/drawing/2014/main" id="{45892FD8-BDC9-4573-8AF0-CBDBF8FBE53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Файл с кодом — еще не проект.</a:t>
            </a:r>
            <a:endParaRPr sz="1450"/>
          </a:p>
        </p:txBody>
      </p:sp>
      <p:sp>
        <p:nvSpPr>
          <p:cNvPr id="6" name="Text 4">
            <a:extLst xmlns:a="http://schemas.openxmlformats.org/drawingml/2006/main">
              <a:ext uri="{FF2B5EF4-FFF2-40B4-BE49-F238E27FC236}">
                <a16:creationId xmlns:a16="http://schemas.microsoft.com/office/drawing/2014/main" id="{17919A6D-5CB6-4938-BB97-3880585C8EFB}"/>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Минимальная структура ML-проекта</a:t>
            </a:r>
            <a:endParaRPr sz="1200"/>
          </a:p>
        </p:txBody>
      </p:sp>
      <p:sp>
        <p:nvSpPr>
          <p:cNvPr id="7" name="Shape 5">
            <a:extLst xmlns:a="http://schemas.openxmlformats.org/drawingml/2006/main">
              <a:ext uri="{FF2B5EF4-FFF2-40B4-BE49-F238E27FC236}">
                <a16:creationId xmlns:a16="http://schemas.microsoft.com/office/drawing/2014/main" id="{2F7FDC73-2679-44D7-B425-D38D6ABCEF1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E081D2F-C5A2-42A6-8B38-EE1F5066098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3EC8B2E3-4C69-40B8-B0B6-09B36363260A}"/>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19</a:t>
            </a:r>
            <a:endParaRPr sz="850"/>
          </a:p>
        </p:txBody>
      </p:sp>
    </p:spTree>
    <p:extLst>
      <p:ext uri="{BB962C8B-B14F-4D97-AF65-F5344CB8AC3E}">
        <p14:creationId xmlns:p14="http://schemas.microsoft.com/office/powerpoint/2010/main" val="76589182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31BAC0-F1F3-4611-938C-BFC8F4C954F5}"/>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B7833978-5AE2-4C4F-86E9-CF4426A4AC14}"/>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Минимальная структура ML-проекта</a:t>
            </a:r>
            <a:endParaRPr sz="2300"/>
          </a:p>
        </p:txBody>
      </p:sp>
      <p:sp>
        <p:nvSpPr>
          <p:cNvPr id="4" name="Text 2">
            <a:extLst xmlns:a="http://schemas.openxmlformats.org/drawingml/2006/main">
              <a:ext uri="{FF2B5EF4-FFF2-40B4-BE49-F238E27FC236}">
                <a16:creationId xmlns:a16="http://schemas.microsoft.com/office/drawing/2014/main" id="{A3FC2046-E339-4F06-9249-42A22F039374}"/>
              </a:ext>
            </a:extLst>
          </p:cNvPr>
          <p:cNvSpPr>
            <a:spLocks xmlns:a="http://schemas.openxmlformats.org/drawingml/2006/main" noGrp="1"/>
          </p:cNvSpPr>
          <p:nvPr/>
        </p:nvSpPr>
        <p:spPr>
          <a:xfrm xmlns:a="http://schemas.openxmlformats.org/drawingml/2006/main">
            <a:off x="685800" y="1143000"/>
            <a:ext cx="6766560" cy="20574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README.md, .gitignore, requirements.txt</a:t>
            </a:r>
            <a:endParaRPr sz="1800"/>
          </a:p>
          <a:p xmlns:a="http://schemas.openxmlformats.org/drawingml/2006/main">
            <a:pPr marL="0" indent="0">
              <a:buNone/>
            </a:pPr>
            <a:r>
              <a:rPr sz="1800">
                <a:solidFill>
                  <a:srgbClr val="111827"/>
                </a:solidFill>
                <a:latin typeface="Arial"/>
                <a:ea typeface="Arial"/>
                <a:cs typeface="Arial"/>
              </a:rPr>
              <a:t>• notebooks/source_experiment.ipynb — очищенный исходник</a:t>
            </a:r>
            <a:endParaRPr sz="1800"/>
          </a:p>
          <a:p xmlns:a="http://schemas.openxmlformats.org/drawingml/2006/main">
            <a:pPr marL="0" indent="0">
              <a:buNone/>
            </a:pPr>
            <a:r>
              <a:rPr sz="1800">
                <a:solidFill>
                  <a:srgbClr val="111827"/>
                </a:solidFill>
                <a:latin typeface="Arial"/>
                <a:ea typeface="Arial"/>
                <a:cs typeface="Arial"/>
              </a:rPr>
              <a:t>• src/train.py, src/predict.py, models/, data_sample/, tests/</a:t>
            </a:r>
            <a:endParaRPr sz="1800"/>
          </a:p>
        </p:txBody>
      </p:sp>
      <p:sp>
        <p:nvSpPr>
          <p:cNvPr id="5" name="Text 3">
            <a:extLst xmlns:a="http://schemas.openxmlformats.org/drawingml/2006/main">
              <a:ext uri="{FF2B5EF4-FFF2-40B4-BE49-F238E27FC236}">
                <a16:creationId xmlns:a16="http://schemas.microsoft.com/office/drawing/2014/main" id="{EFB482C5-9BDA-4675-963A-966B11D443B7}"/>
              </a:ext>
            </a:extLst>
          </p:cNvPr>
          <p:cNvSpPr>
            <a:spLocks xmlns:a="http://schemas.openxmlformats.org/drawingml/2006/main" noGrp="1"/>
          </p:cNvSpPr>
          <p:nvPr/>
        </p:nvSpPr>
        <p:spPr>
          <a:xfrm xmlns:a="http://schemas.openxmlformats.org/drawingml/2006/main">
            <a:off x="7726680" y="1143000"/>
            <a:ext cx="352044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350">
                <a:solidFill>
                  <a:srgbClr val="111827"/>
                </a:solidFill>
                <a:latin typeface="Arial"/>
                <a:ea typeface="Arial"/>
                <a:cs typeface="Arial"/>
              </a:rPr>
              <a:t>Ключевой акцент</a:t>
            </a:r>
            <a:endParaRPr sz="1350"/>
          </a:p>
          <a:p xmlns:a="http://schemas.openxmlformats.org/drawingml/2006/main">
            <a:pPr marL="0" indent="0">
              <a:buNone/>
            </a:pPr>
            <a:r>
              <a:rPr sz="1350">
                <a:solidFill>
                  <a:srgbClr val="111827"/>
                </a:solidFill>
                <a:latin typeface="Arial"/>
                <a:ea typeface="Arial"/>
                <a:cs typeface="Arial"/>
              </a:rPr>
              <a:t>Notebook хранит контекст исследования, но исполняемый проект живет в src.</a:t>
            </a:r>
            <a:endParaRPr sz="1350"/>
          </a:p>
        </p:txBody>
      </p:sp>
      <p:sp>
        <p:nvSpPr>
          <p:cNvPr id="6" name="Text 4">
            <a:extLst xmlns:a="http://schemas.openxmlformats.org/drawingml/2006/main">
              <a:ext uri="{FF2B5EF4-FFF2-40B4-BE49-F238E27FC236}">
                <a16:creationId xmlns:a16="http://schemas.microsoft.com/office/drawing/2014/main" id="{B490D849-39F1-4808-8769-C70C507BC4F3}"/>
              </a:ext>
            </a:extLst>
          </p:cNvPr>
          <p:cNvSpPr>
            <a:spLocks xmlns:a="http://schemas.openxmlformats.org/drawingml/2006/main" noGrp="1"/>
          </p:cNvSpPr>
          <p:nvPr/>
        </p:nvSpPr>
        <p:spPr>
          <a:xfrm xmlns:a="http://schemas.openxmlformats.org/drawingml/2006/main">
            <a:off x="685800" y="3520440"/>
            <a:ext cx="10561320" cy="237744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905" tIns="1905" rIns="1905" bIns="1905" anchor="ctr">
            <a:normAutofit/>
          </a:bodyPr>
          <a:lstStyle xmlns:a="http://schemas.openxmlformats.org/drawingml/2006/main"/>
          <a:p xmlns:a="http://schemas.openxmlformats.org/drawingml/2006/main">
            <a:pPr marL="0" indent="0">
              <a:buNone/>
            </a:pPr>
            <a:r>
              <a:rPr sz="1300">
                <a:solidFill>
                  <a:srgbClr val="111827"/>
                </a:solidFill>
                <a:latin typeface="Courier New"/>
                <a:ea typeface="Courier New"/>
                <a:cs typeface="Courier New"/>
              </a:rPr>
              <a:t>ml-integration-lab1/</a:t>
            </a:r>
            <a:endParaRPr sz="1300"/>
          </a:p>
          <a:p xmlns:a="http://schemas.openxmlformats.org/drawingml/2006/main">
            <a:pPr marL="0" indent="0">
              <a:buNone/>
            </a:pPr>
            <a:r>
              <a:rPr sz="1300">
                <a:solidFill>
                  <a:srgbClr val="111827"/>
                </a:solidFill>
                <a:latin typeface="Courier New"/>
                <a:ea typeface="Courier New"/>
                <a:cs typeface="Courier New"/>
              </a:rPr>
              <a:t>+-- README.md / .gitignore</a:t>
            </a:r>
            <a:endParaRPr sz="1300"/>
          </a:p>
          <a:p xmlns:a="http://schemas.openxmlformats.org/drawingml/2006/main">
            <a:pPr marL="0" indent="0">
              <a:buNone/>
            </a:pPr>
            <a:r>
              <a:rPr sz="1300">
                <a:solidFill>
                  <a:srgbClr val="111827"/>
                </a:solidFill>
                <a:latin typeface="Courier New"/>
                <a:ea typeface="Courier New"/>
                <a:cs typeface="Courier New"/>
              </a:rPr>
              <a:t>+-- notebooks/source_experiment.ipynb</a:t>
            </a:r>
            <a:endParaRPr sz="1300"/>
          </a:p>
          <a:p xmlns:a="http://schemas.openxmlformats.org/drawingml/2006/main">
            <a:pPr marL="0" indent="0">
              <a:buNone/>
            </a:pPr>
            <a:r>
              <a:rPr sz="1300">
                <a:solidFill>
                  <a:srgbClr val="111827"/>
                </a:solidFill>
                <a:latin typeface="Courier New"/>
                <a:ea typeface="Courier New"/>
                <a:cs typeface="Courier New"/>
              </a:rPr>
              <a:t>+-- requirements.txt</a:t>
            </a:r>
            <a:endParaRPr sz="1300"/>
          </a:p>
          <a:p xmlns:a="http://schemas.openxmlformats.org/drawingml/2006/main">
            <a:pPr marL="0" indent="0">
              <a:buNone/>
            </a:pPr>
            <a:r>
              <a:rPr sz="1300">
                <a:solidFill>
                  <a:srgbClr val="111827"/>
                </a:solidFill>
                <a:latin typeface="Courier New"/>
                <a:ea typeface="Courier New"/>
                <a:cs typeface="Courier New"/>
              </a:rPr>
              <a:t>+-- data_sample/sample.csv</a:t>
            </a:r>
            <a:endParaRPr sz="1300"/>
          </a:p>
          <a:p xmlns:a="http://schemas.openxmlformats.org/drawingml/2006/main">
            <a:pPr marL="0" indent="0">
              <a:buNone/>
            </a:pPr>
            <a:r>
              <a:rPr sz="1300">
                <a:solidFill>
                  <a:srgbClr val="111827"/>
                </a:solidFill>
                <a:latin typeface="Courier New"/>
                <a:ea typeface="Courier New"/>
                <a:cs typeface="Courier New"/>
              </a:rPr>
              <a:t>+-- models/model.pkl</a:t>
            </a:r>
            <a:endParaRPr sz="1300"/>
          </a:p>
          <a:p xmlns:a="http://schemas.openxmlformats.org/drawingml/2006/main">
            <a:pPr marL="0" indent="0">
              <a:buNone/>
            </a:pPr>
            <a:r>
              <a:rPr sz="1300">
                <a:solidFill>
                  <a:srgbClr val="111827"/>
                </a:solidFill>
                <a:latin typeface="Courier New"/>
                <a:ea typeface="Courier New"/>
                <a:cs typeface="Courier New"/>
              </a:rPr>
              <a:t>+-- src/train.py</a:t>
            </a:r>
            <a:endParaRPr sz="1300"/>
          </a:p>
          <a:p xmlns:a="http://schemas.openxmlformats.org/drawingml/2006/main">
            <a:pPr marL="0" indent="0">
              <a:buNone/>
            </a:pPr>
            <a:r>
              <a:rPr sz="1300">
                <a:solidFill>
                  <a:srgbClr val="111827"/>
                </a:solidFill>
                <a:latin typeface="Courier New"/>
                <a:ea typeface="Courier New"/>
                <a:cs typeface="Courier New"/>
              </a:rPr>
              <a:t>+-- src/predict.py</a:t>
            </a:r>
            <a:endParaRPr sz="1300"/>
          </a:p>
          <a:p xmlns:a="http://schemas.openxmlformats.org/drawingml/2006/main">
            <a:pPr marL="0" indent="0">
              <a:buNone/>
            </a:pPr>
            <a:r>
              <a:rPr sz="1300">
                <a:solidFill>
                  <a:srgbClr val="111827"/>
                </a:solidFill>
                <a:latin typeface="Courier New"/>
                <a:ea typeface="Courier New"/>
                <a:cs typeface="Courier New"/>
              </a:rPr>
              <a:t>+-- tests/test_predict.py</a:t>
            </a:r>
            <a:endParaRPr sz="1300"/>
          </a:p>
        </p:txBody>
      </p:sp>
      <p:sp>
        <p:nvSpPr>
          <p:cNvPr id="7" name="Shape 5">
            <a:extLst xmlns:a="http://schemas.openxmlformats.org/drawingml/2006/main">
              <a:ext uri="{FF2B5EF4-FFF2-40B4-BE49-F238E27FC236}">
                <a16:creationId xmlns:a16="http://schemas.microsoft.com/office/drawing/2014/main" id="{36B9F851-BDAF-425E-B84D-4BB103150FE4}"/>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BA531DDB-9F48-4279-80D4-F8AD0F0E2E02}"/>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F1FCE490-82B4-482C-85CC-E362FADE0C3A}"/>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20</a:t>
            </a:r>
            <a:endParaRPr sz="850"/>
          </a:p>
        </p:txBody>
      </p:sp>
    </p:spTree>
    <p:extLst>
      <p:ext uri="{BB962C8B-B14F-4D97-AF65-F5344CB8AC3E}">
        <p14:creationId xmlns:p14="http://schemas.microsoft.com/office/powerpoint/2010/main" val="199400034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E1B24E-494D-4CBE-A5B6-D9D5B85FE0E5}"/>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DD8C505C-4314-4055-B589-837E3C3FA89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Роли каталогов и файлов</a:t>
            </a:r>
            <a:endParaRPr sz="2300"/>
          </a:p>
        </p:txBody>
      </p:sp>
      <p:sp>
        <p:nvSpPr>
          <p:cNvPr id="4" name="Text 2">
            <a:extLst xmlns:a="http://schemas.openxmlformats.org/drawingml/2006/main">
              <a:ext uri="{FF2B5EF4-FFF2-40B4-BE49-F238E27FC236}">
                <a16:creationId xmlns:a16="http://schemas.microsoft.com/office/drawing/2014/main" id="{30CA3631-17FF-4FED-B964-24E60658E6C3}"/>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src: код, который должен выполняться и изменяться</a:t>
            </a:r>
            <a:endParaRPr sz="1800"/>
          </a:p>
          <a:p xmlns:a="http://schemas.openxmlformats.org/drawingml/2006/main">
            <a:pPr marL="0" indent="0">
              <a:buNone/>
            </a:pPr>
            <a:r>
              <a:rPr sz="1800">
                <a:solidFill>
                  <a:srgbClr val="111827"/>
                </a:solidFill>
                <a:latin typeface="Arial"/>
                <a:ea typeface="Arial"/>
                <a:cs typeface="Arial"/>
              </a:rPr>
              <a:t>• tests: автоматические или полуавтоматические проверки</a:t>
            </a:r>
            <a:endParaRPr sz="1800"/>
          </a:p>
          <a:p xmlns:a="http://schemas.openxmlformats.org/drawingml/2006/main">
            <a:pPr marL="0" indent="0">
              <a:buNone/>
            </a:pPr>
            <a:r>
              <a:rPr sz="1800">
                <a:solidFill>
                  <a:srgbClr val="111827"/>
                </a:solidFill>
                <a:latin typeface="Arial"/>
                <a:ea typeface="Arial"/>
                <a:cs typeface="Arial"/>
              </a:rPr>
              <a:t>• models и data_sample: учебные артефакты и минимальные входные данные</a:t>
            </a:r>
            <a:endParaRPr sz="1800"/>
          </a:p>
        </p:txBody>
      </p:sp>
      <p:sp>
        <p:nvSpPr>
          <p:cNvPr id="5" name="Text 3">
            <a:extLst xmlns:a="http://schemas.openxmlformats.org/drawingml/2006/main">
              <a:ext uri="{FF2B5EF4-FFF2-40B4-BE49-F238E27FC236}">
                <a16:creationId xmlns:a16="http://schemas.microsoft.com/office/drawing/2014/main" id="{A23744BA-B8A1-403F-8AC3-5EFD35CBDB5F}"/>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Каждый каталог отвечает на вопрос: зачем этот файл нужен другому разработчику?</a:t>
            </a:r>
            <a:endParaRPr sz="1450"/>
          </a:p>
        </p:txBody>
      </p:sp>
      <p:sp>
        <p:nvSpPr>
          <p:cNvPr id="6" name="Text 4">
            <a:extLst xmlns:a="http://schemas.openxmlformats.org/drawingml/2006/main">
              <a:ext uri="{FF2B5EF4-FFF2-40B4-BE49-F238E27FC236}">
                <a16:creationId xmlns:a16="http://schemas.microsoft.com/office/drawing/2014/main" id="{1FB4724C-A926-4144-B674-84869553BF88}"/>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README как интерфейс проекта</a:t>
            </a:r>
            <a:endParaRPr sz="1200"/>
          </a:p>
        </p:txBody>
      </p:sp>
      <p:sp>
        <p:nvSpPr>
          <p:cNvPr id="7" name="Shape 5">
            <a:extLst xmlns:a="http://schemas.openxmlformats.org/drawingml/2006/main">
              <a:ext uri="{FF2B5EF4-FFF2-40B4-BE49-F238E27FC236}">
                <a16:creationId xmlns:a16="http://schemas.microsoft.com/office/drawing/2014/main" id="{4F178C3F-CBA5-4230-81DF-EDE074BCCFE3}"/>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C4C62DF1-AE48-4222-9FE5-9F15583B3CBD}"/>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A927A196-1D72-4709-8B83-1A4108E4B55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21</a:t>
            </a:r>
            <a:endParaRPr sz="850"/>
          </a:p>
        </p:txBody>
      </p:sp>
    </p:spTree>
    <p:extLst>
      <p:ext uri="{BB962C8B-B14F-4D97-AF65-F5344CB8AC3E}">
        <p14:creationId xmlns:p14="http://schemas.microsoft.com/office/powerpoint/2010/main" val="1022304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65E665-1807-4C8B-B91D-F870116669DE}"/>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79E3B719-CC93-4C30-AD64-B1ED8EB17F2A}"/>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README как интерфейс проекта</a:t>
            </a:r>
            <a:endParaRPr sz="2300"/>
          </a:p>
        </p:txBody>
      </p:sp>
      <p:sp>
        <p:nvSpPr>
          <p:cNvPr id="4" name="Text 2">
            <a:extLst xmlns:a="http://schemas.openxmlformats.org/drawingml/2006/main">
              <a:ext uri="{FF2B5EF4-FFF2-40B4-BE49-F238E27FC236}">
                <a16:creationId xmlns:a16="http://schemas.microsoft.com/office/drawing/2014/main" id="{E6F2C84C-3B24-4641-862E-2B431D33EA12}"/>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a:r>
            <a:endParaRPr sz="1800"/>
          </a:p>
        </p:txBody>
      </p:sp>
      <p:sp>
        <p:nvSpPr>
          <p:cNvPr id="5" name="Text 3">
            <a:extLst xmlns:a="http://schemas.openxmlformats.org/drawingml/2006/main">
              <a:ext uri="{FF2B5EF4-FFF2-40B4-BE49-F238E27FC236}">
                <a16:creationId xmlns:a16="http://schemas.microsoft.com/office/drawing/2014/main" id="{B33629E2-A530-4335-9993-6B20FEEE4CFC}"/>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
            </a:r>
            <a:endParaRPr sz="1450"/>
          </a:p>
        </p:txBody>
      </p:sp>
      <p:sp>
        <p:nvSpPr>
          <p:cNvPr id="6" name="Text 4">
            <a:extLst xmlns:a="http://schemas.openxmlformats.org/drawingml/2006/main">
              <a:ext uri="{FF2B5EF4-FFF2-40B4-BE49-F238E27FC236}">
                <a16:creationId xmlns:a16="http://schemas.microsoft.com/office/drawing/2014/main" id="{6A854FCD-0476-4A99-AE5C-6CF302DBA2DE}"/>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.gitignore и чистота репозитория</a:t>
            </a:r>
            <a:endParaRPr sz="1200"/>
          </a:p>
        </p:txBody>
      </p:sp>
      <p:sp>
        <p:nvSpPr>
          <p:cNvPr id="7" name="Shape 5">
            <a:extLst xmlns:a="http://schemas.openxmlformats.org/drawingml/2006/main">
              <a:ext uri="{FF2B5EF4-FFF2-40B4-BE49-F238E27FC236}">
                <a16:creationId xmlns:a16="http://schemas.microsoft.com/office/drawing/2014/main" id="{D46F0635-382C-4729-BBF8-F41E9FA9CF51}"/>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5C3F2F71-166D-4CC6-9317-893EF9FFCDFE}"/>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1059E708-5982-4CAA-AA6F-387FE47E9EE3}"/>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22</a:t>
            </a:r>
            <a:endParaRPr sz="850"/>
          </a:p>
        </p:txBody>
      </p:sp>
      <p:sp>
        <p:nvSpPr>
          <p:cNvPr id="10" name="s23-structure-label">
            <a:extLst xmlns:a="http://schemas.openxmlformats.org/drawingml/2006/main">
              <a:ext uri="{FF2B5EF4-FFF2-40B4-BE49-F238E27FC236}">
                <a16:creationId xmlns:a16="http://schemas.microsoft.com/office/drawing/2014/main" id="{CC12430A-6538-4470-87D3-D62E6E6545DC}"/>
              </a:ext>
            </a:extLst>
          </p:cNvPr>
          <p:cNvSpPr>
            <a:spLocks xmlns:a="http://schemas.openxmlformats.org/drawingml/2006/main" noGrp="1"/>
          </p:cNvSpPr>
          <p:nvPr/>
        </p:nvSpPr>
        <p:spPr>
          <a:xfrm xmlns:a="http://schemas.openxmlformats.org/drawingml/2006/main">
            <a:off x="666750" y="1219200"/>
            <a:ext cx="4191000" cy="285750"/>
          </a:xfrm>
          <a:prstGeom xmlns:a="http://schemas.openxmlformats.org/drawingml/2006/main" prst="roundRect">
            <a:avLst>
              <a:gd name="adj" fmla="val 13333"/>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87F5B"/>
                </a:solidFill>
                <a:latin typeface="Aptos"/>
                <a:ea typeface="Aptos"/>
                <a:cs typeface="Aptos"/>
              </a:defRPr>
            </a:pPr>
            <a:r>
              <a:rPr sz="1350" b="1">
                <a:solidFill>
                  <a:srgbClr val="087F5B"/>
                </a:solidFill>
                <a:latin typeface="Aptos"/>
                <a:ea typeface="Aptos"/>
                <a:cs typeface="Aptos"/>
              </a:rPr>
              <a:t>Рекомендуемая структура для разработчика</a:t>
            </a:r>
          </a:p>
        </p:txBody>
      </p:sp>
      <p:sp>
        <p:nvSpPr>
          <p:cNvPr id="11" name="s23-structure">
            <a:extLst xmlns:a="http://schemas.openxmlformats.org/drawingml/2006/main">
              <a:ext uri="{FF2B5EF4-FFF2-40B4-BE49-F238E27FC236}">
                <a16:creationId xmlns:a16="http://schemas.microsoft.com/office/drawing/2014/main" id="{5503037C-E6B0-4EA3-A49F-23721B03267F}"/>
              </a:ext>
            </a:extLst>
          </p:cNvPr>
          <p:cNvSpPr>
            <a:spLocks xmlns:a="http://schemas.openxmlformats.org/drawingml/2006/main" noGrp="1"/>
          </p:cNvSpPr>
          <p:nvPr/>
        </p:nvSpPr>
        <p:spPr>
          <a:xfrm xmlns:a="http://schemas.openxmlformats.org/drawingml/2006/main">
            <a:off x="666750" y="1571625"/>
            <a:ext cx="4238625" cy="2838450"/>
          </a:xfrm>
          <a:prstGeom xmlns:a="http://schemas.openxmlformats.org/drawingml/2006/main" prst="roundRect">
            <a:avLst>
              <a:gd name="adj" fmla="val 1342"/>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190500" tIns="133350" rIns="171450" bIns="133350" anchor="ctr">
            <a:normAutofit fontScale="100000"/>
          </a:bodyPr>
          <a:lstStyle xmlns:a="http://schemas.openxmlformats.org/drawingml/2006/main"/>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1. Название и краткое назначение</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2. Требования к среде и версия Python</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3. Установка зависимостей</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4. Быстрый запуск</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5. Данные и конфигурация</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6. Обучение, инференс и тесты</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7. Структура репозитория</a:t>
            </a:r>
          </a:p>
          <a:p xmlns:a="http://schemas.openxmlformats.org/drawingml/2006/main">
            <a:pPr algn="l">
              <a:defRPr sz="1275" b="0">
                <a:solidFill>
                  <a:srgbClr val="151E2F"/>
                </a:solidFill>
                <a:latin typeface="Aptos"/>
                <a:ea typeface="Aptos"/>
                <a:cs typeface="Aptos"/>
              </a:defRPr>
            </a:pPr>
            <a:r>
              <a:rPr sz="1275" b="0">
                <a:solidFill>
                  <a:srgbClr val="151E2F"/>
                </a:solidFill>
                <a:latin typeface="Aptos"/>
                <a:ea typeface="Aptos"/>
                <a:cs typeface="Aptos"/>
              </a:rPr>
              <a:t>8. Ограничения, лицензия и контакты</a:t>
            </a:r>
          </a:p>
        </p:txBody>
      </p:sp>
      <p:sp>
        <p:nvSpPr>
          <p:cNvPr id="12" name="s23-example-label">
            <a:extLst xmlns:a="http://schemas.openxmlformats.org/drawingml/2006/main">
              <a:ext uri="{FF2B5EF4-FFF2-40B4-BE49-F238E27FC236}">
                <a16:creationId xmlns:a16="http://schemas.microsoft.com/office/drawing/2014/main" id="{1EE5D4E8-E414-45A9-B73C-85A238F73217}"/>
              </a:ext>
            </a:extLst>
          </p:cNvPr>
          <p:cNvSpPr>
            <a:spLocks xmlns:a="http://schemas.openxmlformats.org/drawingml/2006/main" noGrp="1"/>
          </p:cNvSpPr>
          <p:nvPr/>
        </p:nvSpPr>
        <p:spPr>
          <a:xfrm xmlns:a="http://schemas.openxmlformats.org/drawingml/2006/main">
            <a:off x="5476875" y="1219200"/>
            <a:ext cx="5953125" cy="285750"/>
          </a:xfrm>
          <a:prstGeom xmlns:a="http://schemas.openxmlformats.org/drawingml/2006/main" prst="roundRect">
            <a:avLst>
              <a:gd name="adj" fmla="val 13333"/>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F66E8"/>
                </a:solidFill>
                <a:latin typeface="Aptos"/>
                <a:ea typeface="Aptos"/>
                <a:cs typeface="Aptos"/>
              </a:defRPr>
            </a:pPr>
            <a:r>
              <a:rPr sz="1350" b="1">
                <a:solidFill>
                  <a:srgbClr val="2F66E8"/>
                </a:solidFill>
                <a:latin typeface="Aptos"/>
                <a:ea typeface="Aptos"/>
                <a:cs typeface="Aptos"/>
              </a:rPr>
              <a:t>Пример README.md</a:t>
            </a:r>
          </a:p>
        </p:txBody>
      </p:sp>
      <p:sp>
        <p:nvSpPr>
          <p:cNvPr id="13" name="s23-example">
            <a:extLst xmlns:a="http://schemas.openxmlformats.org/drawingml/2006/main">
              <a:ext uri="{FF2B5EF4-FFF2-40B4-BE49-F238E27FC236}">
                <a16:creationId xmlns:a16="http://schemas.microsoft.com/office/drawing/2014/main" id="{00ED1B2C-9F59-45B3-A7AD-62A091CBA668}"/>
              </a:ext>
            </a:extLst>
          </p:cNvPr>
          <p:cNvSpPr>
            <a:spLocks xmlns:a="http://schemas.openxmlformats.org/drawingml/2006/main" noGrp="1"/>
          </p:cNvSpPr>
          <p:nvPr/>
        </p:nvSpPr>
        <p:spPr>
          <a:xfrm xmlns:a="http://schemas.openxmlformats.org/drawingml/2006/main">
            <a:off x="5476875" y="1571625"/>
            <a:ext cx="5953125" cy="2838450"/>
          </a:xfrm>
          <a:prstGeom xmlns:a="http://schemas.openxmlformats.org/drawingml/2006/main" prst="roundRect">
            <a:avLst>
              <a:gd name="adj" fmla="val 1342"/>
            </a:avLst>
          </a:prstGeom>
          <a:solidFill xmlns:a="http://schemas.openxmlformats.org/drawingml/2006/main">
            <a:srgbClr val="F8FAFC"/>
          </a:solidFill>
          <a:ln xmlns:a="http://schemas.openxmlformats.org/drawingml/2006/main" w="12383">
            <a:solidFill>
              <a:srgbClr val="CBD5E1"/>
            </a:solidFill>
            <a:prstDash val="solid"/>
          </a:ln>
        </p:spPr>
        <p:txBody>
          <a:bodyPr xmlns:a="http://schemas.openxmlformats.org/drawingml/2006/main" wrap="square" lIns="152400" tIns="114300" rIns="152400" bIns="114300" anchor="t">
            <a:normAutofit fontScale="100000"/>
          </a:bodyPr>
          <a:lstStyle xmlns:a="http://schemas.openxmlformats.org/drawingml/2006/main"/>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 ml-project</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Краткое назначение и известные ограничения.</a:t>
            </a:r>
          </a:p>
          <a:p xmlns:a="http://schemas.openxmlformats.org/drawingml/2006/main">
            <a:r>
              <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 Установка</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```bash</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python -m venv .venv</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pip install -r requirements.txt</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a:t>
            </a:r>
          </a:p>
          <a:p xmlns:a="http://schemas.openxmlformats.org/drawingml/2006/main">
            <a:r>
              <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 Запуск и тесты</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```bash</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python -m src.predict --config config.yaml</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pytest</a:t>
            </a:r>
          </a:p>
          <a:p xmlns:a="http://schemas.openxmlformats.org/drawingml/2006/main">
            <a:pPr algn="l">
              <a:defRPr sz="1125" b="0">
                <a:solidFill>
                  <a:srgbClr val="151E2F"/>
                </a:solidFill>
                <a:latin typeface="Consolas"/>
                <a:ea typeface="Consolas"/>
                <a:cs typeface="Consolas"/>
              </a:defRPr>
            </a:pPr>
            <a:r>
              <a:rPr sz="1125" b="0">
                <a:solidFill>
                  <a:srgbClr val="151E2F"/>
                </a:solidFill>
                <a:latin typeface="Consolas"/>
                <a:ea typeface="Consolas"/>
                <a:cs typeface="Consolas"/>
              </a:rPr>
              <a:t>```</a:t>
            </a:r>
          </a:p>
        </p:txBody>
      </p:sp>
      <p:sp>
        <p:nvSpPr>
          <p:cNvPr id="14" name="s23-rules">
            <a:extLst xmlns:a="http://schemas.openxmlformats.org/drawingml/2006/main">
              <a:ext uri="{FF2B5EF4-FFF2-40B4-BE49-F238E27FC236}">
                <a16:creationId xmlns:a16="http://schemas.microsoft.com/office/drawing/2014/main" id="{F8257D54-C802-4CE2-8555-0B8801DE565D}"/>
              </a:ext>
            </a:extLst>
          </p:cNvPr>
          <p:cNvSpPr>
            <a:spLocks xmlns:a="http://schemas.openxmlformats.org/drawingml/2006/main" noGrp="1"/>
          </p:cNvSpPr>
          <p:nvPr/>
        </p:nvSpPr>
        <p:spPr>
          <a:xfrm xmlns:a="http://schemas.openxmlformats.org/drawingml/2006/main">
            <a:off x="1095375" y="4572000"/>
            <a:ext cx="10001250" cy="428625"/>
          </a:xfrm>
          <a:prstGeom xmlns:a="http://schemas.openxmlformats.org/drawingml/2006/main" prst="roundRect">
            <a:avLst>
              <a:gd name="adj" fmla="val 8889"/>
            </a:avLst>
          </a:prstGeom>
          <a:solidFill xmlns:a="http://schemas.openxmlformats.org/drawingml/2006/main">
            <a:srgbClr val="EAF0FF"/>
          </a:solidFill>
          <a:ln xmlns:a="http://schemas.openxmlformats.org/drawingml/2006/main" w="11430">
            <a:solidFill>
              <a:srgbClr val="2F66E8"/>
            </a:solidFill>
            <a:prstDash val="solid"/>
          </a:ln>
        </p:spPr>
        <p:txBody>
          <a:bodyPr xmlns:a="http://schemas.openxmlformats.org/drawingml/2006/main" wrap="square" lIns="133350" tIns="57150" rIns="133350" bIns="57150" anchor="ctr">
            <a:normAutofit fontScale="99797"/>
          </a:bodyPr>
          <a:lstStyle xmlns:a="http://schemas.openxmlformats.org/drawingml/2006/main"/>
          <a:p xmlns:a="http://schemas.openxmlformats.org/drawingml/2006/main">
            <a:pPr algn="ctr">
              <a:defRPr sz="1125" b="1">
                <a:solidFill>
                  <a:srgbClr val="151E2F"/>
                </a:solidFill>
                <a:latin typeface="Aptos"/>
                <a:ea typeface="Aptos"/>
                <a:cs typeface="Aptos"/>
              </a:defRPr>
            </a:pPr>
            <a:r>
              <a:rPr sz="1125" b="1">
                <a:solidFill>
                  <a:srgbClr val="151E2F"/>
                </a:solidFill>
                <a:latin typeface="Aptos"/>
                <a:ea typeface="Aptos"/>
                <a:cs typeface="Aptos"/>
              </a:rPr>
              <a:t>Один заголовок H1. Разделы H2. Команды оформляются блоками с языком. Ссылки используют относительные пути. README обновляется вместе с кодом.</a:t>
            </a:r>
          </a:p>
        </p:txBody>
      </p:sp>
    </p:spTree>
    <p:extLst>
      <p:ext uri="{BB962C8B-B14F-4D97-AF65-F5344CB8AC3E}">
        <p14:creationId xmlns:p14="http://schemas.microsoft.com/office/powerpoint/2010/main" val="27504171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0FA4E5-C3F8-4899-AB04-511F8D91610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0DE11E2F-7782-48DC-8726-B237DEED7C9B}"/>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.gitignore и чистота репозитория</a:t>
            </a:r>
            <a:endParaRPr sz="2300"/>
          </a:p>
        </p:txBody>
      </p:sp>
      <p:sp>
        <p:nvSpPr>
          <p:cNvPr id="4" name="Text 2">
            <a:extLst xmlns:a="http://schemas.openxmlformats.org/drawingml/2006/main">
              <a:ext uri="{FF2B5EF4-FFF2-40B4-BE49-F238E27FC236}">
                <a16:creationId xmlns:a16="http://schemas.microsoft.com/office/drawing/2014/main" id="{4AF5748B-4FDA-489F-BCEF-9642CD457F8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Исключаем виртуальные окружения, кэши, временные файлы IDE</a:t>
            </a:r>
            <a:endParaRPr sz="1800"/>
          </a:p>
          <a:p xmlns:a="http://schemas.openxmlformats.org/drawingml/2006/main">
            <a:pPr marL="0" indent="0">
              <a:buNone/>
            </a:pPr>
            <a:r>
              <a:rPr sz="1800">
                <a:solidFill>
                  <a:srgbClr val="111827"/>
                </a:solidFill>
                <a:latin typeface="Arial"/>
                <a:ea typeface="Arial"/>
                <a:cs typeface="Arial"/>
              </a:rPr>
              <a:t>• Не добавляем __pycache__, .pytest_cache и локальные служебные артефакты</a:t>
            </a:r>
            <a:endParaRPr sz="1800"/>
          </a:p>
          <a:p xmlns:a="http://schemas.openxmlformats.org/drawingml/2006/main">
            <a:pPr marL="0" indent="0">
              <a:buNone/>
            </a:pPr>
            <a:r>
              <a:rPr sz="1800">
                <a:solidFill>
                  <a:srgbClr val="111827"/>
                </a:solidFill>
                <a:latin typeface="Arial"/>
                <a:ea typeface="Arial"/>
                <a:cs typeface="Arial"/>
              </a:rPr>
              <a:t>• Сохраняем в Git только то, что нужно для воспроизводимого проекта</a:t>
            </a:r>
            <a:endParaRPr sz="1800"/>
          </a:p>
        </p:txBody>
      </p:sp>
      <p:sp>
        <p:nvSpPr>
          <p:cNvPr id="5" name="Text 3">
            <a:extLst xmlns:a="http://schemas.openxmlformats.org/drawingml/2006/main">
              <a:ext uri="{FF2B5EF4-FFF2-40B4-BE49-F238E27FC236}">
                <a16:creationId xmlns:a16="http://schemas.microsoft.com/office/drawing/2014/main" id="{8B1655F0-2E1C-4395-B678-69DB1410F0B8}"/>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Чистый репозиторий проще проверять, переносить и сопровождать.</a:t>
            </a:r>
            <a:endParaRPr sz="1450"/>
          </a:p>
        </p:txBody>
      </p:sp>
      <p:sp>
        <p:nvSpPr>
          <p:cNvPr id="6" name="Text 4">
            <a:extLst xmlns:a="http://schemas.openxmlformats.org/drawingml/2006/main">
              <a:ext uri="{FF2B5EF4-FFF2-40B4-BE49-F238E27FC236}">
                <a16:creationId xmlns:a16="http://schemas.microsoft.com/office/drawing/2014/main" id="{5D0FA77C-195E-42C6-94EA-A1BA9AADA83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Зависимости как контракт окружения</a:t>
            </a:r>
            <a:endParaRPr sz="1200"/>
          </a:p>
        </p:txBody>
      </p:sp>
      <p:sp>
        <p:nvSpPr>
          <p:cNvPr id="7" name="Shape 5">
            <a:extLst xmlns:a="http://schemas.openxmlformats.org/drawingml/2006/main">
              <a:ext uri="{FF2B5EF4-FFF2-40B4-BE49-F238E27FC236}">
                <a16:creationId xmlns:a16="http://schemas.microsoft.com/office/drawing/2014/main" id="{D832A897-A347-44B8-BCDF-05F0FEB4415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ED22BB9F-69D7-41DF-B0C8-E8E06A7C5BAB}"/>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0FAD6EA3-5D4D-41BE-B54C-244208A15D92}"/>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23</a:t>
            </a:r>
            <a:endParaRPr sz="850"/>
          </a:p>
        </p:txBody>
      </p:sp>
    </p:spTree>
    <p:extLst>
      <p:ext uri="{BB962C8B-B14F-4D97-AF65-F5344CB8AC3E}">
        <p14:creationId xmlns:p14="http://schemas.microsoft.com/office/powerpoint/2010/main" val="15963253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F52589-1920-4D10-8A30-F740AB921845}"/>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386EDA1A-DC74-47A0-94C0-DE5B2EFC16A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Зависимости как контракт окружения</a:t>
            </a:r>
            <a:endParaRPr sz="2300"/>
          </a:p>
        </p:txBody>
      </p:sp>
      <p:sp>
        <p:nvSpPr>
          <p:cNvPr id="4" name="Text 2">
            <a:extLst xmlns:a="http://schemas.openxmlformats.org/drawingml/2006/main">
              <a:ext uri="{FF2B5EF4-FFF2-40B4-BE49-F238E27FC236}">
                <a16:creationId xmlns:a16="http://schemas.microsoft.com/office/drawing/2014/main" id="{6B0B51B1-03FC-4D24-B3CF-E6D83D906D1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requirements.txt фиксирует минимальный набор библиотек</a:t>
            </a:r>
            <a:endParaRPr sz="1800"/>
          </a:p>
          <a:p xmlns:a="http://schemas.openxmlformats.org/drawingml/2006/main">
            <a:pPr marL="0" indent="0">
              <a:buNone/>
            </a:pPr>
            <a:r>
              <a:rPr sz="1800">
                <a:solidFill>
                  <a:srgbClr val="111827"/>
                </a:solidFill>
                <a:latin typeface="Arial"/>
                <a:ea typeface="Arial"/>
                <a:cs typeface="Arial"/>
              </a:rPr>
              <a:t>• Зависимости должны соответствовать фактическому коду проекта</a:t>
            </a:r>
            <a:endParaRPr sz="1800"/>
          </a:p>
          <a:p xmlns:a="http://schemas.openxmlformats.org/drawingml/2006/main">
            <a:pPr marL="0" indent="0">
              <a:buNone/>
            </a:pPr>
            <a:r>
              <a:rPr sz="1800">
                <a:solidFill>
                  <a:srgbClr val="111827"/>
                </a:solidFill>
                <a:latin typeface="Arial"/>
                <a:ea typeface="Arial"/>
                <a:cs typeface="Arial"/>
              </a:rPr>
              <a:t>• Слишком широкий или случайный список библиотек снижает воспроизводимость</a:t>
            </a:r>
            <a:endParaRPr sz="1800"/>
          </a:p>
        </p:txBody>
      </p:sp>
      <p:sp>
        <p:nvSpPr>
          <p:cNvPr id="5" name="Text 3">
            <a:extLst xmlns:a="http://schemas.openxmlformats.org/drawingml/2006/main">
              <a:ext uri="{FF2B5EF4-FFF2-40B4-BE49-F238E27FC236}">
                <a16:creationId xmlns:a16="http://schemas.microsoft.com/office/drawing/2014/main" id="{51C21003-FADD-465B-B315-59DE3AE02779}"/>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Зависимости — это часть интерфейса проекта с окружением.</a:t>
            </a:r>
            <a:endParaRPr sz="1450"/>
          </a:p>
        </p:txBody>
      </p:sp>
      <p:sp>
        <p:nvSpPr>
          <p:cNvPr id="6" name="Text 4">
            <a:extLst xmlns:a="http://schemas.openxmlformats.org/drawingml/2006/main">
              <a:ext uri="{FF2B5EF4-FFF2-40B4-BE49-F238E27FC236}">
                <a16:creationId xmlns:a16="http://schemas.microsoft.com/office/drawing/2014/main" id="{3B78B4B3-450D-4916-ACC8-462D5C29E0FB}"/>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Конфигурация отдельно от кода</a:t>
            </a:r>
            <a:endParaRPr sz="1200"/>
          </a:p>
        </p:txBody>
      </p:sp>
      <p:sp>
        <p:nvSpPr>
          <p:cNvPr id="7" name="Shape 5">
            <a:extLst xmlns:a="http://schemas.openxmlformats.org/drawingml/2006/main">
              <a:ext uri="{FF2B5EF4-FFF2-40B4-BE49-F238E27FC236}">
                <a16:creationId xmlns:a16="http://schemas.microsoft.com/office/drawing/2014/main" id="{F293F5B2-8D7E-4FFA-9DBB-F73FF6F87C9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2C592696-E41A-4C78-B003-0FED25D2D90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4091B5E5-4401-47BC-B831-C8D87CC33265}"/>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24</a:t>
            </a:r>
            <a:endParaRPr sz="850"/>
          </a:p>
        </p:txBody>
      </p:sp>
    </p:spTree>
    <p:extLst>
      <p:ext uri="{BB962C8B-B14F-4D97-AF65-F5344CB8AC3E}">
        <p14:creationId xmlns:p14="http://schemas.microsoft.com/office/powerpoint/2010/main" val="11408322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D905E7-5C04-42A9-9FA3-7D81B08B3C04}"/>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4785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ПРОЕКТ</a:t>
            </a:r>
            <a:endParaRPr sz="850"/>
          </a:p>
        </p:txBody>
      </p:sp>
      <p:sp>
        <p:nvSpPr>
          <p:cNvPr id="3" name="Text 1">
            <a:extLst xmlns:a="http://schemas.openxmlformats.org/drawingml/2006/main">
              <a:ext uri="{FF2B5EF4-FFF2-40B4-BE49-F238E27FC236}">
                <a16:creationId xmlns:a16="http://schemas.microsoft.com/office/drawing/2014/main" id="{A1BB9D80-1916-48F3-8B29-107A63996F57}"/>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Конфигурация отдельно от кода</a:t>
            </a:r>
            <a:endParaRPr sz="2300"/>
          </a:p>
        </p:txBody>
      </p:sp>
      <p:sp>
        <p:nvSpPr>
          <p:cNvPr id="4" name="Text 2">
            <a:extLst xmlns:a="http://schemas.openxmlformats.org/drawingml/2006/main">
              <a:ext uri="{FF2B5EF4-FFF2-40B4-BE49-F238E27FC236}">
                <a16:creationId xmlns:a16="http://schemas.microsoft.com/office/drawing/2014/main" id="{E6EDC217-A1FC-4B62-9315-478D0AF273A0}"/>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Параметры запуска не должны быть спрятаны в случайных местах</a:t>
            </a:r>
            <a:endParaRPr sz="1800"/>
          </a:p>
          <a:p xmlns:a="http://schemas.openxmlformats.org/drawingml/2006/main">
            <a:pPr marL="0" indent="0">
              <a:buNone/>
            </a:pPr>
            <a:r>
              <a:rPr sz="1800">
                <a:solidFill>
                  <a:srgbClr val="111827"/>
                </a:solidFill>
                <a:latin typeface="Arial"/>
                <a:ea typeface="Arial"/>
                <a:cs typeface="Arial"/>
              </a:rPr>
              <a:t>• Пути к данным и модели должны быть понятны и изменяемы</a:t>
            </a:r>
            <a:endParaRPr sz="1800"/>
          </a:p>
          <a:p xmlns:a="http://schemas.openxmlformats.org/drawingml/2006/main">
            <a:pPr marL="0" indent="0">
              <a:buNone/>
            </a:pPr>
            <a:r>
              <a:rPr sz="1800">
                <a:solidFill>
                  <a:srgbClr val="111827"/>
                </a:solidFill>
                <a:latin typeface="Arial"/>
                <a:ea typeface="Arial"/>
                <a:cs typeface="Arial"/>
              </a:rPr>
              <a:t>• Конфигурация готовит проект к API, Docker и CI/CD</a:t>
            </a:r>
            <a:endParaRPr sz="1800"/>
          </a:p>
        </p:txBody>
      </p:sp>
      <p:sp>
        <p:nvSpPr>
          <p:cNvPr id="5" name="Text 3">
            <a:extLst xmlns:a="http://schemas.openxmlformats.org/drawingml/2006/main">
              <a:ext uri="{FF2B5EF4-FFF2-40B4-BE49-F238E27FC236}">
                <a16:creationId xmlns:a16="http://schemas.microsoft.com/office/drawing/2014/main" id="{9226C914-9AF2-4760-B713-6CDEC92F98B5}"/>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Хардкод — один из главных врагов интеграции.</a:t>
            </a:r>
            <a:endParaRPr sz="1450"/>
          </a:p>
        </p:txBody>
      </p:sp>
      <p:sp>
        <p:nvSpPr>
          <p:cNvPr id="6" name="Text 4">
            <a:extLst xmlns:a="http://schemas.openxmlformats.org/drawingml/2006/main">
              <a:ext uri="{FF2B5EF4-FFF2-40B4-BE49-F238E27FC236}">
                <a16:creationId xmlns:a16="http://schemas.microsoft.com/office/drawing/2014/main" id="{C588FF1D-8D88-4189-AEDA-A2F5E6B45CF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В каком виде приходит заготовка</a:t>
            </a:r>
            <a:endParaRPr sz="1200"/>
          </a:p>
        </p:txBody>
      </p:sp>
      <p:sp>
        <p:nvSpPr>
          <p:cNvPr id="7" name="Shape 5">
            <a:extLst xmlns:a="http://schemas.openxmlformats.org/drawingml/2006/main">
              <a:ext uri="{FF2B5EF4-FFF2-40B4-BE49-F238E27FC236}">
                <a16:creationId xmlns:a16="http://schemas.microsoft.com/office/drawing/2014/main" id="{791255FE-A0B0-4C2A-A2B7-1A3AF73B8B4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C722864A-7C27-42C5-A36E-64DAEA5676B1}"/>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6CA41280-AC07-47F6-A98B-859E3C570982}"/>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25</a:t>
            </a:r>
            <a:endParaRPr sz="850"/>
          </a:p>
        </p:txBody>
      </p:sp>
    </p:spTree>
    <p:extLst>
      <p:ext uri="{BB962C8B-B14F-4D97-AF65-F5344CB8AC3E}">
        <p14:creationId xmlns:p14="http://schemas.microsoft.com/office/powerpoint/2010/main" val="86623574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F4D29F-ED18-4FF4-8D5A-16A677BDCC9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ВХОДНЫЕ МАТЕРИАЛЫ</a:t>
            </a:r>
            <a:endParaRPr sz="850"/>
          </a:p>
        </p:txBody>
      </p:sp>
      <p:sp>
        <p:nvSpPr>
          <p:cNvPr id="3" name="Text 1">
            <a:extLst xmlns:a="http://schemas.openxmlformats.org/drawingml/2006/main">
              <a:ext uri="{FF2B5EF4-FFF2-40B4-BE49-F238E27FC236}">
                <a16:creationId xmlns:a16="http://schemas.microsoft.com/office/drawing/2014/main" id="{8F71A043-8905-4197-9B6A-3B42F9CF59D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Форматы входных материалов</a:t>
            </a:r>
            <a:endParaRPr sz="2300"/>
          </a:p>
        </p:txBody>
      </p:sp>
      <p:sp>
        <p:nvSpPr>
          <p:cNvPr id="4" name="Text 2">
            <a:extLst xmlns:a="http://schemas.openxmlformats.org/drawingml/2006/main">
              <a:ext uri="{FF2B5EF4-FFF2-40B4-BE49-F238E27FC236}">
                <a16:creationId xmlns:a16="http://schemas.microsoft.com/office/drawing/2014/main" id="{1C56EABF-C6DD-435D-82A7-249AFE21D39E}"/>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Notebook содержит код, выводы, графики и состояние ячеек</a:t>
            </a:r>
            <a:endParaRPr sz="1800"/>
          </a:p>
          <a:p xmlns:a="http://schemas.openxmlformats.org/drawingml/2006/main">
            <a:pPr marL="0" indent="0">
              <a:buNone/>
            </a:pPr>
            <a:r>
              <a:rPr sz="1800">
                <a:solidFill>
                  <a:srgbClr val="111827"/>
                </a:solidFill>
                <a:latin typeface="Arial"/>
                <a:ea typeface="Arial"/>
                <a:cs typeface="Arial"/>
              </a:rPr>
              <a:t>• Скрипт, каталог или репозиторий могут включать модули и конфигурацию</a:t>
            </a:r>
            <a:endParaRPr sz="1800"/>
          </a:p>
          <a:p xmlns:a="http://schemas.openxmlformats.org/drawingml/2006/main">
            <a:pPr marL="0" indent="0">
              <a:buNone/>
            </a:pPr>
            <a:r>
              <a:rPr sz="1800">
                <a:solidFill>
                  <a:srgbClr val="111827"/>
                </a:solidFill>
                <a:latin typeface="Arial"/>
                <a:ea typeface="Arial"/>
                <a:cs typeface="Arial"/>
              </a:rPr>
              <a:t>• Модель и данные требуют описания формата входа и способа получения</a:t>
            </a:r>
            <a:endParaRPr sz="1800"/>
          </a:p>
        </p:txBody>
      </p:sp>
      <p:sp>
        <p:nvSpPr>
          <p:cNvPr id="5" name="Text 3">
            <a:extLst xmlns:a="http://schemas.openxmlformats.org/drawingml/2006/main">
              <a:ext uri="{FF2B5EF4-FFF2-40B4-BE49-F238E27FC236}">
                <a16:creationId xmlns:a16="http://schemas.microsoft.com/office/drawing/2014/main" id="{9E789523-7A66-4BCB-B4D2-D8623DF953D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Сначала фиксируется состав и происхождение материалов, затем начинается преобразование.</a:t>
            </a:r>
            <a:endParaRPr sz="1450"/>
          </a:p>
        </p:txBody>
      </p:sp>
      <p:sp>
        <p:nvSpPr>
          <p:cNvPr id="6" name="Text 4">
            <a:extLst xmlns:a="http://schemas.openxmlformats.org/drawingml/2006/main">
              <a:ext uri="{FF2B5EF4-FFF2-40B4-BE49-F238E27FC236}">
                <a16:creationId xmlns:a16="http://schemas.microsoft.com/office/drawing/2014/main" id="{DB66F4FE-CA32-4ED1-B6EB-24F5EA992EA5}"/>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Паспорт входной версии</a:t>
            </a:r>
            <a:endParaRPr sz="1200"/>
          </a:p>
        </p:txBody>
      </p:sp>
      <p:sp>
        <p:nvSpPr>
          <p:cNvPr id="7" name="Shape 5">
            <a:extLst xmlns:a="http://schemas.openxmlformats.org/drawingml/2006/main">
              <a:ext uri="{FF2B5EF4-FFF2-40B4-BE49-F238E27FC236}">
                <a16:creationId xmlns:a16="http://schemas.microsoft.com/office/drawing/2014/main" id="{B690DD42-F845-49DF-A470-E770BF2C7F65}"/>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F51C9F8E-E66E-43D8-BB05-717B3222F5A0}"/>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29CFF1D9-C60B-469E-9DE9-8ED0C2312C92}"/>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26</a:t>
            </a:r>
            <a:endParaRPr sz="850"/>
          </a:p>
        </p:txBody>
      </p:sp>
    </p:spTree>
    <p:extLst>
      <p:ext uri="{BB962C8B-B14F-4D97-AF65-F5344CB8AC3E}">
        <p14:creationId xmlns:p14="http://schemas.microsoft.com/office/powerpoint/2010/main" val="1492039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C3C960-394B-4EA9-A404-2CE53FEABEA9}"/>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ВХОДНЫЕ МАТЕРИАЛЫ</a:t>
            </a:r>
            <a:endParaRPr sz="850"/>
          </a:p>
        </p:txBody>
      </p:sp>
      <p:sp>
        <p:nvSpPr>
          <p:cNvPr id="3" name="Text 1">
            <a:extLst xmlns:a="http://schemas.openxmlformats.org/drawingml/2006/main">
              <a:ext uri="{FF2B5EF4-FFF2-40B4-BE49-F238E27FC236}">
                <a16:creationId xmlns:a16="http://schemas.microsoft.com/office/drawing/2014/main" id="{06CA77B3-5582-48F9-A14D-0F2A30957B8E}"/>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Паспорт входной версии</a:t>
            </a:r>
            <a:endParaRPr sz="2300"/>
          </a:p>
        </p:txBody>
      </p:sp>
      <p:sp>
        <p:nvSpPr>
          <p:cNvPr id="4" name="Text 2">
            <a:extLst xmlns:a="http://schemas.openxmlformats.org/drawingml/2006/main">
              <a:ext uri="{FF2B5EF4-FFF2-40B4-BE49-F238E27FC236}">
                <a16:creationId xmlns:a16="http://schemas.microsoft.com/office/drawing/2014/main" id="{BABC78E1-AA74-4BBB-BD43-01F2500EF42A}"/>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Источник, автор, дата получения и обозначение версии</a:t>
            </a:r>
            <a:endParaRPr sz="1800"/>
          </a:p>
          <a:p xmlns:a="http://schemas.openxmlformats.org/drawingml/2006/main">
            <a:pPr marL="0" indent="0">
              <a:buNone/>
            </a:pPr>
            <a:r>
              <a:rPr sz="1800">
                <a:solidFill>
                  <a:srgbClr val="111827"/>
                </a:solidFill>
                <a:latin typeface="Arial"/>
                <a:ea typeface="Arial"/>
                <a:cs typeface="Arial"/>
              </a:rPr>
              <a:t>• Версии Python и библиотек, входы, ожидаемые выходы</a:t>
            </a:r>
            <a:endParaRPr sz="1800"/>
          </a:p>
          <a:p xmlns:a="http://schemas.openxmlformats.org/drawingml/2006/main">
            <a:pPr marL="0" indent="0">
              <a:buNone/>
            </a:pPr>
            <a:r>
              <a:rPr sz="1800">
                <a:solidFill>
                  <a:srgbClr val="111827"/>
                </a:solidFill>
                <a:latin typeface="Arial"/>
                <a:ea typeface="Arial"/>
                <a:cs typeface="Arial"/>
              </a:rPr>
              <a:t>• Ограничения доступа, секреты, персональные данные и внешние ресурсы</a:t>
            </a:r>
            <a:endParaRPr sz="1800"/>
          </a:p>
        </p:txBody>
      </p:sp>
      <p:sp>
        <p:nvSpPr>
          <p:cNvPr id="5" name="Text 3">
            <a:extLst xmlns:a="http://schemas.openxmlformats.org/drawingml/2006/main">
              <a:ext uri="{FF2B5EF4-FFF2-40B4-BE49-F238E27FC236}">
                <a16:creationId xmlns:a16="http://schemas.microsoft.com/office/drawing/2014/main" id="{2D8AC857-11C6-4FBE-BD74-BDEFAAA3F82D}"/>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Паспорт позволяет воспроизвести исходное поведение и сравнить следующую версию.</a:t>
            </a:r>
            <a:endParaRPr sz="1450"/>
          </a:p>
        </p:txBody>
      </p:sp>
      <p:sp>
        <p:nvSpPr>
          <p:cNvPr id="6" name="Text 4">
            <a:extLst xmlns:a="http://schemas.openxmlformats.org/drawingml/2006/main">
              <a:ext uri="{FF2B5EF4-FFF2-40B4-BE49-F238E27FC236}">
                <a16:creationId xmlns:a16="http://schemas.microsoft.com/office/drawing/2014/main" id="{1EE97423-BD6E-4044-9542-AFB0E95AD04A}"/>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Общая схема преобразования</a:t>
            </a:r>
            <a:endParaRPr sz="1200"/>
          </a:p>
        </p:txBody>
      </p:sp>
      <p:sp>
        <p:nvSpPr>
          <p:cNvPr id="7" name="Shape 5">
            <a:extLst xmlns:a="http://schemas.openxmlformats.org/drawingml/2006/main">
              <a:ext uri="{FF2B5EF4-FFF2-40B4-BE49-F238E27FC236}">
                <a16:creationId xmlns:a16="http://schemas.microsoft.com/office/drawing/2014/main" id="{11267679-40A9-4245-B425-758925809F5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E489D163-2954-4890-B785-B58DBAF4F9A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D2948A07-6C23-4045-89A6-4C4703304C73}"/>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27</a:t>
            </a:r>
            <a:endParaRPr sz="850"/>
          </a:p>
        </p:txBody>
      </p:sp>
    </p:spTree>
    <p:extLst>
      <p:ext uri="{BB962C8B-B14F-4D97-AF65-F5344CB8AC3E}">
        <p14:creationId xmlns:p14="http://schemas.microsoft.com/office/powerpoint/2010/main" val="10822753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730B10-75C0-48B5-9E5C-6D97D1E4A51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ПРЕОБРАЗОВАНИЕ</a:t>
            </a:r>
            <a:endParaRPr sz="850"/>
          </a:p>
        </p:txBody>
      </p:sp>
      <p:sp>
        <p:nvSpPr>
          <p:cNvPr id="3" name="Text 1">
            <a:extLst xmlns:a="http://schemas.openxmlformats.org/drawingml/2006/main">
              <a:ext uri="{FF2B5EF4-FFF2-40B4-BE49-F238E27FC236}">
                <a16:creationId xmlns:a16="http://schemas.microsoft.com/office/drawing/2014/main" id="{A4A6AE48-08B2-489B-9284-3E0519D98C14}"/>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Преобразование входного файла</a:t>
            </a:r>
            <a:endParaRPr sz="2300"/>
          </a:p>
        </p:txBody>
      </p:sp>
      <p:sp>
        <p:nvSpPr>
          <p:cNvPr id="4" name="Text 2">
            <a:extLst xmlns:a="http://schemas.openxmlformats.org/drawingml/2006/main">
              <a:ext uri="{FF2B5EF4-FFF2-40B4-BE49-F238E27FC236}">
                <a16:creationId xmlns:a16="http://schemas.microsoft.com/office/drawing/2014/main" id="{1E0AD9AB-7FF1-46B0-82DB-72B5CF3BDFE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DF98CC18-8623-4C54-91A5-D30955AA83FC}"/>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505EC8EC-47B5-458A-8752-B3CAD5AA7EC0}"/>
              </a:ext>
            </a:extLst>
          </p:cNvPr>
          <p:cNvSpPr>
            <a:spLocks xmlns:a="http://schemas.openxmlformats.org/drawingml/2006/main" noGrp="1"/>
          </p:cNvSpPr>
          <p:nvPr/>
        </p:nvSpPr>
        <p:spPr>
          <a:xfrm xmlns:a="http://schemas.openxmlformats.org/drawingml/2006/main">
            <a:off x="666750" y="5219700"/>
            <a:ext cx="9334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defRPr sz="1200" i="1">
                <a:solidFill>
                  <a:srgbClr val="546274"/>
                </a:solidFill>
                <a:latin typeface="Aptos"/>
                <a:ea typeface="Aptos"/>
                <a:cs typeface="Aptos"/>
              </a:defRPr>
            </a:pPr>
            <a:r>
              <a:rPr sz="1200" i="1">
                <a:solidFill>
                  <a:srgbClr val="546274"/>
                </a:solidFill>
                <a:latin typeface="Aptos"/>
                <a:ea typeface="Aptos"/>
                <a:cs typeface="Aptos"/>
              </a:rPr>
              <a:t>Переход: Notebook: код до и после переноса</a:t>
            </a:r>
            <a:endParaRPr sz="1200"/>
          </a:p>
        </p:txBody>
      </p:sp>
      <p:sp>
        <p:nvSpPr>
          <p:cNvPr id="7" name="Shape 5">
            <a:extLst xmlns:a="http://schemas.openxmlformats.org/drawingml/2006/main">
              <a:ext uri="{FF2B5EF4-FFF2-40B4-BE49-F238E27FC236}">
                <a16:creationId xmlns:a16="http://schemas.microsoft.com/office/drawing/2014/main" id="{A54C9151-F6A8-4A82-9EFE-46E8DBD231C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B11216B7-1C64-4CDC-8986-D092A799FAED}"/>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212404E1-755B-4CDB-A206-D566384E785C}"/>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28</a:t>
            </a:r>
            <a:endParaRPr sz="850"/>
          </a:p>
        </p:txBody>
      </p:sp>
      <p:sp>
        <p:nvSpPr>
          <p:cNvPr id="10" name="s28-label-0">
            <a:extLst xmlns:a="http://schemas.openxmlformats.org/drawingml/2006/main">
              <a:ext uri="{FF2B5EF4-FFF2-40B4-BE49-F238E27FC236}">
                <a16:creationId xmlns:a16="http://schemas.microsoft.com/office/drawing/2014/main" id="{79CCBEC3-E6B1-4212-9873-D8986A544CC8}"/>
              </a:ext>
            </a:extLst>
          </p:cNvPr>
          <p:cNvSpPr>
            <a:spLocks xmlns:a="http://schemas.openxmlformats.org/drawingml/2006/main" noGrp="1"/>
          </p:cNvSpPr>
          <p:nvPr/>
        </p:nvSpPr>
        <p:spPr>
          <a:xfrm xmlns:a="http://schemas.openxmlformats.org/drawingml/2006/main">
            <a:off x="666750" y="1381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B95A08"/>
                </a:solidFill>
                <a:latin typeface="Aptos"/>
                <a:ea typeface="Aptos"/>
                <a:cs typeface="Aptos"/>
              </a:defRPr>
            </a:pPr>
            <a:r>
              <a:rPr sz="1275" b="1">
                <a:solidFill>
                  <a:srgbClr val="B95A08"/>
                </a:solidFill>
                <a:latin typeface="Aptos"/>
                <a:ea typeface="Aptos"/>
                <a:cs typeface="Aptos"/>
              </a:rPr>
              <a:t>1. Вход</a:t>
            </a:r>
          </a:p>
        </p:txBody>
      </p:sp>
      <p:sp>
        <p:nvSpPr>
          <p:cNvPr id="11" name="s28-box-0">
            <a:extLst xmlns:a="http://schemas.openxmlformats.org/drawingml/2006/main">
              <a:ext uri="{FF2B5EF4-FFF2-40B4-BE49-F238E27FC236}">
                <a16:creationId xmlns:a16="http://schemas.microsoft.com/office/drawing/2014/main" id="{F858178F-86A0-4212-AB68-72DDBE53655B}"/>
              </a:ext>
            </a:extLst>
          </p:cNvPr>
          <p:cNvSpPr>
            <a:spLocks xmlns:a="http://schemas.openxmlformats.org/drawingml/2006/main" noGrp="1"/>
          </p:cNvSpPr>
          <p:nvPr/>
        </p:nvSpPr>
        <p:spPr>
          <a:xfrm xmlns:a="http://schemas.openxmlformats.org/drawingml/2006/main">
            <a:off x="666750" y="1714500"/>
            <a:ext cx="1809750" cy="1285875"/>
          </a:xfrm>
          <a:prstGeom xmlns:a="http://schemas.openxmlformats.org/drawingml/2006/main" prst="roundRect">
            <a:avLst>
              <a:gd name="adj" fmla="val 7407"/>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.ipynb</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.py</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репозиторий</a:t>
            </a:r>
          </a:p>
        </p:txBody>
      </p:sp>
      <p:sp>
        <p:nvSpPr>
          <p:cNvPr id="12" name="s28-label-1">
            <a:extLst xmlns:a="http://schemas.openxmlformats.org/drawingml/2006/main">
              <a:ext uri="{FF2B5EF4-FFF2-40B4-BE49-F238E27FC236}">
                <a16:creationId xmlns:a16="http://schemas.microsoft.com/office/drawing/2014/main" id="{9E5F7943-A53C-478A-B17D-AB654B3E5C8D}"/>
              </a:ext>
            </a:extLst>
          </p:cNvPr>
          <p:cNvSpPr>
            <a:spLocks xmlns:a="http://schemas.openxmlformats.org/drawingml/2006/main" noGrp="1"/>
          </p:cNvSpPr>
          <p:nvPr/>
        </p:nvSpPr>
        <p:spPr>
          <a:xfrm xmlns:a="http://schemas.openxmlformats.org/drawingml/2006/main">
            <a:off x="2905125" y="1381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2F66E8"/>
                </a:solidFill>
                <a:latin typeface="Aptos"/>
                <a:ea typeface="Aptos"/>
                <a:cs typeface="Aptos"/>
              </a:defRPr>
            </a:pPr>
            <a:r>
              <a:rPr sz="1275" b="1">
                <a:solidFill>
                  <a:srgbClr val="2F66E8"/>
                </a:solidFill>
                <a:latin typeface="Aptos"/>
                <a:ea typeface="Aptos"/>
                <a:cs typeface="Aptos"/>
              </a:rPr>
              <a:t>2. Проверка</a:t>
            </a:r>
          </a:p>
        </p:txBody>
      </p:sp>
      <p:sp>
        <p:nvSpPr>
          <p:cNvPr id="13" name="s28-box-1">
            <a:extLst xmlns:a="http://schemas.openxmlformats.org/drawingml/2006/main">
              <a:ext uri="{FF2B5EF4-FFF2-40B4-BE49-F238E27FC236}">
                <a16:creationId xmlns:a16="http://schemas.microsoft.com/office/drawing/2014/main" id="{C6BB2A57-1247-4EE4-89F3-A53E7C3D985C}"/>
              </a:ext>
            </a:extLst>
          </p:cNvPr>
          <p:cNvSpPr>
            <a:spLocks xmlns:a="http://schemas.openxmlformats.org/drawingml/2006/main" noGrp="1"/>
          </p:cNvSpPr>
          <p:nvPr/>
        </p:nvSpPr>
        <p:spPr>
          <a:xfrm xmlns:a="http://schemas.openxmlformats.org/drawingml/2006/main">
            <a:off x="2905125" y="1714500"/>
            <a:ext cx="1809750" cy="1285875"/>
          </a:xfrm>
          <a:prstGeom xmlns:a="http://schemas.openxmlformats.org/drawingml/2006/main" prst="roundRect">
            <a:avLst>
              <a:gd name="adj" fmla="val 7407"/>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запуск</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входы и выходы</a:t>
            </a:r>
          </a:p>
        </p:txBody>
      </p:sp>
      <p:sp>
        <p:nvSpPr>
          <p:cNvPr id="14" name="s28-label-2">
            <a:extLst xmlns:a="http://schemas.openxmlformats.org/drawingml/2006/main">
              <a:ext uri="{FF2B5EF4-FFF2-40B4-BE49-F238E27FC236}">
                <a16:creationId xmlns:a16="http://schemas.microsoft.com/office/drawing/2014/main" id="{03B8AB3D-06B5-4BE8-8115-9451ED42EFAA}"/>
              </a:ext>
            </a:extLst>
          </p:cNvPr>
          <p:cNvSpPr>
            <a:spLocks xmlns:a="http://schemas.openxmlformats.org/drawingml/2006/main" noGrp="1"/>
          </p:cNvSpPr>
          <p:nvPr/>
        </p:nvSpPr>
        <p:spPr>
          <a:xfrm xmlns:a="http://schemas.openxmlformats.org/drawingml/2006/main">
            <a:off x="5143500" y="1381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2F66E8"/>
                </a:solidFill>
                <a:latin typeface="Aptos"/>
                <a:ea typeface="Aptos"/>
                <a:cs typeface="Aptos"/>
              </a:defRPr>
            </a:pPr>
            <a:r>
              <a:rPr sz="1275" b="1">
                <a:solidFill>
                  <a:srgbClr val="2F66E8"/>
                </a:solidFill>
                <a:latin typeface="Aptos"/>
                <a:ea typeface="Aptos"/>
                <a:cs typeface="Aptos"/>
              </a:rPr>
              <a:t>3. Разбор</a:t>
            </a:r>
          </a:p>
        </p:txBody>
      </p:sp>
      <p:sp>
        <p:nvSpPr>
          <p:cNvPr id="15" name="s28-box-2">
            <a:extLst xmlns:a="http://schemas.openxmlformats.org/drawingml/2006/main">
              <a:ext uri="{FF2B5EF4-FFF2-40B4-BE49-F238E27FC236}">
                <a16:creationId xmlns:a16="http://schemas.microsoft.com/office/drawing/2014/main" id="{52CEBF31-4D21-402B-B148-484AF92EC7E9}"/>
              </a:ext>
            </a:extLst>
          </p:cNvPr>
          <p:cNvSpPr>
            <a:spLocks xmlns:a="http://schemas.openxmlformats.org/drawingml/2006/main" noGrp="1"/>
          </p:cNvSpPr>
          <p:nvPr/>
        </p:nvSpPr>
        <p:spPr>
          <a:xfrm xmlns:a="http://schemas.openxmlformats.org/drawingml/2006/main">
            <a:off x="5143500" y="1714500"/>
            <a:ext cx="1809750" cy="1285875"/>
          </a:xfrm>
          <a:prstGeom xmlns:a="http://schemas.openxmlformats.org/drawingml/2006/main" prst="roundRect">
            <a:avLst>
              <a:gd name="adj" fmla="val 7407"/>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данные</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обучение</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инференс</a:t>
            </a:r>
          </a:p>
        </p:txBody>
      </p:sp>
      <p:sp>
        <p:nvSpPr>
          <p:cNvPr id="16" name="s28-label-3">
            <a:extLst xmlns:a="http://schemas.openxmlformats.org/drawingml/2006/main">
              <a:ext uri="{FF2B5EF4-FFF2-40B4-BE49-F238E27FC236}">
                <a16:creationId xmlns:a16="http://schemas.microsoft.com/office/drawing/2014/main" id="{6E140CEA-2E26-495A-A7A8-0045900248C0}"/>
              </a:ext>
            </a:extLst>
          </p:cNvPr>
          <p:cNvSpPr>
            <a:spLocks xmlns:a="http://schemas.openxmlformats.org/drawingml/2006/main" noGrp="1"/>
          </p:cNvSpPr>
          <p:nvPr/>
        </p:nvSpPr>
        <p:spPr>
          <a:xfrm xmlns:a="http://schemas.openxmlformats.org/drawingml/2006/main">
            <a:off x="7381875" y="1381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087F5B"/>
                </a:solidFill>
                <a:latin typeface="Aptos"/>
                <a:ea typeface="Aptos"/>
                <a:cs typeface="Aptos"/>
              </a:defRPr>
            </a:pPr>
            <a:r>
              <a:rPr sz="1275" b="1">
                <a:solidFill>
                  <a:srgbClr val="087F5B"/>
                </a:solidFill>
                <a:latin typeface="Aptos"/>
                <a:ea typeface="Aptos"/>
                <a:cs typeface="Aptos"/>
              </a:rPr>
              <a:t>4. Проект</a:t>
            </a:r>
          </a:p>
        </p:txBody>
      </p:sp>
      <p:sp>
        <p:nvSpPr>
          <p:cNvPr id="17" name="s28-box-3">
            <a:extLst xmlns:a="http://schemas.openxmlformats.org/drawingml/2006/main">
              <a:ext uri="{FF2B5EF4-FFF2-40B4-BE49-F238E27FC236}">
                <a16:creationId xmlns:a16="http://schemas.microsoft.com/office/drawing/2014/main" id="{C5AEB828-7B31-4325-B63F-D6E2C52336EA}"/>
              </a:ext>
            </a:extLst>
          </p:cNvPr>
          <p:cNvSpPr>
            <a:spLocks xmlns:a="http://schemas.openxmlformats.org/drawingml/2006/main" noGrp="1"/>
          </p:cNvSpPr>
          <p:nvPr/>
        </p:nvSpPr>
        <p:spPr>
          <a:xfrm xmlns:a="http://schemas.openxmlformats.org/drawingml/2006/main">
            <a:off x="7381875" y="1714500"/>
            <a:ext cx="1809750" cy="1285875"/>
          </a:xfrm>
          <a:prstGeom xmlns:a="http://schemas.openxmlformats.org/drawingml/2006/main" prst="roundRect">
            <a:avLst>
              <a:gd name="adj" fmla="val 7407"/>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src</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config</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tests</a:t>
            </a:r>
          </a:p>
        </p:txBody>
      </p:sp>
      <p:sp>
        <p:nvSpPr>
          <p:cNvPr id="18" name="s28-label-4">
            <a:extLst xmlns:a="http://schemas.openxmlformats.org/drawingml/2006/main">
              <a:ext uri="{FF2B5EF4-FFF2-40B4-BE49-F238E27FC236}">
                <a16:creationId xmlns:a16="http://schemas.microsoft.com/office/drawing/2014/main" id="{62CFF480-F7C7-41CB-9686-64D29B4525D6}"/>
              </a:ext>
            </a:extLst>
          </p:cNvPr>
          <p:cNvSpPr>
            <a:spLocks xmlns:a="http://schemas.openxmlformats.org/drawingml/2006/main" noGrp="1"/>
          </p:cNvSpPr>
          <p:nvPr/>
        </p:nvSpPr>
        <p:spPr>
          <a:xfrm xmlns:a="http://schemas.openxmlformats.org/drawingml/2006/main">
            <a:off x="9620250" y="1381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087F5B"/>
                </a:solidFill>
                <a:latin typeface="Aptos"/>
                <a:ea typeface="Aptos"/>
                <a:cs typeface="Aptos"/>
              </a:defRPr>
            </a:pPr>
            <a:r>
              <a:rPr sz="1275" b="1">
                <a:solidFill>
                  <a:srgbClr val="087F5B"/>
                </a:solidFill>
                <a:latin typeface="Aptos"/>
                <a:ea typeface="Aptos"/>
                <a:cs typeface="Aptos"/>
              </a:rPr>
              <a:t>5. Контроль</a:t>
            </a:r>
          </a:p>
        </p:txBody>
      </p:sp>
      <p:sp>
        <p:nvSpPr>
          <p:cNvPr id="19" name="s28-box-4">
            <a:extLst xmlns:a="http://schemas.openxmlformats.org/drawingml/2006/main">
              <a:ext uri="{FF2B5EF4-FFF2-40B4-BE49-F238E27FC236}">
                <a16:creationId xmlns:a16="http://schemas.microsoft.com/office/drawing/2014/main" id="{82267856-84B0-44FF-B29A-617E4106F9D4}"/>
              </a:ext>
            </a:extLst>
          </p:cNvPr>
          <p:cNvSpPr>
            <a:spLocks xmlns:a="http://schemas.openxmlformats.org/drawingml/2006/main" noGrp="1"/>
          </p:cNvSpPr>
          <p:nvPr/>
        </p:nvSpPr>
        <p:spPr>
          <a:xfrm xmlns:a="http://schemas.openxmlformats.org/drawingml/2006/main">
            <a:off x="9620250" y="1714500"/>
            <a:ext cx="1809750" cy="1285875"/>
          </a:xfrm>
          <a:prstGeom xmlns:a="http://schemas.openxmlformats.org/drawingml/2006/main" prst="roundRect">
            <a:avLst>
              <a:gd name="adj" fmla="val 7407"/>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сравнение</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README</a:t>
            </a:r>
          </a:p>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коммит</a:t>
            </a:r>
          </a:p>
        </p:txBody>
      </p:sp>
      <p:cxnSp>
        <p:nvCxnSpPr>
          <p:cNvPr id="87" name="Прямая со стрелкой 64"/>
          <p:cNvCxnSpPr>
            <a:stCxn xmlns:a="http://schemas.openxmlformats.org/drawingml/2006/main" id="11" idx="3"/>
            <a:endCxn xmlns:a="http://schemas.openxmlformats.org/drawingml/2006/main" id="13" idx="1"/>
          </p:cNvCxnSpPr>
          <p:nvPr/>
        </p:nvCxnSpPr>
        <p:spPr>
          <a:xfrm xmlns:a="http://schemas.openxmlformats.org/drawingml/2006/main">
            <a:off x="2476500" y="2357438"/>
            <a:ext cx="428625"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88" name="Прямая со стрелкой 65"/>
          <p:cNvCxnSpPr>
            <a:stCxn xmlns:a="http://schemas.openxmlformats.org/drawingml/2006/main" id="13" idx="3"/>
            <a:endCxn xmlns:a="http://schemas.openxmlformats.org/drawingml/2006/main" id="15" idx="1"/>
          </p:cNvCxnSpPr>
          <p:nvPr/>
        </p:nvCxnSpPr>
        <p:spPr>
          <a:xfrm xmlns:a="http://schemas.openxmlformats.org/drawingml/2006/main">
            <a:off x="4714875" y="2357438"/>
            <a:ext cx="428625"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89" name="Прямая со стрелкой 66"/>
          <p:cNvCxnSpPr>
            <a:stCxn xmlns:a="http://schemas.openxmlformats.org/drawingml/2006/main" id="15" idx="3"/>
            <a:endCxn xmlns:a="http://schemas.openxmlformats.org/drawingml/2006/main" id="17" idx="1"/>
          </p:cNvCxnSpPr>
          <p:nvPr/>
        </p:nvCxnSpPr>
        <p:spPr>
          <a:xfrm xmlns:a="http://schemas.openxmlformats.org/drawingml/2006/main">
            <a:off x="6953250" y="2357438"/>
            <a:ext cx="428625"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90" name="Прямая со стрелкой 67"/>
          <p:cNvCxnSpPr>
            <a:stCxn xmlns:a="http://schemas.openxmlformats.org/drawingml/2006/main" id="17" idx="3"/>
            <a:endCxn xmlns:a="http://schemas.openxmlformats.org/drawingml/2006/main" id="19" idx="1"/>
          </p:cNvCxnSpPr>
          <p:nvPr/>
        </p:nvCxnSpPr>
        <p:spPr>
          <a:xfrm xmlns:a="http://schemas.openxmlformats.org/drawingml/2006/main">
            <a:off x="9191625" y="2357438"/>
            <a:ext cx="428625"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sp>
        <p:nvSpPr>
          <p:cNvPr id="24" name="s28-result">
            <a:extLst xmlns:a="http://schemas.openxmlformats.org/drawingml/2006/main">
              <a:ext uri="{FF2B5EF4-FFF2-40B4-BE49-F238E27FC236}">
                <a16:creationId xmlns:a16="http://schemas.microsoft.com/office/drawing/2014/main" id="{9DE4E876-810C-404B-BB72-379E5DD25661}"/>
              </a:ext>
            </a:extLst>
          </p:cNvPr>
          <p:cNvSpPr>
            <a:spLocks xmlns:a="http://schemas.openxmlformats.org/drawingml/2006/main" noGrp="1"/>
          </p:cNvSpPr>
          <p:nvPr/>
        </p:nvSpPr>
        <p:spPr>
          <a:xfrm xmlns:a="http://schemas.openxmlformats.org/drawingml/2006/main">
            <a:off x="1809750" y="3524250"/>
            <a:ext cx="8572500" cy="78105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650" b="1">
                <a:solidFill>
                  <a:srgbClr val="151E2F"/>
                </a:solidFill>
                <a:latin typeface="Aptos"/>
                <a:ea typeface="Aptos"/>
                <a:cs typeface="Aptos"/>
              </a:defRPr>
            </a:pPr>
            <a:r>
              <a:rPr sz="1650" b="1">
                <a:solidFill>
                  <a:srgbClr val="151E2F"/>
                </a:solidFill>
                <a:latin typeface="Aptos"/>
                <a:ea typeface="Aptos"/>
                <a:cs typeface="Aptos"/>
              </a:rPr>
              <a:t>Результат: файлы проекта имеют явные роли, команды запуска и проверяемое поведение</a:t>
            </a:r>
          </a:p>
        </p:txBody>
      </p:sp>
    </p:spTree>
    <p:extLst>
      <p:ext uri="{BB962C8B-B14F-4D97-AF65-F5344CB8AC3E}">
        <p14:creationId xmlns:p14="http://schemas.microsoft.com/office/powerpoint/2010/main" val="645195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447226-E653-469B-86A5-AC788231BBB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ПРЕОБРАЗОВАНИЕ</a:t>
            </a:r>
            <a:endParaRPr sz="850"/>
          </a:p>
        </p:txBody>
      </p:sp>
      <p:sp>
        <p:nvSpPr>
          <p:cNvPr id="3" name="Text 1">
            <a:extLst xmlns:a="http://schemas.openxmlformats.org/drawingml/2006/main">
              <a:ext uri="{FF2B5EF4-FFF2-40B4-BE49-F238E27FC236}">
                <a16:creationId xmlns:a16="http://schemas.microsoft.com/office/drawing/2014/main" id="{5DC90ACB-8EB4-4565-8C96-23E6BA12C31B}"/>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Notebook: код до и после переноса</a:t>
            </a:r>
            <a:endParaRPr sz="2300"/>
          </a:p>
        </p:txBody>
      </p:sp>
      <p:sp>
        <p:nvSpPr>
          <p:cNvPr id="4" name="Text 2">
            <a:extLst xmlns:a="http://schemas.openxmlformats.org/drawingml/2006/main">
              <a:ext uri="{FF2B5EF4-FFF2-40B4-BE49-F238E27FC236}">
                <a16:creationId xmlns:a16="http://schemas.microsoft.com/office/drawing/2014/main" id="{1F11A571-AA23-46A1-A8A2-A72F57C4B913}"/>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AD66EF1B-B87F-48AF-B81E-55803AB52DE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1D126C3C-2D75-4D75-83C4-D9D68AD8E30A}"/>
              </a:ext>
            </a:extLst>
          </p:cNvPr>
          <p:cNvSpPr>
            <a:spLocks xmlns:a="http://schemas.openxmlformats.org/drawingml/2006/main" noGrp="1"/>
          </p:cNvSpPr>
          <p:nvPr/>
        </p:nvSpPr>
        <p:spPr>
          <a:xfrm xmlns:a="http://schemas.openxmlformats.org/drawingml/2006/main">
            <a:off x="666750" y="5219700"/>
            <a:ext cx="9334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defRPr sz="1200" i="1">
                <a:solidFill>
                  <a:srgbClr val="546274"/>
                </a:solidFill>
                <a:latin typeface="Aptos"/>
                <a:ea typeface="Aptos"/>
                <a:cs typeface="Aptos"/>
              </a:defRPr>
            </a:pPr>
            <a:r>
              <a:rPr sz="1200" i="1">
                <a:solidFill>
                  <a:srgbClr val="546274"/>
                </a:solidFill>
                <a:latin typeface="Aptos"/>
                <a:ea typeface="Aptos"/>
                <a:cs typeface="Aptos"/>
              </a:rPr>
              <a:t>Переход: Разделение монолитного скрипта</a:t>
            </a:r>
            <a:endParaRPr sz="1200"/>
          </a:p>
        </p:txBody>
      </p:sp>
      <p:sp>
        <p:nvSpPr>
          <p:cNvPr id="7" name="Shape 5">
            <a:extLst xmlns:a="http://schemas.openxmlformats.org/drawingml/2006/main">
              <a:ext uri="{FF2B5EF4-FFF2-40B4-BE49-F238E27FC236}">
                <a16:creationId xmlns:a16="http://schemas.microsoft.com/office/drawing/2014/main" id="{BCA87C7E-925A-49C4-A709-3D6DF768749F}"/>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D5AC11A6-4683-4BF4-A048-286F853E34F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07F4B7C4-0233-476E-A13C-C638E2EDC308}"/>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29</a:t>
            </a:r>
            <a:endParaRPr sz="850"/>
          </a:p>
        </p:txBody>
      </p:sp>
      <p:sp>
        <p:nvSpPr>
          <p:cNvPr id="10" name="s29-before-label">
            <a:extLst xmlns:a="http://schemas.openxmlformats.org/drawingml/2006/main">
              <a:ext uri="{FF2B5EF4-FFF2-40B4-BE49-F238E27FC236}">
                <a16:creationId xmlns:a16="http://schemas.microsoft.com/office/drawing/2014/main" id="{786A89E5-0CCA-4D00-94EE-3A42B2391386}"/>
              </a:ext>
            </a:extLst>
          </p:cNvPr>
          <p:cNvSpPr>
            <a:spLocks xmlns:a="http://schemas.openxmlformats.org/drawingml/2006/main" noGrp="1"/>
          </p:cNvSpPr>
          <p:nvPr/>
        </p:nvSpPr>
        <p:spPr>
          <a:xfrm xmlns:a="http://schemas.openxmlformats.org/drawingml/2006/main">
            <a:off x="666750" y="141922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B95A08"/>
                </a:solidFill>
                <a:latin typeface="Aptos"/>
                <a:ea typeface="Aptos"/>
                <a:cs typeface="Aptos"/>
              </a:defRPr>
            </a:pPr>
            <a:r>
              <a:rPr sz="1275" b="1">
                <a:solidFill>
                  <a:srgbClr val="B95A08"/>
                </a:solidFill>
                <a:latin typeface="Aptos"/>
                <a:ea typeface="Aptos"/>
                <a:cs typeface="Aptos"/>
              </a:rPr>
              <a:t>В notebook</a:t>
            </a:r>
          </a:p>
        </p:txBody>
      </p:sp>
      <p:sp>
        <p:nvSpPr>
          <p:cNvPr id="11" name="s29-before">
            <a:extLst xmlns:a="http://schemas.openxmlformats.org/drawingml/2006/main">
              <a:ext uri="{FF2B5EF4-FFF2-40B4-BE49-F238E27FC236}">
                <a16:creationId xmlns:a16="http://schemas.microsoft.com/office/drawing/2014/main" id="{6D38139C-4115-4730-852F-6D599FDE5176}"/>
              </a:ext>
            </a:extLst>
          </p:cNvPr>
          <p:cNvSpPr>
            <a:spLocks xmlns:a="http://schemas.openxmlformats.org/drawingml/2006/main" noGrp="1"/>
          </p:cNvSpPr>
          <p:nvPr/>
        </p:nvSpPr>
        <p:spPr>
          <a:xfrm xmlns:a="http://schemas.openxmlformats.org/drawingml/2006/main">
            <a:off x="666750" y="1714500"/>
            <a:ext cx="4762500" cy="2619375"/>
          </a:xfrm>
          <a:prstGeom xmlns:a="http://schemas.openxmlformats.org/drawingml/2006/main" prst="roundRect">
            <a:avLst>
              <a:gd name="adj" fmla="val 1455"/>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114300" rIns="114300" bIns="114300" anchor="t">
            <a:normAutofit/>
          </a:bodyPr>
          <a:lstStyle xmlns:a="http://schemas.openxmlformats.org/drawingml/2006/main"/>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DATA = "C:/work/data.csv"</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df = pd.read_csv(DATA)</a:t>
            </a:r>
          </a:p>
          <a:p xmlns:a="http://schemas.openxmlformats.org/drawingml/2006/main">
            <a:endParaRPr sz="1350" b="0">
              <a:solidFill>
                <a:srgbClr val="151E2F"/>
              </a:solidFill>
              <a:latin typeface="Consolas"/>
              <a:ea typeface="Consolas"/>
              <a:cs typeface="Consolas"/>
            </a:endParaRP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model.fit(df[FEATURES], df[TARGET])</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joblib.dump(model, "model.pkl")</a:t>
            </a:r>
          </a:p>
        </p:txBody>
      </p:sp>
      <p:sp>
        <p:nvSpPr>
          <p:cNvPr id="12" name="s29-after-label">
            <a:extLst xmlns:a="http://schemas.openxmlformats.org/drawingml/2006/main">
              <a:ext uri="{FF2B5EF4-FFF2-40B4-BE49-F238E27FC236}">
                <a16:creationId xmlns:a16="http://schemas.microsoft.com/office/drawing/2014/main" id="{06E71B6B-9F34-4EC1-AE93-A4D585B796A1}"/>
              </a:ext>
            </a:extLst>
          </p:cNvPr>
          <p:cNvSpPr>
            <a:spLocks xmlns:a="http://schemas.openxmlformats.org/drawingml/2006/main" noGrp="1"/>
          </p:cNvSpPr>
          <p:nvPr/>
        </p:nvSpPr>
        <p:spPr>
          <a:xfrm xmlns:a="http://schemas.openxmlformats.org/drawingml/2006/main">
            <a:off x="6667500" y="141922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087F5B"/>
                </a:solidFill>
                <a:latin typeface="Aptos"/>
                <a:ea typeface="Aptos"/>
                <a:cs typeface="Aptos"/>
              </a:defRPr>
            </a:pPr>
            <a:r>
              <a:rPr sz="1275" b="1">
                <a:solidFill>
                  <a:srgbClr val="087F5B"/>
                </a:solidFill>
                <a:latin typeface="Aptos"/>
                <a:ea typeface="Aptos"/>
                <a:cs typeface="Aptos"/>
              </a:rPr>
              <a:t>В src/train.py</a:t>
            </a:r>
          </a:p>
        </p:txBody>
      </p:sp>
      <p:sp>
        <p:nvSpPr>
          <p:cNvPr id="13" name="s29-after">
            <a:extLst xmlns:a="http://schemas.openxmlformats.org/drawingml/2006/main">
              <a:ext uri="{FF2B5EF4-FFF2-40B4-BE49-F238E27FC236}">
                <a16:creationId xmlns:a16="http://schemas.microsoft.com/office/drawing/2014/main" id="{3B8D38E5-1DDA-4ABB-ABA9-1332E743A5AE}"/>
              </a:ext>
            </a:extLst>
          </p:cNvPr>
          <p:cNvSpPr>
            <a:spLocks xmlns:a="http://schemas.openxmlformats.org/drawingml/2006/main" noGrp="1"/>
          </p:cNvSpPr>
          <p:nvPr/>
        </p:nvSpPr>
        <p:spPr>
          <a:xfrm xmlns:a="http://schemas.openxmlformats.org/drawingml/2006/main">
            <a:off x="6667500" y="1714500"/>
            <a:ext cx="4762500" cy="2619375"/>
          </a:xfrm>
          <a:prstGeom xmlns:a="http://schemas.openxmlformats.org/drawingml/2006/main" prst="roundRect">
            <a:avLst>
              <a:gd name="adj" fmla="val 1455"/>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114300" rIns="114300" bIns="114300" anchor="t">
            <a:normAutofit/>
          </a:bodyPr>
          <a:lstStyle xmlns:a="http://schemas.openxmlformats.org/drawingml/2006/main"/>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def train(data_path, model_path):</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    df = load_data(data_path)</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    model = build_model()</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    model.fit(df[FEATURES], df[TARGET])</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    joblib.dump(model, model_path)</a:t>
            </a:r>
          </a:p>
        </p:txBody>
      </p:sp>
      <p:cxnSp>
        <p:nvCxnSpPr>
          <p:cNvPr id="54" name="Прямая со стрелкой 40"/>
          <p:cNvCxnSpPr>
            <a:stCxn xmlns:a="http://schemas.openxmlformats.org/drawingml/2006/main" id="11" idx="3"/>
            <a:endCxn xmlns:a="http://schemas.openxmlformats.org/drawingml/2006/main" id="13" idx="1"/>
          </p:cNvCxnSpPr>
          <p:nvPr/>
        </p:nvCxnSpPr>
        <p:spPr>
          <a:xfrm xmlns:a="http://schemas.openxmlformats.org/drawingml/2006/main">
            <a:off x="5429250" y="3024188"/>
            <a:ext cx="1238250" cy="0"/>
          </a:xfrm>
          <a:prstGeom xmlns:a="http://schemas.openxmlformats.org/drawingml/2006/main" prst="straightConnector1">
            <a:avLst/>
          </a:prstGeom>
          <a:ln xmlns:a="http://schemas.openxmlformats.org/drawingml/2006/main" w="23813">
            <a:solidFill>
              <a:srgbClr val="2F66E8"/>
            </a:solidFill>
            <a:prstDash val="solid"/>
            <a:tailEnd type="triangle" w="sm" len="sm"/>
          </a:ln>
        </p:spPr>
      </p:cxnSp>
      <p:sp>
        <p:nvSpPr>
          <p:cNvPr id="15" name="s29-caption">
            <a:extLst xmlns:a="http://schemas.openxmlformats.org/drawingml/2006/main">
              <a:ext uri="{FF2B5EF4-FFF2-40B4-BE49-F238E27FC236}">
                <a16:creationId xmlns:a16="http://schemas.microsoft.com/office/drawing/2014/main" id="{E3946965-72A5-43AF-9259-4A9031317CB8}"/>
              </a:ext>
            </a:extLst>
          </p:cNvPr>
          <p:cNvSpPr>
            <a:spLocks xmlns:a="http://schemas.openxmlformats.org/drawingml/2006/main" noGrp="1"/>
          </p:cNvSpPr>
          <p:nvPr/>
        </p:nvSpPr>
        <p:spPr>
          <a:xfrm xmlns:a="http://schemas.openxmlformats.org/drawingml/2006/main">
            <a:off x="4095750" y="4429125"/>
            <a:ext cx="3905250" cy="428625"/>
          </a:xfrm>
          <a:prstGeom xmlns:a="http://schemas.openxmlformats.org/drawingml/2006/main" prst="roundRect">
            <a:avLst>
              <a:gd name="adj" fmla="val 8889"/>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Путь и модель стали явными параметрами</a:t>
            </a:r>
          </a:p>
        </p:txBody>
      </p:sp>
    </p:spTree>
    <p:extLst>
      <p:ext uri="{BB962C8B-B14F-4D97-AF65-F5344CB8AC3E}">
        <p14:creationId xmlns:p14="http://schemas.microsoft.com/office/powerpoint/2010/main" val="214236479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00E40D-A14F-490F-AAEC-41F25904DFB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ПРЕОБРАЗОВАНИЕ</a:t>
            </a:r>
            <a:endParaRPr sz="850"/>
          </a:p>
        </p:txBody>
      </p:sp>
      <p:sp>
        <p:nvSpPr>
          <p:cNvPr id="3" name="Text 1">
            <a:extLst xmlns:a="http://schemas.openxmlformats.org/drawingml/2006/main">
              <a:ext uri="{FF2B5EF4-FFF2-40B4-BE49-F238E27FC236}">
                <a16:creationId xmlns:a16="http://schemas.microsoft.com/office/drawing/2014/main" id="{A9A05A96-2EC7-4D5C-8A89-3AF39510B193}"/>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Разделение монолитного скрипта</a:t>
            </a:r>
            <a:endParaRPr sz="2300"/>
          </a:p>
        </p:txBody>
      </p:sp>
      <p:sp>
        <p:nvSpPr>
          <p:cNvPr id="4" name="Text 2">
            <a:extLst xmlns:a="http://schemas.openxmlformats.org/drawingml/2006/main">
              <a:ext uri="{FF2B5EF4-FFF2-40B4-BE49-F238E27FC236}">
                <a16:creationId xmlns:a16="http://schemas.microsoft.com/office/drawing/2014/main" id="{8E82D81A-CB18-4AD3-AB8D-BAD315C23B56}"/>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DBD1E166-74D4-42E0-A976-BA669553B5A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36C23F64-AF65-4745-8D17-EC0E8CA2A0EB}"/>
              </a:ext>
            </a:extLst>
          </p:cNvPr>
          <p:cNvSpPr>
            <a:spLocks xmlns:a="http://schemas.openxmlformats.org/drawingml/2006/main" noGrp="1"/>
          </p:cNvSpPr>
          <p:nvPr/>
        </p:nvSpPr>
        <p:spPr>
          <a:xfrm xmlns:a="http://schemas.openxmlformats.org/drawingml/2006/main">
            <a:off x="666750" y="5219700"/>
            <a:ext cx="9334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defRPr sz="1200" i="1">
                <a:solidFill>
                  <a:srgbClr val="546274"/>
                </a:solidFill>
                <a:latin typeface="Aptos"/>
                <a:ea typeface="Aptos"/>
                <a:cs typeface="Aptos"/>
              </a:defRPr>
            </a:pPr>
            <a:r>
              <a:rPr sz="1200" i="1">
                <a:solidFill>
                  <a:srgbClr val="546274"/>
                </a:solidFill>
                <a:latin typeface="Aptos"/>
                <a:ea typeface="Aptos"/>
                <a:cs typeface="Aptos"/>
              </a:rPr>
              <a:t>Переход: Связи файлов проекта</a:t>
            </a:r>
            <a:endParaRPr sz="1200"/>
          </a:p>
        </p:txBody>
      </p:sp>
      <p:sp>
        <p:nvSpPr>
          <p:cNvPr id="7" name="Shape 5">
            <a:extLst xmlns:a="http://schemas.openxmlformats.org/drawingml/2006/main">
              <a:ext uri="{FF2B5EF4-FFF2-40B4-BE49-F238E27FC236}">
                <a16:creationId xmlns:a16="http://schemas.microsoft.com/office/drawing/2014/main" id="{307F7DC1-B752-4E2F-949B-DA0424B34A50}"/>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A5793C75-766F-4B17-986C-9F6FCA70397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FD02D699-4A0F-4441-A5B2-C7CE1B6616EB}"/>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30</a:t>
            </a:r>
            <a:endParaRPr sz="850"/>
          </a:p>
        </p:txBody>
      </p:sp>
      <p:sp>
        <p:nvSpPr>
          <p:cNvPr id="10" name="s30-source">
            <a:extLst xmlns:a="http://schemas.openxmlformats.org/drawingml/2006/main">
              <a:ext uri="{FF2B5EF4-FFF2-40B4-BE49-F238E27FC236}">
                <a16:creationId xmlns:a16="http://schemas.microsoft.com/office/drawing/2014/main" id="{6645D0FF-3B7B-4E30-B81E-7C8B8CD65AEF}"/>
              </a:ext>
            </a:extLst>
          </p:cNvPr>
          <p:cNvSpPr>
            <a:spLocks xmlns:a="http://schemas.openxmlformats.org/drawingml/2006/main" noGrp="1"/>
          </p:cNvSpPr>
          <p:nvPr/>
        </p:nvSpPr>
        <p:spPr>
          <a:xfrm xmlns:a="http://schemas.openxmlformats.org/drawingml/2006/main">
            <a:off x="714375" y="1809750"/>
            <a:ext cx="2333625" cy="1952625"/>
          </a:xfrm>
          <a:prstGeom xmlns:a="http://schemas.openxmlformats.org/drawingml/2006/main" prst="roundRect">
            <a:avLst>
              <a:gd name="adj" fmla="val 4878"/>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425" b="1">
                <a:solidFill>
                  <a:srgbClr val="151E2F"/>
                </a:solidFill>
                <a:latin typeface="Consolas"/>
                <a:ea typeface="Consolas"/>
                <a:cs typeface="Consolas"/>
              </a:defRPr>
            </a:pPr>
            <a:r>
              <a:rPr sz="1425" b="1">
                <a:solidFill>
                  <a:srgbClr val="151E2F"/>
                </a:solidFill>
                <a:latin typeface="Consolas"/>
                <a:ea typeface="Consolas"/>
                <a:cs typeface="Consolas"/>
              </a:rPr>
              <a:t>analysis.py</a:t>
            </a:r>
          </a:p>
          <a:p xmlns:a="http://schemas.openxmlformats.org/drawingml/2006/main">
            <a:endParaRPr sz="1425" b="1">
              <a:solidFill>
                <a:srgbClr val="151E2F"/>
              </a:solidFill>
              <a:latin typeface="Consolas"/>
              <a:ea typeface="Consolas"/>
              <a:cs typeface="Consolas"/>
            </a:endParaRPr>
          </a:p>
          <a:p xmlns:a="http://schemas.openxmlformats.org/drawingml/2006/main">
            <a:pPr algn="ctr">
              <a:buNone/>
              <a:defRPr sz="1425" b="1">
                <a:solidFill>
                  <a:srgbClr val="151E2F"/>
                </a:solidFill>
                <a:latin typeface="Consolas"/>
                <a:ea typeface="Consolas"/>
                <a:cs typeface="Consolas"/>
              </a:defRPr>
            </a:pPr>
            <a:r>
              <a:rPr sz="1425" b="1">
                <a:solidFill>
                  <a:srgbClr val="151E2F"/>
                </a:solidFill>
                <a:latin typeface="Consolas"/>
                <a:ea typeface="Consolas"/>
                <a:cs typeface="Consolas"/>
              </a:rPr>
              <a:t>read_csv()</a:t>
            </a:r>
          </a:p>
          <a:p xmlns:a="http://schemas.openxmlformats.org/drawingml/2006/main">
            <a:pPr algn="ctr">
              <a:buNone/>
              <a:defRPr sz="1425" b="1">
                <a:solidFill>
                  <a:srgbClr val="151E2F"/>
                </a:solidFill>
                <a:latin typeface="Consolas"/>
                <a:ea typeface="Consolas"/>
                <a:cs typeface="Consolas"/>
              </a:defRPr>
            </a:pPr>
            <a:r>
              <a:rPr sz="1425" b="1">
                <a:solidFill>
                  <a:srgbClr val="151E2F"/>
                </a:solidFill>
                <a:latin typeface="Consolas"/>
                <a:ea typeface="Consolas"/>
                <a:cs typeface="Consolas"/>
              </a:rPr>
              <a:t>fit()</a:t>
            </a:r>
          </a:p>
          <a:p xmlns:a="http://schemas.openxmlformats.org/drawingml/2006/main">
            <a:pPr algn="ctr">
              <a:buNone/>
              <a:defRPr sz="1425" b="1">
                <a:solidFill>
                  <a:srgbClr val="151E2F"/>
                </a:solidFill>
                <a:latin typeface="Consolas"/>
                <a:ea typeface="Consolas"/>
                <a:cs typeface="Consolas"/>
              </a:defRPr>
            </a:pPr>
            <a:r>
              <a:rPr sz="1425" b="1">
                <a:solidFill>
                  <a:srgbClr val="151E2F"/>
                </a:solidFill>
                <a:latin typeface="Consolas"/>
                <a:ea typeface="Consolas"/>
                <a:cs typeface="Consolas"/>
              </a:rPr>
              <a:t>plot()</a:t>
            </a:r>
          </a:p>
          <a:p xmlns:a="http://schemas.openxmlformats.org/drawingml/2006/main">
            <a:pPr algn="ctr">
              <a:buNone/>
              <a:defRPr sz="1425" b="1">
                <a:solidFill>
                  <a:srgbClr val="151E2F"/>
                </a:solidFill>
                <a:latin typeface="Consolas"/>
                <a:ea typeface="Consolas"/>
                <a:cs typeface="Consolas"/>
              </a:defRPr>
            </a:pPr>
            <a:r>
              <a:rPr sz="1425" b="1">
                <a:solidFill>
                  <a:srgbClr val="151E2F"/>
                </a:solidFill>
                <a:latin typeface="Consolas"/>
                <a:ea typeface="Consolas"/>
                <a:cs typeface="Consolas"/>
              </a:rPr>
              <a:t>predict()</a:t>
            </a:r>
          </a:p>
        </p:txBody>
      </p:sp>
      <p:sp>
        <p:nvSpPr>
          <p:cNvPr id="11" name="s30-source-label">
            <a:extLst xmlns:a="http://schemas.openxmlformats.org/drawingml/2006/main">
              <a:ext uri="{FF2B5EF4-FFF2-40B4-BE49-F238E27FC236}">
                <a16:creationId xmlns:a16="http://schemas.microsoft.com/office/drawing/2014/main" id="{76AD9AF8-6D86-409C-94E9-4F74846E9D6D}"/>
              </a:ext>
            </a:extLst>
          </p:cNvPr>
          <p:cNvSpPr>
            <a:spLocks xmlns:a="http://schemas.openxmlformats.org/drawingml/2006/main" noGrp="1"/>
          </p:cNvSpPr>
          <p:nvPr/>
        </p:nvSpPr>
        <p:spPr>
          <a:xfrm xmlns:a="http://schemas.openxmlformats.org/drawingml/2006/main">
            <a:off x="714375" y="14287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B95A08"/>
                </a:solidFill>
                <a:latin typeface="Aptos"/>
                <a:ea typeface="Aptos"/>
                <a:cs typeface="Aptos"/>
              </a:defRPr>
            </a:pPr>
            <a:r>
              <a:rPr sz="1275" b="1">
                <a:solidFill>
                  <a:srgbClr val="B95A08"/>
                </a:solidFill>
                <a:latin typeface="Aptos"/>
                <a:ea typeface="Aptos"/>
                <a:cs typeface="Aptos"/>
              </a:rPr>
              <a:t>Входной файл</a:t>
            </a:r>
          </a:p>
        </p:txBody>
      </p:sp>
      <p:sp>
        <p:nvSpPr>
          <p:cNvPr id="12" name="s30-split">
            <a:extLst xmlns:a="http://schemas.openxmlformats.org/drawingml/2006/main">
              <a:ext uri="{FF2B5EF4-FFF2-40B4-BE49-F238E27FC236}">
                <a16:creationId xmlns:a16="http://schemas.microsoft.com/office/drawing/2014/main" id="{1C44E006-37A9-43A6-B802-82958F94BE2D}"/>
              </a:ext>
            </a:extLst>
          </p:cNvPr>
          <p:cNvSpPr>
            <a:spLocks xmlns:a="http://schemas.openxmlformats.org/drawingml/2006/main" noGrp="1"/>
          </p:cNvSpPr>
          <p:nvPr/>
        </p:nvSpPr>
        <p:spPr>
          <a:xfrm xmlns:a="http://schemas.openxmlformats.org/drawingml/2006/main">
            <a:off x="3333750" y="2333625"/>
            <a:ext cx="857250" cy="904875"/>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2383">
            <a:solidFill>
              <a:srgbClr val="546274"/>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125" b="1">
                <a:solidFill>
                  <a:srgbClr val="151E2F"/>
                </a:solidFill>
                <a:latin typeface="Aptos"/>
                <a:ea typeface="Aptos"/>
                <a:cs typeface="Aptos"/>
              </a:defRPr>
            </a:pPr>
            <a:r>
              <a:rPr sz="1125" b="1">
                <a:solidFill>
                  <a:srgbClr val="151E2F"/>
                </a:solidFill>
                <a:latin typeface="Aptos"/>
                <a:ea typeface="Aptos"/>
                <a:cs typeface="Aptos"/>
              </a:rPr>
              <a:t>разделить</a:t>
            </a:r>
          </a:p>
          <a:p xmlns:a="http://schemas.openxmlformats.org/drawingml/2006/main">
            <a:pPr algn="ctr">
              <a:buNone/>
              <a:defRPr sz="1125" b="1">
                <a:solidFill>
                  <a:srgbClr val="151E2F"/>
                </a:solidFill>
                <a:latin typeface="Aptos"/>
                <a:ea typeface="Aptos"/>
                <a:cs typeface="Aptos"/>
              </a:defRPr>
            </a:pPr>
            <a:r>
              <a:rPr sz="1125" b="1">
                <a:solidFill>
                  <a:srgbClr val="151E2F"/>
                </a:solidFill>
                <a:latin typeface="Aptos"/>
                <a:ea typeface="Aptos"/>
                <a:cs typeface="Aptos"/>
              </a:rPr>
              <a:t>по ролям</a:t>
            </a:r>
          </a:p>
        </p:txBody>
      </p:sp>
      <p:sp>
        <p:nvSpPr>
          <p:cNvPr id="13" name="s30-data">
            <a:extLst xmlns:a="http://schemas.openxmlformats.org/drawingml/2006/main">
              <a:ext uri="{FF2B5EF4-FFF2-40B4-BE49-F238E27FC236}">
                <a16:creationId xmlns:a16="http://schemas.microsoft.com/office/drawing/2014/main" id="{AA0D816D-4E46-425D-86A0-CC8093DD434F}"/>
              </a:ext>
            </a:extLst>
          </p:cNvPr>
          <p:cNvSpPr>
            <a:spLocks xmlns:a="http://schemas.openxmlformats.org/drawingml/2006/main" noGrp="1"/>
          </p:cNvSpPr>
          <p:nvPr/>
        </p:nvSpPr>
        <p:spPr>
          <a:xfrm xmlns:a="http://schemas.openxmlformats.org/drawingml/2006/main">
            <a:off x="4476750" y="1381125"/>
            <a:ext cx="2238375" cy="857250"/>
          </a:xfrm>
          <a:prstGeom xmlns:a="http://schemas.openxmlformats.org/drawingml/2006/main" prst="roundRect">
            <a:avLst>
              <a:gd name="adj" fmla="val 11111"/>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src/data.py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load_data(path)</a:t>
            </a:r>
          </a:p>
        </p:txBody>
      </p:sp>
      <p:sp>
        <p:nvSpPr>
          <p:cNvPr id="14" name="s30-train">
            <a:extLst xmlns:a="http://schemas.openxmlformats.org/drawingml/2006/main">
              <a:ext uri="{FF2B5EF4-FFF2-40B4-BE49-F238E27FC236}">
                <a16:creationId xmlns:a16="http://schemas.microsoft.com/office/drawing/2014/main" id="{0F898544-9F4E-487E-AC87-71251EE2A661}"/>
              </a:ext>
            </a:extLst>
          </p:cNvPr>
          <p:cNvSpPr>
            <a:spLocks xmlns:a="http://schemas.openxmlformats.org/drawingml/2006/main" noGrp="1"/>
          </p:cNvSpPr>
          <p:nvPr/>
        </p:nvSpPr>
        <p:spPr>
          <a:xfrm xmlns:a="http://schemas.openxmlformats.org/drawingml/2006/main">
            <a:off x="7524750" y="1381125"/>
            <a:ext cx="2238375" cy="857250"/>
          </a:xfrm>
          <a:prstGeom xmlns:a="http://schemas.openxmlformats.org/drawingml/2006/main" prst="roundRect">
            <a:avLst>
              <a:gd name="adj" fmla="val 11111"/>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src/train.py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train(config)</a:t>
            </a:r>
          </a:p>
        </p:txBody>
      </p:sp>
      <p:sp>
        <p:nvSpPr>
          <p:cNvPr id="15" name="s30-predict">
            <a:extLst xmlns:a="http://schemas.openxmlformats.org/drawingml/2006/main">
              <a:ext uri="{FF2B5EF4-FFF2-40B4-BE49-F238E27FC236}">
                <a16:creationId xmlns:a16="http://schemas.microsoft.com/office/drawing/2014/main" id="{977B08B3-8277-4C6E-9F5A-C9F9C7A28A05}"/>
              </a:ext>
            </a:extLst>
          </p:cNvPr>
          <p:cNvSpPr>
            <a:spLocks xmlns:a="http://schemas.openxmlformats.org/drawingml/2006/main" noGrp="1"/>
          </p:cNvSpPr>
          <p:nvPr/>
        </p:nvSpPr>
        <p:spPr>
          <a:xfrm xmlns:a="http://schemas.openxmlformats.org/drawingml/2006/main">
            <a:off x="4476750" y="2857500"/>
            <a:ext cx="2238375" cy="857250"/>
          </a:xfrm>
          <a:prstGeom xmlns:a="http://schemas.openxmlformats.org/drawingml/2006/main" prst="roundRect">
            <a:avLst>
              <a:gd name="adj" fmla="val 11111"/>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src/predict.py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predict(input)</a:t>
            </a:r>
          </a:p>
        </p:txBody>
      </p:sp>
      <p:sp>
        <p:nvSpPr>
          <p:cNvPr id="16" name="s30-tests">
            <a:extLst xmlns:a="http://schemas.openxmlformats.org/drawingml/2006/main">
              <a:ext uri="{FF2B5EF4-FFF2-40B4-BE49-F238E27FC236}">
                <a16:creationId xmlns:a16="http://schemas.microsoft.com/office/drawing/2014/main" id="{3EF4E1A2-E87E-4E3E-8D00-66F0DE58AF09}"/>
              </a:ext>
            </a:extLst>
          </p:cNvPr>
          <p:cNvSpPr>
            <a:spLocks xmlns:a="http://schemas.openxmlformats.org/drawingml/2006/main" noGrp="1"/>
          </p:cNvSpPr>
          <p:nvPr/>
        </p:nvSpPr>
        <p:spPr>
          <a:xfrm xmlns:a="http://schemas.openxmlformats.org/drawingml/2006/main">
            <a:off x="7524750" y="2857500"/>
            <a:ext cx="2238375" cy="857250"/>
          </a:xfrm>
          <a:prstGeom xmlns:a="http://schemas.openxmlformats.org/drawingml/2006/main" prst="roundRect">
            <a:avLst>
              <a:gd name="adj" fmla="val 11111"/>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tests/</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test_predict.py</a:t>
            </a:r>
          </a:p>
        </p:txBody>
      </p:sp>
      <p:cxnSp>
        <p:nvCxnSpPr>
          <p:cNvPr id="79" name="Прямая со стрелкой 58"/>
          <p:cNvCxnSpPr>
            <a:stCxn xmlns:a="http://schemas.openxmlformats.org/drawingml/2006/main" id="10" idx="3"/>
            <a:endCxn xmlns:a="http://schemas.openxmlformats.org/drawingml/2006/main" id="12" idx="1"/>
          </p:cNvCxnSpPr>
          <p:nvPr/>
        </p:nvCxnSpPr>
        <p:spPr>
          <a:xfrm xmlns:a="http://schemas.openxmlformats.org/drawingml/2006/main">
            <a:off x="3048000" y="2786063"/>
            <a:ext cx="285750" cy="0"/>
          </a:xfrm>
          <a:prstGeom xmlns:a="http://schemas.openxmlformats.org/drawingml/2006/main" prst="straightConnector1">
            <a:avLst/>
          </a:prstGeom>
          <a:ln xmlns:a="http://schemas.openxmlformats.org/drawingml/2006/main" w="19050">
            <a:solidFill>
              <a:srgbClr val="7C8798"/>
            </a:solidFill>
            <a:prstDash val="solid"/>
            <a:tailEnd type="triangle" w="sm" len="sm"/>
          </a:ln>
        </p:spPr>
      </p:cxnSp>
      <p:cxnSp>
        <p:nvCxnSpPr>
          <p:cNvPr id="80" name="Соединитель: уступ 59"/>
          <p:cNvCxnSpPr>
            <a:stCxn xmlns:a="http://schemas.openxmlformats.org/drawingml/2006/main" id="12" idx="3"/>
            <a:endCxn xmlns:a="http://schemas.openxmlformats.org/drawingml/2006/main" id="13" idx="1"/>
          </p:cNvCxnSpPr>
          <p:nvPr/>
        </p:nvCxnSpPr>
        <p:spPr>
          <a:xfrm xmlns:a="http://schemas.openxmlformats.org/drawingml/2006/main" flipV="1">
            <a:off x="4191000" y="1809750"/>
            <a:ext cx="285750" cy="976313"/>
          </a:xfrm>
          <a:prstGeom xmlns:a="http://schemas.openxmlformats.org/drawingml/2006/main" prst="bentConnector3">
            <a:avLst>
              <a:gd name="adj1" fmla="val 50000"/>
            </a:avLst>
          </a:prstGeom>
          <a:ln xmlns:a="http://schemas.openxmlformats.org/drawingml/2006/main" w="19050">
            <a:solidFill>
              <a:srgbClr val="7C8798"/>
            </a:solidFill>
            <a:prstDash val="solid"/>
            <a:tailEnd type="triangle" w="sm" len="sm"/>
          </a:ln>
        </p:spPr>
      </p:cxnSp>
      <p:cxnSp>
        <p:nvCxnSpPr>
          <p:cNvPr id="81" name="Соединитель: уступ 60"/>
          <p:cNvCxnSpPr>
            <a:stCxn xmlns:a="http://schemas.openxmlformats.org/drawingml/2006/main" id="12" idx="3"/>
            <a:endCxn xmlns:a="http://schemas.openxmlformats.org/drawingml/2006/main" id="14" idx="1"/>
          </p:cNvCxnSpPr>
          <p:nvPr/>
        </p:nvCxnSpPr>
        <p:spPr>
          <a:xfrm xmlns:a="http://schemas.openxmlformats.org/drawingml/2006/main" flipV="1">
            <a:off x="4191000" y="1809750"/>
            <a:ext cx="3333750" cy="976313"/>
          </a:xfrm>
          <a:prstGeom xmlns:a="http://schemas.openxmlformats.org/drawingml/2006/main" prst="bentConnector3">
            <a:avLst>
              <a:gd name="adj1" fmla="val 83076"/>
            </a:avLst>
          </a:prstGeom>
          <a:ln xmlns:a="http://schemas.openxmlformats.org/drawingml/2006/main" w="19050">
            <a:solidFill>
              <a:srgbClr val="7C8798"/>
            </a:solidFill>
            <a:prstDash val="solid"/>
            <a:tailEnd type="triangle" w="sm" len="sm"/>
          </a:ln>
        </p:spPr>
      </p:cxnSp>
      <p:cxnSp>
        <p:nvCxnSpPr>
          <p:cNvPr id="82" name="Соединитель: уступ 61"/>
          <p:cNvCxnSpPr>
            <a:stCxn xmlns:a="http://schemas.openxmlformats.org/drawingml/2006/main" id="12" idx="3"/>
            <a:endCxn xmlns:a="http://schemas.openxmlformats.org/drawingml/2006/main" id="15" idx="1"/>
          </p:cNvCxnSpPr>
          <p:nvPr/>
        </p:nvCxnSpPr>
        <p:spPr>
          <a:xfrm xmlns:a="http://schemas.openxmlformats.org/drawingml/2006/main">
            <a:off x="4191000" y="2786063"/>
            <a:ext cx="285750" cy="500063"/>
          </a:xfrm>
          <a:prstGeom xmlns:a="http://schemas.openxmlformats.org/drawingml/2006/main" prst="bentConnector3">
            <a:avLst>
              <a:gd name="adj1" fmla="val 50000"/>
            </a:avLst>
          </a:prstGeom>
          <a:ln xmlns:a="http://schemas.openxmlformats.org/drawingml/2006/main" w="19050">
            <a:solidFill>
              <a:srgbClr val="7C8798"/>
            </a:solidFill>
            <a:prstDash val="solid"/>
            <a:tailEnd type="triangle" w="sm" len="sm"/>
          </a:ln>
        </p:spPr>
      </p:cxnSp>
      <p:cxnSp>
        <p:nvCxnSpPr>
          <p:cNvPr id="83" name="Соединитель: уступ 62"/>
          <p:cNvCxnSpPr>
            <a:stCxn xmlns:a="http://schemas.openxmlformats.org/drawingml/2006/main" id="12" idx="3"/>
            <a:endCxn xmlns:a="http://schemas.openxmlformats.org/drawingml/2006/main" id="16" idx="1"/>
          </p:cNvCxnSpPr>
          <p:nvPr/>
        </p:nvCxnSpPr>
        <p:spPr>
          <a:xfrm xmlns:a="http://schemas.openxmlformats.org/drawingml/2006/main">
            <a:off x="4191000" y="2786063"/>
            <a:ext cx="3333750" cy="500063"/>
          </a:xfrm>
          <a:prstGeom xmlns:a="http://schemas.openxmlformats.org/drawingml/2006/main" prst="bentConnector3">
            <a:avLst>
              <a:gd name="adj1" fmla="val 83076"/>
            </a:avLst>
          </a:prstGeom>
          <a:ln xmlns:a="http://schemas.openxmlformats.org/drawingml/2006/main" w="19050">
            <a:solidFill>
              <a:srgbClr val="7C8798"/>
            </a:solidFill>
            <a:prstDash val="solid"/>
            <a:tailEnd type="triangle" w="sm" len="sm"/>
          </a:ln>
        </p:spPr>
      </p:cxnSp>
      <p:sp>
        <p:nvSpPr>
          <p:cNvPr id="22" name="s30-code-label">
            <a:extLst xmlns:a="http://schemas.openxmlformats.org/drawingml/2006/main">
              <a:ext uri="{FF2B5EF4-FFF2-40B4-BE49-F238E27FC236}">
                <a16:creationId xmlns:a16="http://schemas.microsoft.com/office/drawing/2014/main" id="{39ED474F-6697-4EE0-97A0-25DDE0272076}"/>
              </a:ext>
            </a:extLst>
          </p:cNvPr>
          <p:cNvSpPr>
            <a:spLocks xmlns:a="http://schemas.openxmlformats.org/drawingml/2006/main" noGrp="1"/>
          </p:cNvSpPr>
          <p:nvPr/>
        </p:nvSpPr>
        <p:spPr>
          <a:xfrm xmlns:a="http://schemas.openxmlformats.org/drawingml/2006/main">
            <a:off x="4476750" y="3943350"/>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546274"/>
                </a:solidFill>
                <a:latin typeface="Aptos"/>
                <a:ea typeface="Aptos"/>
                <a:cs typeface="Aptos"/>
              </a:defRPr>
            </a:pPr>
            <a:r>
              <a:rPr sz="1275" b="1">
                <a:solidFill>
                  <a:srgbClr val="546274"/>
                </a:solidFill>
                <a:latin typeface="Aptos"/>
                <a:ea typeface="Aptos"/>
                <a:cs typeface="Aptos"/>
              </a:rPr>
              <a:t>Связь модулей</a:t>
            </a:r>
          </a:p>
        </p:txBody>
      </p:sp>
      <p:sp>
        <p:nvSpPr>
          <p:cNvPr id="23" name="s30-code">
            <a:extLst xmlns:a="http://schemas.openxmlformats.org/drawingml/2006/main">
              <a:ext uri="{FF2B5EF4-FFF2-40B4-BE49-F238E27FC236}">
                <a16:creationId xmlns:a16="http://schemas.microsoft.com/office/drawing/2014/main" id="{2EA50EAC-1901-461D-A176-2608C1F2061A}"/>
              </a:ext>
            </a:extLst>
          </p:cNvPr>
          <p:cNvSpPr>
            <a:spLocks xmlns:a="http://schemas.openxmlformats.org/drawingml/2006/main" noGrp="1"/>
          </p:cNvSpPr>
          <p:nvPr/>
        </p:nvSpPr>
        <p:spPr>
          <a:xfrm xmlns:a="http://schemas.openxmlformats.org/drawingml/2006/main">
            <a:off x="4476750" y="4238625"/>
            <a:ext cx="5286375" cy="590550"/>
          </a:xfrm>
          <a:prstGeom xmlns:a="http://schemas.openxmlformats.org/drawingml/2006/main" prst="roundRect">
            <a:avLst>
              <a:gd name="adj" fmla="val 6452"/>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114300" rIns="114300" bIns="114300" anchor="t">
            <a:normAutofit fontScale="90039" lnSpcReduction="10000"/>
          </a:bodyPr>
          <a:lstStyle xmlns:a="http://schemas.openxmlformats.org/drawingml/2006/main"/>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from src.data import load_data</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model = train(load_data(path), config)</a:t>
            </a:r>
          </a:p>
        </p:txBody>
      </p:sp>
    </p:spTree>
    <p:extLst>
      <p:ext uri="{BB962C8B-B14F-4D97-AF65-F5344CB8AC3E}">
        <p14:creationId xmlns:p14="http://schemas.microsoft.com/office/powerpoint/2010/main" val="17543332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4A1684-1610-42A8-BDF9-0AFBF885EBCC}"/>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ПРЕОБРАЗОВАНИЕ</a:t>
            </a:r>
            <a:endParaRPr sz="850"/>
          </a:p>
        </p:txBody>
      </p:sp>
      <p:sp>
        <p:nvSpPr>
          <p:cNvPr id="3" name="Text 1">
            <a:extLst xmlns:a="http://schemas.openxmlformats.org/drawingml/2006/main">
              <a:ext uri="{FF2B5EF4-FFF2-40B4-BE49-F238E27FC236}">
                <a16:creationId xmlns:a16="http://schemas.microsoft.com/office/drawing/2014/main" id="{81854CB8-80EA-40C1-8888-657B9E6425F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Связи файлов проекта</a:t>
            </a:r>
            <a:endParaRPr sz="2300"/>
          </a:p>
        </p:txBody>
      </p:sp>
      <p:sp>
        <p:nvSpPr>
          <p:cNvPr id="4" name="Text 2">
            <a:extLst xmlns:a="http://schemas.openxmlformats.org/drawingml/2006/main">
              <a:ext uri="{FF2B5EF4-FFF2-40B4-BE49-F238E27FC236}">
                <a16:creationId xmlns:a16="http://schemas.microsoft.com/office/drawing/2014/main" id="{8319C40B-5AAB-4BE7-9963-9D7E2A78D00B}"/>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4D8BD93F-86D4-4B44-97C1-B44A0C0C054E}"/>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B8822645-3FFA-4F97-A8BC-137AA6F6985E}"/>
              </a:ext>
            </a:extLst>
          </p:cNvPr>
          <p:cNvSpPr>
            <a:spLocks xmlns:a="http://schemas.openxmlformats.org/drawingml/2006/main" noGrp="1"/>
          </p:cNvSpPr>
          <p:nvPr/>
        </p:nvSpPr>
        <p:spPr>
          <a:xfrm xmlns:a="http://schemas.openxmlformats.org/drawingml/2006/main">
            <a:off x="666750" y="5219700"/>
            <a:ext cx="9334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defRPr sz="1200" i="1">
                <a:solidFill>
                  <a:srgbClr val="546274"/>
                </a:solidFill>
                <a:latin typeface="Aptos"/>
                <a:ea typeface="Aptos"/>
                <a:cs typeface="Aptos"/>
              </a:defRPr>
            </a:pPr>
            <a:r>
              <a:rPr sz="1200" i="1">
                <a:solidFill>
                  <a:srgbClr val="546274"/>
                </a:solidFill>
                <a:latin typeface="Aptos"/>
                <a:ea typeface="Aptos"/>
                <a:cs typeface="Aptos"/>
              </a:rPr>
              <a:t>Переход: Исходные материалы и Git</a:t>
            </a:r>
            <a:endParaRPr sz="1200"/>
          </a:p>
        </p:txBody>
      </p:sp>
      <p:sp>
        <p:nvSpPr>
          <p:cNvPr id="7" name="Shape 5">
            <a:extLst xmlns:a="http://schemas.openxmlformats.org/drawingml/2006/main">
              <a:ext uri="{FF2B5EF4-FFF2-40B4-BE49-F238E27FC236}">
                <a16:creationId xmlns:a16="http://schemas.microsoft.com/office/drawing/2014/main" id="{B6C9041A-F40D-41C4-9E5D-425F9C46A91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3AF599E8-7FE5-4A2C-99EC-FF492089EE08}"/>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029039F2-052F-4EA3-B0BD-19A1971503F1}"/>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31</a:t>
            </a:r>
            <a:endParaRPr sz="850"/>
          </a:p>
        </p:txBody>
      </p:sp>
      <p:sp>
        <p:nvSpPr>
          <p:cNvPr id="10" name="s31-data">
            <a:extLst xmlns:a="http://schemas.openxmlformats.org/drawingml/2006/main">
              <a:ext uri="{FF2B5EF4-FFF2-40B4-BE49-F238E27FC236}">
                <a16:creationId xmlns:a16="http://schemas.microsoft.com/office/drawing/2014/main" id="{6885A8A6-E44E-4255-88CE-11F7A1F7C135}"/>
              </a:ext>
            </a:extLst>
          </p:cNvPr>
          <p:cNvSpPr>
            <a:spLocks xmlns:a="http://schemas.openxmlformats.org/drawingml/2006/main" noGrp="1"/>
          </p:cNvSpPr>
          <p:nvPr/>
        </p:nvSpPr>
        <p:spPr>
          <a:xfrm xmlns:a="http://schemas.openxmlformats.org/drawingml/2006/main">
            <a:off x="666750" y="2476500"/>
            <a:ext cx="1809750" cy="876300"/>
          </a:xfrm>
          <a:prstGeom xmlns:a="http://schemas.openxmlformats.org/drawingml/2006/main" prst="roundRect">
            <a:avLst>
              <a:gd name="adj" fmla="val 10870"/>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data.py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preprocess.py</a:t>
            </a:r>
          </a:p>
        </p:txBody>
      </p:sp>
      <p:sp>
        <p:nvSpPr>
          <p:cNvPr id="11" name="s31-train">
            <a:extLst xmlns:a="http://schemas.openxmlformats.org/drawingml/2006/main">
              <a:ext uri="{FF2B5EF4-FFF2-40B4-BE49-F238E27FC236}">
                <a16:creationId xmlns:a16="http://schemas.microsoft.com/office/drawing/2014/main" id="{75A6F8C5-EA35-412E-B21E-A5BB381522BB}"/>
              </a:ext>
            </a:extLst>
          </p:cNvPr>
          <p:cNvSpPr>
            <a:spLocks xmlns:a="http://schemas.openxmlformats.org/drawingml/2006/main" noGrp="1"/>
          </p:cNvSpPr>
          <p:nvPr/>
        </p:nvSpPr>
        <p:spPr>
          <a:xfrm xmlns:a="http://schemas.openxmlformats.org/drawingml/2006/main">
            <a:off x="2952750" y="2476500"/>
            <a:ext cx="1714500" cy="876300"/>
          </a:xfrm>
          <a:prstGeom xmlns:a="http://schemas.openxmlformats.org/drawingml/2006/main" prst="roundRect">
            <a:avLst>
              <a:gd name="adj" fmla="val 10870"/>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train.py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train(config)</a:t>
            </a:r>
          </a:p>
        </p:txBody>
      </p:sp>
      <p:sp>
        <p:nvSpPr>
          <p:cNvPr id="12" name="s31-model">
            <a:extLst xmlns:a="http://schemas.openxmlformats.org/drawingml/2006/main">
              <a:ext uri="{FF2B5EF4-FFF2-40B4-BE49-F238E27FC236}">
                <a16:creationId xmlns:a16="http://schemas.microsoft.com/office/drawing/2014/main" id="{36FA0FEA-39EE-407B-B1D0-A10EEFBECC12}"/>
              </a:ext>
            </a:extLst>
          </p:cNvPr>
          <p:cNvSpPr>
            <a:spLocks xmlns:a="http://schemas.openxmlformats.org/drawingml/2006/main" noGrp="1"/>
          </p:cNvSpPr>
          <p:nvPr/>
        </p:nvSpPr>
        <p:spPr>
          <a:xfrm xmlns:a="http://schemas.openxmlformats.org/drawingml/2006/main">
            <a:off x="5143500" y="2476500"/>
            <a:ext cx="1714500" cy="876300"/>
          </a:xfrm>
          <a:prstGeom xmlns:a="http://schemas.openxmlformats.org/drawingml/2006/main" prst="roundRect">
            <a:avLst>
              <a:gd name="adj" fmla="val 10870"/>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models/</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model.pkl</a:t>
            </a:r>
          </a:p>
        </p:txBody>
      </p:sp>
      <p:sp>
        <p:nvSpPr>
          <p:cNvPr id="13" name="s31-predict">
            <a:extLst xmlns:a="http://schemas.openxmlformats.org/drawingml/2006/main">
              <a:ext uri="{FF2B5EF4-FFF2-40B4-BE49-F238E27FC236}">
                <a16:creationId xmlns:a16="http://schemas.microsoft.com/office/drawing/2014/main" id="{D0524C61-4A69-4CE8-9C50-A45DC9E5A40A}"/>
              </a:ext>
            </a:extLst>
          </p:cNvPr>
          <p:cNvSpPr>
            <a:spLocks xmlns:a="http://schemas.openxmlformats.org/drawingml/2006/main" noGrp="1"/>
          </p:cNvSpPr>
          <p:nvPr/>
        </p:nvSpPr>
        <p:spPr>
          <a:xfrm xmlns:a="http://schemas.openxmlformats.org/drawingml/2006/main">
            <a:off x="7334250" y="2476500"/>
            <a:ext cx="1714500" cy="876300"/>
          </a:xfrm>
          <a:prstGeom xmlns:a="http://schemas.openxmlformats.org/drawingml/2006/main" prst="roundRect">
            <a:avLst>
              <a:gd name="adj" fmla="val 10870"/>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predict.py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predict(input)</a:t>
            </a:r>
          </a:p>
        </p:txBody>
      </p:sp>
      <p:sp>
        <p:nvSpPr>
          <p:cNvPr id="14" name="s31-result">
            <a:extLst xmlns:a="http://schemas.openxmlformats.org/drawingml/2006/main">
              <a:ext uri="{FF2B5EF4-FFF2-40B4-BE49-F238E27FC236}">
                <a16:creationId xmlns:a16="http://schemas.microsoft.com/office/drawing/2014/main" id="{622A25F0-46F0-4803-9D85-E3FA5AE14C5D}"/>
              </a:ext>
            </a:extLst>
          </p:cNvPr>
          <p:cNvSpPr>
            <a:spLocks xmlns:a="http://schemas.openxmlformats.org/drawingml/2006/main" noGrp="1"/>
          </p:cNvSpPr>
          <p:nvPr/>
        </p:nvSpPr>
        <p:spPr>
          <a:xfrm xmlns:a="http://schemas.openxmlformats.org/drawingml/2006/main">
            <a:off x="9525000" y="2476500"/>
            <a:ext cx="1714500" cy="876300"/>
          </a:xfrm>
          <a:prstGeom xmlns:a="http://schemas.openxmlformats.org/drawingml/2006/main" prst="roundRect">
            <a:avLst>
              <a:gd name="adj" fmla="val 10870"/>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результат</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класс или JSON</a:t>
            </a:r>
          </a:p>
        </p:txBody>
      </p:sp>
      <p:cxnSp>
        <p:nvCxnSpPr>
          <p:cNvPr id="87" name="Прямая со стрелкой 62"/>
          <p:cNvCxnSpPr>
            <a:stCxn xmlns:a="http://schemas.openxmlformats.org/drawingml/2006/main" id="10" idx="3"/>
            <a:endCxn xmlns:a="http://schemas.openxmlformats.org/drawingml/2006/main" id="11" idx="1"/>
          </p:cNvCxnSpPr>
          <p:nvPr/>
        </p:nvCxnSpPr>
        <p:spPr>
          <a:xfrm xmlns:a="http://schemas.openxmlformats.org/drawingml/2006/main">
            <a:off x="2476500" y="291465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88" name="Прямая со стрелкой 63"/>
          <p:cNvCxnSpPr>
            <a:stCxn xmlns:a="http://schemas.openxmlformats.org/drawingml/2006/main" id="11" idx="3"/>
            <a:endCxn xmlns:a="http://schemas.openxmlformats.org/drawingml/2006/main" id="12" idx="1"/>
          </p:cNvCxnSpPr>
          <p:nvPr/>
        </p:nvCxnSpPr>
        <p:spPr>
          <a:xfrm xmlns:a="http://schemas.openxmlformats.org/drawingml/2006/main">
            <a:off x="4667250" y="291465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89" name="Прямая со стрелкой 64"/>
          <p:cNvCxnSpPr>
            <a:stCxn xmlns:a="http://schemas.openxmlformats.org/drawingml/2006/main" id="12" idx="3"/>
            <a:endCxn xmlns:a="http://schemas.openxmlformats.org/drawingml/2006/main" id="13" idx="1"/>
          </p:cNvCxnSpPr>
          <p:nvPr/>
        </p:nvCxnSpPr>
        <p:spPr>
          <a:xfrm xmlns:a="http://schemas.openxmlformats.org/drawingml/2006/main">
            <a:off x="6858000" y="291465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90" name="Прямая со стрелкой 65"/>
          <p:cNvCxnSpPr>
            <a:stCxn xmlns:a="http://schemas.openxmlformats.org/drawingml/2006/main" id="13" idx="3"/>
            <a:endCxn xmlns:a="http://schemas.openxmlformats.org/drawingml/2006/main" id="14" idx="1"/>
          </p:cNvCxnSpPr>
          <p:nvPr/>
        </p:nvCxnSpPr>
        <p:spPr>
          <a:xfrm xmlns:a="http://schemas.openxmlformats.org/drawingml/2006/main">
            <a:off x="9048750" y="291465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sp>
        <p:nvSpPr>
          <p:cNvPr id="19" name="s31-config">
            <a:extLst xmlns:a="http://schemas.openxmlformats.org/drawingml/2006/main">
              <a:ext uri="{FF2B5EF4-FFF2-40B4-BE49-F238E27FC236}">
                <a16:creationId xmlns:a16="http://schemas.microsoft.com/office/drawing/2014/main" id="{17709A3B-C598-4194-80D3-523E50B848BF}"/>
              </a:ext>
            </a:extLst>
          </p:cNvPr>
          <p:cNvSpPr>
            <a:spLocks xmlns:a="http://schemas.openxmlformats.org/drawingml/2006/main" noGrp="1"/>
          </p:cNvSpPr>
          <p:nvPr/>
        </p:nvSpPr>
        <p:spPr>
          <a:xfrm xmlns:a="http://schemas.openxmlformats.org/drawingml/2006/main">
            <a:off x="2952750" y="1190625"/>
            <a:ext cx="1714500" cy="685800"/>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12383">
            <a:solidFill>
              <a:srgbClr val="546274"/>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config.yaml</a:t>
            </a: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параметры</a:t>
            </a:r>
          </a:p>
        </p:txBody>
      </p:sp>
      <p:sp>
        <p:nvSpPr>
          <p:cNvPr id="20" name="s31-readme">
            <a:extLst xmlns:a="http://schemas.openxmlformats.org/drawingml/2006/main">
              <a:ext uri="{FF2B5EF4-FFF2-40B4-BE49-F238E27FC236}">
                <a16:creationId xmlns:a16="http://schemas.microsoft.com/office/drawing/2014/main" id="{1DA20830-38E1-4D60-8679-BFA391A19E85}"/>
              </a:ext>
            </a:extLst>
          </p:cNvPr>
          <p:cNvSpPr>
            <a:spLocks xmlns:a="http://schemas.openxmlformats.org/drawingml/2006/main" noGrp="1"/>
          </p:cNvSpPr>
          <p:nvPr/>
        </p:nvSpPr>
        <p:spPr>
          <a:xfrm xmlns:a="http://schemas.openxmlformats.org/drawingml/2006/main">
            <a:off x="7334250" y="1190625"/>
            <a:ext cx="1714500" cy="685800"/>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12383">
            <a:solidFill>
              <a:srgbClr val="546274"/>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README / CLI</a:t>
            </a: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команды</a:t>
            </a:r>
          </a:p>
        </p:txBody>
      </p:sp>
      <p:sp>
        <p:nvSpPr>
          <p:cNvPr id="21" name="s31-tests">
            <a:extLst xmlns:a="http://schemas.openxmlformats.org/drawingml/2006/main">
              <a:ext uri="{FF2B5EF4-FFF2-40B4-BE49-F238E27FC236}">
                <a16:creationId xmlns:a16="http://schemas.microsoft.com/office/drawing/2014/main" id="{CC81A46C-C6D2-4076-BF65-534B168D601F}"/>
              </a:ext>
            </a:extLst>
          </p:cNvPr>
          <p:cNvSpPr>
            <a:spLocks xmlns:a="http://schemas.openxmlformats.org/drawingml/2006/main" noGrp="1"/>
          </p:cNvSpPr>
          <p:nvPr/>
        </p:nvSpPr>
        <p:spPr>
          <a:xfrm xmlns:a="http://schemas.openxmlformats.org/drawingml/2006/main">
            <a:off x="5143500" y="3905250"/>
            <a:ext cx="1714500" cy="685800"/>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tests/</a:t>
            </a: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контракты</a:t>
            </a:r>
          </a:p>
        </p:txBody>
      </p:sp>
      <p:cxnSp>
        <p:nvCxnSpPr>
          <p:cNvPr id="94" name="Прямая со стрелкой 69"/>
          <p:cNvCxnSpPr>
            <a:stCxn xmlns:a="http://schemas.openxmlformats.org/drawingml/2006/main" id="19" idx="2"/>
            <a:endCxn xmlns:a="http://schemas.openxmlformats.org/drawingml/2006/main" id="11" idx="0"/>
          </p:cNvCxnSpPr>
          <p:nvPr/>
        </p:nvCxnSpPr>
        <p:spPr>
          <a:xfrm xmlns:a="http://schemas.openxmlformats.org/drawingml/2006/main">
            <a:off x="3810000" y="1876425"/>
            <a:ext cx="0" cy="600075"/>
          </a:xfrm>
          <a:prstGeom xmlns:a="http://schemas.openxmlformats.org/drawingml/2006/main" prst="straightConnector1">
            <a:avLst/>
          </a:prstGeom>
          <a:ln xmlns:a="http://schemas.openxmlformats.org/drawingml/2006/main" w="19050">
            <a:solidFill>
              <a:srgbClr val="546274"/>
            </a:solidFill>
            <a:prstDash val="solid"/>
            <a:tailEnd type="triangle" w="sm" len="sm"/>
          </a:ln>
        </p:spPr>
      </p:cxnSp>
      <p:cxnSp>
        <p:nvCxnSpPr>
          <p:cNvPr id="95" name="Прямая со стрелкой 70"/>
          <p:cNvCxnSpPr>
            <a:stCxn xmlns:a="http://schemas.openxmlformats.org/drawingml/2006/main" id="20" idx="2"/>
            <a:endCxn xmlns:a="http://schemas.openxmlformats.org/drawingml/2006/main" id="13" idx="0"/>
          </p:cNvCxnSpPr>
          <p:nvPr/>
        </p:nvCxnSpPr>
        <p:spPr>
          <a:xfrm xmlns:a="http://schemas.openxmlformats.org/drawingml/2006/main">
            <a:off x="8191500" y="1876425"/>
            <a:ext cx="0" cy="600075"/>
          </a:xfrm>
          <a:prstGeom xmlns:a="http://schemas.openxmlformats.org/drawingml/2006/main" prst="straightConnector1">
            <a:avLst/>
          </a:prstGeom>
          <a:ln xmlns:a="http://schemas.openxmlformats.org/drawingml/2006/main" w="19050">
            <a:solidFill>
              <a:srgbClr val="546274"/>
            </a:solidFill>
            <a:prstDash val="solid"/>
            <a:tailEnd type="triangle" w="sm" len="sm"/>
          </a:ln>
        </p:spPr>
      </p:cxnSp>
      <p:cxnSp>
        <p:nvCxnSpPr>
          <p:cNvPr id="96" name="Соединитель: уступ 71"/>
          <p:cNvCxnSpPr>
            <a:stCxn xmlns:a="http://schemas.openxmlformats.org/drawingml/2006/main" id="21" idx="1"/>
            <a:endCxn xmlns:a="http://schemas.openxmlformats.org/drawingml/2006/main" id="11" idx="2"/>
          </p:cNvCxnSpPr>
          <p:nvPr/>
        </p:nvCxnSpPr>
        <p:spPr>
          <a:xfrm xmlns:a="http://schemas.openxmlformats.org/drawingml/2006/main" flipH="1" flipV="1">
            <a:off x="3810000" y="3352800"/>
            <a:ext cx="1333500" cy="895350"/>
          </a:xfrm>
          <a:prstGeom xmlns:a="http://schemas.openxmlformats.org/drawingml/2006/main" prst="bentConnector2">
            <a:avLst/>
          </a:prstGeom>
          <a:ln xmlns:a="http://schemas.openxmlformats.org/drawingml/2006/main" w="19050">
            <a:solidFill>
              <a:srgbClr val="C42026"/>
            </a:solidFill>
            <a:prstDash val="dash"/>
            <a:tailEnd type="triangle" w="sm" len="sm"/>
          </a:ln>
        </p:spPr>
      </p:cxnSp>
      <p:cxnSp>
        <p:nvCxnSpPr>
          <p:cNvPr id="97" name="Соединитель: уступ 72"/>
          <p:cNvCxnSpPr>
            <a:stCxn xmlns:a="http://schemas.openxmlformats.org/drawingml/2006/main" id="21" idx="3"/>
            <a:endCxn xmlns:a="http://schemas.openxmlformats.org/drawingml/2006/main" id="13" idx="2"/>
          </p:cNvCxnSpPr>
          <p:nvPr/>
        </p:nvCxnSpPr>
        <p:spPr>
          <a:xfrm xmlns:a="http://schemas.openxmlformats.org/drawingml/2006/main" flipV="1">
            <a:off x="6858000" y="3352800"/>
            <a:ext cx="1333500" cy="895350"/>
          </a:xfrm>
          <a:prstGeom xmlns:a="http://schemas.openxmlformats.org/drawingml/2006/main" prst="bentConnector2">
            <a:avLst/>
          </a:prstGeom>
          <a:ln xmlns:a="http://schemas.openxmlformats.org/drawingml/2006/main" w="19050">
            <a:solidFill>
              <a:srgbClr val="C42026"/>
            </a:solidFill>
            <a:prstDash val="dash"/>
            <a:tailEnd type="triangle" w="sm" len="sm"/>
          </a:ln>
        </p:spPr>
      </p:cxnSp>
    </p:spTree>
    <p:extLst>
      <p:ext uri="{BB962C8B-B14F-4D97-AF65-F5344CB8AC3E}">
        <p14:creationId xmlns:p14="http://schemas.microsoft.com/office/powerpoint/2010/main" val="4442734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52C2D7-ACDB-46E5-A693-045FD6C09F78}"/>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45309"/>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ПРЕОБРАЗОВАНИЕ</a:t>
            </a:r>
            <a:endParaRPr sz="850"/>
          </a:p>
        </p:txBody>
      </p:sp>
      <p:sp>
        <p:nvSpPr>
          <p:cNvPr id="3" name="Text 1">
            <a:extLst xmlns:a="http://schemas.openxmlformats.org/drawingml/2006/main">
              <a:ext uri="{FF2B5EF4-FFF2-40B4-BE49-F238E27FC236}">
                <a16:creationId xmlns:a16="http://schemas.microsoft.com/office/drawing/2014/main" id="{55E8B405-2289-48F7-A9D4-03109EC01F9E}"/>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Исходные материалы и Git</a:t>
            </a:r>
            <a:endParaRPr sz="2300"/>
          </a:p>
        </p:txBody>
      </p:sp>
      <p:sp>
        <p:nvSpPr>
          <p:cNvPr id="4" name="Text 2">
            <a:extLst xmlns:a="http://schemas.openxmlformats.org/drawingml/2006/main">
              <a:ext uri="{FF2B5EF4-FFF2-40B4-BE49-F238E27FC236}">
                <a16:creationId xmlns:a16="http://schemas.microsoft.com/office/drawing/2014/main" id="{0199BE63-940B-434D-A962-8116CA88A75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48DC9C4A-8ADA-403F-9FAE-EB9F31032348}"/>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8D0E8E8A-D6CC-4435-9D6E-80F86190F8CE}"/>
              </a:ext>
            </a:extLst>
          </p:cNvPr>
          <p:cNvSpPr>
            <a:spLocks xmlns:a="http://schemas.openxmlformats.org/drawingml/2006/main" noGrp="1"/>
          </p:cNvSpPr>
          <p:nvPr/>
        </p:nvSpPr>
        <p:spPr>
          <a:xfrm xmlns:a="http://schemas.openxmlformats.org/drawingml/2006/main">
            <a:off x="666750" y="5219700"/>
            <a:ext cx="9334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defRPr sz="1200" i="1">
                <a:solidFill>
                  <a:srgbClr val="546274"/>
                </a:solidFill>
                <a:latin typeface="Aptos"/>
                <a:ea typeface="Aptos"/>
                <a:cs typeface="Aptos"/>
              </a:defRPr>
            </a:pPr>
            <a:r>
              <a:rPr sz="1200" i="1">
                <a:solidFill>
                  <a:srgbClr val="546274"/>
                </a:solidFill>
                <a:latin typeface="Aptos"/>
                <a:ea typeface="Aptos"/>
                <a:cs typeface="Aptos"/>
              </a:rPr>
              <a:t>Переход: Новая версия входного скрипта</a:t>
            </a:r>
            <a:endParaRPr sz="1200"/>
          </a:p>
        </p:txBody>
      </p:sp>
      <p:sp>
        <p:nvSpPr>
          <p:cNvPr id="7" name="Shape 5">
            <a:extLst xmlns:a="http://schemas.openxmlformats.org/drawingml/2006/main">
              <a:ext uri="{FF2B5EF4-FFF2-40B4-BE49-F238E27FC236}">
                <a16:creationId xmlns:a16="http://schemas.microsoft.com/office/drawing/2014/main" id="{51686AFD-2133-461B-85ED-82733A22925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F44F2682-DF4A-43BD-A5A9-8A336FD622B8}"/>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C797C148-B9B2-4892-A39F-74A5BB528C43}"/>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32</a:t>
            </a:r>
            <a:endParaRPr sz="850"/>
          </a:p>
        </p:txBody>
      </p:sp>
      <p:sp>
        <p:nvSpPr>
          <p:cNvPr id="10" name="s32-raw">
            <a:extLst xmlns:a="http://schemas.openxmlformats.org/drawingml/2006/main">
              <a:ext uri="{FF2B5EF4-FFF2-40B4-BE49-F238E27FC236}">
                <a16:creationId xmlns:a16="http://schemas.microsoft.com/office/drawing/2014/main" id="{9C483DEA-1EB3-440E-B481-47C73553545D}"/>
              </a:ext>
            </a:extLst>
          </p:cNvPr>
          <p:cNvSpPr>
            <a:spLocks xmlns:a="http://schemas.openxmlformats.org/drawingml/2006/main" noGrp="1"/>
          </p:cNvSpPr>
          <p:nvPr/>
        </p:nvSpPr>
        <p:spPr>
          <a:xfrm xmlns:a="http://schemas.openxmlformats.org/drawingml/2006/main">
            <a:off x="666750" y="1571625"/>
            <a:ext cx="2143125" cy="1095375"/>
          </a:xfrm>
          <a:prstGeom xmlns:a="http://schemas.openxmlformats.org/drawingml/2006/main" prst="roundRect">
            <a:avLst>
              <a:gd name="adj" fmla="val 8696"/>
            </a:avLst>
          </a:prstGeom>
          <a:solidFill xmlns:a="http://schemas.openxmlformats.org/drawingml/2006/main">
            <a:srgbClr val="FDEBEC"/>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Закрытый оригинал</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данные, токены, outputs</a:t>
            </a:r>
          </a:p>
        </p:txBody>
      </p:sp>
      <p:sp>
        <p:nvSpPr>
          <p:cNvPr id="11" name="s32-clean">
            <a:extLst xmlns:a="http://schemas.openxmlformats.org/drawingml/2006/main">
              <a:ext uri="{FF2B5EF4-FFF2-40B4-BE49-F238E27FC236}">
                <a16:creationId xmlns:a16="http://schemas.microsoft.com/office/drawing/2014/main" id="{46802604-73F7-4BDA-9055-DED1B52C2F8B}"/>
              </a:ext>
            </a:extLst>
          </p:cNvPr>
          <p:cNvSpPr>
            <a:spLocks xmlns:a="http://schemas.openxmlformats.org/drawingml/2006/main" noGrp="1"/>
          </p:cNvSpPr>
          <p:nvPr/>
        </p:nvSpPr>
        <p:spPr>
          <a:xfrm xmlns:a="http://schemas.openxmlformats.org/drawingml/2006/main">
            <a:off x="3857625" y="1571625"/>
            <a:ext cx="2476500" cy="1095375"/>
          </a:xfrm>
          <a:prstGeom xmlns:a="http://schemas.openxmlformats.org/drawingml/2006/main" prst="roundRect">
            <a:avLst>
              <a:gd name="adj" fmla="val 8696"/>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notebooks/</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source_experiment.ipynb</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очищенная копия</a:t>
            </a:r>
          </a:p>
        </p:txBody>
      </p:sp>
      <p:sp>
        <p:nvSpPr>
          <p:cNvPr id="12" name="s32-project">
            <a:extLst xmlns:a="http://schemas.openxmlformats.org/drawingml/2006/main">
              <a:ext uri="{FF2B5EF4-FFF2-40B4-BE49-F238E27FC236}">
                <a16:creationId xmlns:a16="http://schemas.microsoft.com/office/drawing/2014/main" id="{390B7BD3-2D21-465C-9608-CB0DFF7FAD42}"/>
              </a:ext>
            </a:extLst>
          </p:cNvPr>
          <p:cNvSpPr>
            <a:spLocks xmlns:a="http://schemas.openxmlformats.org/drawingml/2006/main" noGrp="1"/>
          </p:cNvSpPr>
          <p:nvPr/>
        </p:nvSpPr>
        <p:spPr>
          <a:xfrm xmlns:a="http://schemas.openxmlformats.org/drawingml/2006/main">
            <a:off x="7524750" y="1381125"/>
            <a:ext cx="3143250" cy="1476375"/>
          </a:xfrm>
          <a:prstGeom xmlns:a="http://schemas.openxmlformats.org/drawingml/2006/main" prst="roundRect">
            <a:avLst>
              <a:gd name="adj" fmla="val 6452"/>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Файлы проекта</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src/data.py  src/train.py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src/predict.py  tests/</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README.md  requirements.txt</a:t>
            </a:r>
          </a:p>
        </p:txBody>
      </p:sp>
      <p:sp>
        <p:nvSpPr>
          <p:cNvPr id="13" name="s32-sanitize">
            <a:extLst xmlns:a="http://schemas.openxmlformats.org/drawingml/2006/main">
              <a:ext uri="{FF2B5EF4-FFF2-40B4-BE49-F238E27FC236}">
                <a16:creationId xmlns:a16="http://schemas.microsoft.com/office/drawing/2014/main" id="{3BB67E7F-9EEE-4542-BBA1-C70A218415F1}"/>
              </a:ext>
            </a:extLst>
          </p:cNvPr>
          <p:cNvSpPr>
            <a:spLocks xmlns:a="http://schemas.openxmlformats.org/drawingml/2006/main" noGrp="1"/>
          </p:cNvSpPr>
          <p:nvPr/>
        </p:nvSpPr>
        <p:spPr>
          <a:xfrm xmlns:a="http://schemas.openxmlformats.org/drawingml/2006/main">
            <a:off x="2905125" y="1838325"/>
            <a:ext cx="857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2383">
            <a:solidFill>
              <a:srgbClr val="546274"/>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050" b="1">
                <a:solidFill>
                  <a:srgbClr val="151E2F"/>
                </a:solidFill>
                <a:latin typeface="Aptos"/>
                <a:ea typeface="Aptos"/>
                <a:cs typeface="Aptos"/>
              </a:defRPr>
            </a:pPr>
            <a:r>
              <a:rPr sz="1050" b="1">
                <a:solidFill>
                  <a:srgbClr val="151E2F"/>
                </a:solidFill>
                <a:latin typeface="Aptos"/>
                <a:ea typeface="Aptos"/>
                <a:cs typeface="Aptos"/>
              </a:rPr>
              <a:t>очистка</a:t>
            </a:r>
          </a:p>
          <a:p xmlns:a="http://schemas.openxmlformats.org/drawingml/2006/main">
            <a:pPr algn="ctr">
              <a:buNone/>
              <a:defRPr sz="1050" b="1">
                <a:solidFill>
                  <a:srgbClr val="151E2F"/>
                </a:solidFill>
                <a:latin typeface="Aptos"/>
                <a:ea typeface="Aptos"/>
                <a:cs typeface="Aptos"/>
              </a:defRPr>
            </a:pPr>
            <a:r>
              <a:rPr sz="1050" b="1">
                <a:solidFill>
                  <a:srgbClr val="151E2F"/>
                </a:solidFill>
                <a:latin typeface="Aptos"/>
                <a:ea typeface="Aptos"/>
                <a:cs typeface="Aptos"/>
              </a:rPr>
              <a:t>копии</a:t>
            </a:r>
          </a:p>
        </p:txBody>
      </p:sp>
      <p:cxnSp>
        <p:nvCxnSpPr>
          <p:cNvPr id="70" name="Прямая со стрелкой 51"/>
          <p:cNvCxnSpPr>
            <a:stCxn xmlns:a="http://schemas.openxmlformats.org/drawingml/2006/main" id="10" idx="3"/>
            <a:endCxn xmlns:a="http://schemas.openxmlformats.org/drawingml/2006/main" id="13" idx="1"/>
          </p:cNvCxnSpPr>
          <p:nvPr/>
        </p:nvCxnSpPr>
        <p:spPr>
          <a:xfrm xmlns:a="http://schemas.openxmlformats.org/drawingml/2006/main" flipV="1">
            <a:off x="2809875" y="2114550"/>
            <a:ext cx="95250" cy="4763"/>
          </a:xfrm>
          <a:prstGeom xmlns:a="http://schemas.openxmlformats.org/drawingml/2006/main" prst="straightConnector1">
            <a:avLst/>
          </a:prstGeom>
          <a:ln xmlns:a="http://schemas.openxmlformats.org/drawingml/2006/main" w="19050">
            <a:solidFill>
              <a:srgbClr val="C42026"/>
            </a:solidFill>
            <a:prstDash val="solid"/>
            <a:tailEnd type="triangle" w="sm" len="sm"/>
          </a:ln>
        </p:spPr>
      </p:cxnSp>
      <p:cxnSp>
        <p:nvCxnSpPr>
          <p:cNvPr id="71" name="Прямая со стрелкой 52"/>
          <p:cNvCxnSpPr>
            <a:stCxn xmlns:a="http://schemas.openxmlformats.org/drawingml/2006/main" id="13" idx="3"/>
            <a:endCxn xmlns:a="http://schemas.openxmlformats.org/drawingml/2006/main" id="11" idx="1"/>
          </p:cNvCxnSpPr>
          <p:nvPr/>
        </p:nvCxnSpPr>
        <p:spPr>
          <a:xfrm xmlns:a="http://schemas.openxmlformats.org/drawingml/2006/main">
            <a:off x="3762375" y="2114550"/>
            <a:ext cx="95250" cy="4763"/>
          </a:xfrm>
          <a:prstGeom xmlns:a="http://schemas.openxmlformats.org/drawingml/2006/main" prst="straightConnector1">
            <a:avLst/>
          </a:prstGeom>
          <a:ln xmlns:a="http://schemas.openxmlformats.org/drawingml/2006/main" w="19050">
            <a:solidFill>
              <a:srgbClr val="B95A08"/>
            </a:solidFill>
            <a:prstDash val="solid"/>
            <a:tailEnd type="triangle" w="sm" len="sm"/>
          </a:ln>
        </p:spPr>
      </p:cxnSp>
      <p:cxnSp>
        <p:nvCxnSpPr>
          <p:cNvPr id="72" name="Прямая со стрелкой 53"/>
          <p:cNvCxnSpPr>
            <a:stCxn xmlns:a="http://schemas.openxmlformats.org/drawingml/2006/main" id="11" idx="3"/>
            <a:endCxn xmlns:a="http://schemas.openxmlformats.org/drawingml/2006/main" id="12" idx="1"/>
          </p:cNvCxnSpPr>
          <p:nvPr/>
        </p:nvCxnSpPr>
        <p:spPr>
          <a:xfrm xmlns:a="http://schemas.openxmlformats.org/drawingml/2006/main">
            <a:off x="6334125" y="2119313"/>
            <a:ext cx="1190625" cy="0"/>
          </a:xfrm>
          <a:prstGeom xmlns:a="http://schemas.openxmlformats.org/drawingml/2006/main" prst="straightConnector1">
            <a:avLst/>
          </a:prstGeom>
          <a:ln xmlns:a="http://schemas.openxmlformats.org/drawingml/2006/main" w="19050">
            <a:solidFill>
              <a:srgbClr val="087F5B"/>
            </a:solidFill>
            <a:prstDash val="solid"/>
            <a:tailEnd type="triangle" w="sm" len="sm"/>
          </a:ln>
        </p:spPr>
      </p:cxnSp>
      <p:sp>
        <p:nvSpPr>
          <p:cNvPr id="17" name="s32-git">
            <a:extLst xmlns:a="http://schemas.openxmlformats.org/drawingml/2006/main">
              <a:ext uri="{FF2B5EF4-FFF2-40B4-BE49-F238E27FC236}">
                <a16:creationId xmlns:a16="http://schemas.microsoft.com/office/drawing/2014/main" id="{EEB3D4DD-9945-405D-B527-74078A114D0C}"/>
              </a:ext>
            </a:extLst>
          </p:cNvPr>
          <p:cNvSpPr>
            <a:spLocks xmlns:a="http://schemas.openxmlformats.org/drawingml/2006/main" noGrp="1"/>
          </p:cNvSpPr>
          <p:nvPr/>
        </p:nvSpPr>
        <p:spPr>
          <a:xfrm xmlns:a="http://schemas.openxmlformats.org/drawingml/2006/main">
            <a:off x="5429250" y="3714750"/>
            <a:ext cx="5238750" cy="838200"/>
          </a:xfrm>
          <a:prstGeom xmlns:a="http://schemas.openxmlformats.org/drawingml/2006/main" prst="roundRect">
            <a:avLst>
              <a:gd name="adj" fmla="val 11364"/>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00" b="1">
                <a:solidFill>
                  <a:srgbClr val="151E2F"/>
                </a:solidFill>
                <a:latin typeface="Aptos"/>
                <a:ea typeface="Aptos"/>
                <a:cs typeface="Aptos"/>
              </a:defRPr>
            </a:pPr>
            <a:r>
              <a:rPr sz="1500" b="1">
                <a:solidFill>
                  <a:srgbClr val="151E2F"/>
                </a:solidFill>
                <a:latin typeface="Aptos"/>
                <a:ea typeface="Aptos"/>
                <a:cs typeface="Aptos"/>
              </a:rPr>
              <a:t>Git хранит очищенный источник, файлы проекта и историю их изменений</a:t>
            </a:r>
          </a:p>
        </p:txBody>
      </p:sp>
      <p:cxnSp>
        <p:nvCxnSpPr>
          <p:cNvPr id="74" name="Соединитель: уступ 55"/>
          <p:cNvCxnSpPr>
            <a:stCxn xmlns:a="http://schemas.openxmlformats.org/drawingml/2006/main" id="11" idx="2"/>
            <a:endCxn xmlns:a="http://schemas.openxmlformats.org/drawingml/2006/main" id="17" idx="0"/>
          </p:cNvCxnSpPr>
          <p:nvPr/>
        </p:nvCxnSpPr>
        <p:spPr>
          <a:xfrm xmlns:a="http://schemas.openxmlformats.org/drawingml/2006/main">
            <a:off x="5095875" y="2667000"/>
            <a:ext cx="2952750" cy="1047750"/>
          </a:xfrm>
          <a:prstGeom xmlns:a="http://schemas.openxmlformats.org/drawingml/2006/main" prst="bentConnector4">
            <a:avLst>
              <a:gd name="adj1" fmla="val 0"/>
              <a:gd name="adj2" fmla="val 50000"/>
            </a:avLst>
          </a:prstGeom>
          <a:ln xmlns:a="http://schemas.openxmlformats.org/drawingml/2006/main" w="19050">
            <a:solidFill>
              <a:srgbClr val="2F66E8"/>
            </a:solidFill>
            <a:prstDash val="solid"/>
            <a:tailEnd type="triangle" w="sm" len="sm"/>
          </a:ln>
        </p:spPr>
      </p:cxnSp>
      <p:cxnSp>
        <p:nvCxnSpPr>
          <p:cNvPr id="75" name="Соединитель: уступ 56"/>
          <p:cNvCxnSpPr>
            <a:stCxn xmlns:a="http://schemas.openxmlformats.org/drawingml/2006/main" id="12" idx="2"/>
            <a:endCxn xmlns:a="http://schemas.openxmlformats.org/drawingml/2006/main" id="17" idx="0"/>
          </p:cNvCxnSpPr>
          <p:nvPr/>
        </p:nvCxnSpPr>
        <p:spPr>
          <a:xfrm xmlns:a="http://schemas.openxmlformats.org/drawingml/2006/main" flipH="1">
            <a:off x="8048625" y="2857500"/>
            <a:ext cx="1047750" cy="857250"/>
          </a:xfrm>
          <a:prstGeom xmlns:a="http://schemas.openxmlformats.org/drawingml/2006/main" prst="bentConnector4">
            <a:avLst>
              <a:gd name="adj1" fmla="val 0"/>
              <a:gd name="adj2" fmla="val 50000"/>
            </a:avLst>
          </a:prstGeom>
          <a:ln xmlns:a="http://schemas.openxmlformats.org/drawingml/2006/main" w="19050">
            <a:solidFill>
              <a:srgbClr val="2F66E8"/>
            </a:solidFill>
            <a:prstDash val="solid"/>
            <a:tailEnd type="triangle" w="sm" len="sm"/>
          </a:ln>
        </p:spPr>
      </p:cxnSp>
      <p:sp>
        <p:nvSpPr>
          <p:cNvPr id="20" name="s32-ignore-label">
            <a:extLst xmlns:a="http://schemas.openxmlformats.org/drawingml/2006/main">
              <a:ext uri="{FF2B5EF4-FFF2-40B4-BE49-F238E27FC236}">
                <a16:creationId xmlns:a16="http://schemas.microsoft.com/office/drawing/2014/main" id="{E04A7C7D-A06C-4A6D-AA0F-C76717ABD523}"/>
              </a:ext>
            </a:extLst>
          </p:cNvPr>
          <p:cNvSpPr>
            <a:spLocks xmlns:a="http://schemas.openxmlformats.org/drawingml/2006/main" noGrp="1"/>
          </p:cNvSpPr>
          <p:nvPr/>
        </p:nvSpPr>
        <p:spPr>
          <a:xfrm xmlns:a="http://schemas.openxmlformats.org/drawingml/2006/main">
            <a:off x="666750" y="3371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75" b="1">
                <a:solidFill>
                  <a:srgbClr val="C42026"/>
                </a:solidFill>
                <a:latin typeface="Aptos"/>
                <a:ea typeface="Aptos"/>
                <a:cs typeface="Aptos"/>
              </a:defRPr>
            </a:pPr>
            <a:r>
              <a:rPr sz="1275" b="1">
                <a:solidFill>
                  <a:srgbClr val="C42026"/>
                </a:solidFill>
                <a:latin typeface="Aptos"/>
                <a:ea typeface="Aptos"/>
                <a:cs typeface="Aptos"/>
              </a:rPr>
              <a:t>.gitignore</a:t>
            </a:r>
          </a:p>
        </p:txBody>
      </p:sp>
      <p:sp>
        <p:nvSpPr>
          <p:cNvPr id="21" name="s32-ignore">
            <a:extLst xmlns:a="http://schemas.openxmlformats.org/drawingml/2006/main">
              <a:ext uri="{FF2B5EF4-FFF2-40B4-BE49-F238E27FC236}">
                <a16:creationId xmlns:a16="http://schemas.microsoft.com/office/drawing/2014/main" id="{30210A74-7C95-40D3-8AA1-980F555E839E}"/>
              </a:ext>
            </a:extLst>
          </p:cNvPr>
          <p:cNvSpPr>
            <a:spLocks xmlns:a="http://schemas.openxmlformats.org/drawingml/2006/main" noGrp="1"/>
          </p:cNvSpPr>
          <p:nvPr/>
        </p:nvSpPr>
        <p:spPr>
          <a:xfrm xmlns:a="http://schemas.openxmlformats.org/drawingml/2006/main">
            <a:off x="666750" y="3667125"/>
            <a:ext cx="3429000" cy="904875"/>
          </a:xfrm>
          <a:prstGeom xmlns:a="http://schemas.openxmlformats.org/drawingml/2006/main" prst="roundRect">
            <a:avLst>
              <a:gd name="adj" fmla="val 4211"/>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114300" rIns="114300" bIns="114300" anchor="t">
            <a:normAutofit/>
          </a:bodyPr>
          <a:lstStyle xmlns:a="http://schemas.openxmlformats.org/drawingml/2006/main"/>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data/raw/</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.env</a:t>
            </a:r>
          </a:p>
          <a:p xmlns:a="http://schemas.openxmlformats.org/drawingml/2006/main">
            <a:pPr algn="l">
              <a:buNone/>
              <a:defRPr sz="1350" b="0">
                <a:solidFill>
                  <a:srgbClr val="151E2F"/>
                </a:solidFill>
                <a:latin typeface="Consolas"/>
                <a:ea typeface="Consolas"/>
                <a:cs typeface="Consolas"/>
              </a:defRPr>
            </a:pPr>
            <a:r>
              <a:rPr sz="1350" b="0">
                <a:solidFill>
                  <a:srgbClr val="151E2F"/>
                </a:solidFill>
                <a:latin typeface="Consolas"/>
                <a:ea typeface="Consolas"/>
                <a:cs typeface="Consolas"/>
              </a:rPr>
              <a:t>models/*.pkl</a:t>
            </a:r>
          </a:p>
        </p:txBody>
      </p:sp>
    </p:spTree>
    <p:extLst>
      <p:ext uri="{BB962C8B-B14F-4D97-AF65-F5344CB8AC3E}">
        <p14:creationId xmlns:p14="http://schemas.microsoft.com/office/powerpoint/2010/main" val="18265219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6FB0A4-1632-4906-952D-ADF5C354AA2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5B8A52B4-E934-4F18-8056-76A37D4475FF}"/>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Новая версия входного скрипта</a:t>
            </a:r>
            <a:endParaRPr sz="2300"/>
          </a:p>
        </p:txBody>
      </p:sp>
      <p:sp>
        <p:nvSpPr>
          <p:cNvPr id="4" name="Text 2">
            <a:extLst xmlns:a="http://schemas.openxmlformats.org/drawingml/2006/main">
              <a:ext uri="{FF2B5EF4-FFF2-40B4-BE49-F238E27FC236}">
                <a16:creationId xmlns:a16="http://schemas.microsoft.com/office/drawing/2014/main" id="{0346BED0-6807-426A-A5AA-E6390F53F47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487E3569-8049-4442-858F-DA0C04B2EC60}"/>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04719D29-E430-4205-B226-096DF057638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Карта влияния изменений</a:t>
            </a:r>
            <a:endParaRPr sz="1200"/>
          </a:p>
        </p:txBody>
      </p:sp>
      <p:sp>
        <p:nvSpPr>
          <p:cNvPr id="7" name="Shape 5">
            <a:extLst xmlns:a="http://schemas.openxmlformats.org/drawingml/2006/main">
              <a:ext uri="{FF2B5EF4-FFF2-40B4-BE49-F238E27FC236}">
                <a16:creationId xmlns:a16="http://schemas.microsoft.com/office/drawing/2014/main" id="{5D34C3B9-004B-4D3D-B4B5-42103343873B}"/>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EF3774E0-4F33-413F-8AF6-8FB46FEB0528}"/>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7A55EF09-63CD-4EC6-BA60-AC9CDD822C81}"/>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33</a:t>
            </a:r>
            <a:endParaRPr sz="850"/>
          </a:p>
        </p:txBody>
      </p:sp>
      <p:sp>
        <p:nvSpPr>
          <p:cNvPr id="10" name="s33-incoming">
            <a:extLst xmlns:a="http://schemas.openxmlformats.org/drawingml/2006/main">
              <a:ext uri="{FF2B5EF4-FFF2-40B4-BE49-F238E27FC236}">
                <a16:creationId xmlns:a16="http://schemas.microsoft.com/office/drawing/2014/main" id="{F44FDBE0-F4AB-428D-A62C-8F68D784DAEA}"/>
              </a:ext>
            </a:extLst>
          </p:cNvPr>
          <p:cNvSpPr>
            <a:spLocks xmlns:a="http://schemas.openxmlformats.org/drawingml/2006/main" noGrp="1"/>
          </p:cNvSpPr>
          <p:nvPr/>
        </p:nvSpPr>
        <p:spPr>
          <a:xfrm xmlns:a="http://schemas.openxmlformats.org/drawingml/2006/main">
            <a:off x="666750" y="1666875"/>
            <a:ext cx="2000250" cy="1000125"/>
          </a:xfrm>
          <a:prstGeom xmlns:a="http://schemas.openxmlformats.org/drawingml/2006/main" prst="roundRect">
            <a:avLst>
              <a:gd name="adj" fmla="val 7619"/>
            </a:avLst>
          </a:prstGeom>
          <a:solidFill xmlns:a="http://schemas.openxmlformats.org/drawingml/2006/main">
            <a:srgbClr val="FDEBEC"/>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Получена версия 2</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.ipynb или .py</a:t>
            </a:r>
          </a:p>
        </p:txBody>
      </p:sp>
      <p:sp>
        <p:nvSpPr>
          <p:cNvPr id="11" name="s33-archive">
            <a:extLst xmlns:a="http://schemas.openxmlformats.org/drawingml/2006/main">
              <a:ext uri="{FF2B5EF4-FFF2-40B4-BE49-F238E27FC236}">
                <a16:creationId xmlns:a16="http://schemas.microsoft.com/office/drawing/2014/main" id="{735C865C-D92A-4BBC-8D9C-205581470721}"/>
              </a:ext>
            </a:extLst>
          </p:cNvPr>
          <p:cNvSpPr>
            <a:spLocks xmlns:a="http://schemas.openxmlformats.org/drawingml/2006/main" noGrp="1"/>
          </p:cNvSpPr>
          <p:nvPr/>
        </p:nvSpPr>
        <p:spPr>
          <a:xfrm xmlns:a="http://schemas.openxmlformats.org/drawingml/2006/main">
            <a:off x="3238500" y="1666875"/>
            <a:ext cx="2000250" cy="1000125"/>
          </a:xfrm>
          <a:prstGeom xmlns:a="http://schemas.openxmlformats.org/drawingml/2006/main" prst="roundRect">
            <a:avLst>
              <a:gd name="adj" fmla="val 7619"/>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Сохранить отдельно</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имя, дата, хеш</a:t>
            </a:r>
          </a:p>
        </p:txBody>
      </p:sp>
      <p:sp>
        <p:nvSpPr>
          <p:cNvPr id="12" name="s33-run">
            <a:extLst xmlns:a="http://schemas.openxmlformats.org/drawingml/2006/main">
              <a:ext uri="{FF2B5EF4-FFF2-40B4-BE49-F238E27FC236}">
                <a16:creationId xmlns:a16="http://schemas.microsoft.com/office/drawing/2014/main" id="{AB0EF0E9-00BD-4290-8BB1-987B2DDE105A}"/>
              </a:ext>
            </a:extLst>
          </p:cNvPr>
          <p:cNvSpPr>
            <a:spLocks xmlns:a="http://schemas.openxmlformats.org/drawingml/2006/main" noGrp="1"/>
          </p:cNvSpPr>
          <p:nvPr/>
        </p:nvSpPr>
        <p:spPr>
          <a:xfrm xmlns:a="http://schemas.openxmlformats.org/drawingml/2006/main">
            <a:off x="5810250" y="1666875"/>
            <a:ext cx="2000250" cy="1000125"/>
          </a:xfrm>
          <a:prstGeom xmlns:a="http://schemas.openxmlformats.org/drawingml/2006/main" prst="roundRect">
            <a:avLst>
              <a:gd name="adj" fmla="val 7619"/>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Запустить</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на контрольных данных</a:t>
            </a:r>
          </a:p>
        </p:txBody>
      </p:sp>
      <p:sp>
        <p:nvSpPr>
          <p:cNvPr id="13" name="s33-diff">
            <a:extLst xmlns:a="http://schemas.openxmlformats.org/drawingml/2006/main">
              <a:ext uri="{FF2B5EF4-FFF2-40B4-BE49-F238E27FC236}">
                <a16:creationId xmlns:a16="http://schemas.microsoft.com/office/drawing/2014/main" id="{4B6DC31F-77ED-44AF-8959-1594F755D231}"/>
              </a:ext>
            </a:extLst>
          </p:cNvPr>
          <p:cNvSpPr>
            <a:spLocks xmlns:a="http://schemas.openxmlformats.org/drawingml/2006/main" noGrp="1"/>
          </p:cNvSpPr>
          <p:nvPr/>
        </p:nvSpPr>
        <p:spPr>
          <a:xfrm xmlns:a="http://schemas.openxmlformats.org/drawingml/2006/main">
            <a:off x="8382000" y="1666875"/>
            <a:ext cx="2476500" cy="1000125"/>
          </a:xfrm>
          <a:prstGeom xmlns:a="http://schemas.openxmlformats.org/drawingml/2006/main" prst="roundRect">
            <a:avLst>
              <a:gd name="adj" fmla="val 7619"/>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Сравнить</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поведение и контракты</a:t>
            </a:r>
          </a:p>
        </p:txBody>
      </p:sp>
      <p:cxnSp>
        <p:nvCxnSpPr>
          <p:cNvPr id="47" name="Прямая со стрелкой 31"/>
          <p:cNvCxnSpPr>
            <a:stCxn xmlns:a="http://schemas.openxmlformats.org/drawingml/2006/main" id="10" idx="3"/>
            <a:endCxn xmlns:a="http://schemas.openxmlformats.org/drawingml/2006/main" id="11" idx="1"/>
          </p:cNvCxnSpPr>
          <p:nvPr/>
        </p:nvCxnSpPr>
        <p:spPr>
          <a:xfrm xmlns:a="http://schemas.openxmlformats.org/drawingml/2006/main">
            <a:off x="2667000" y="2166938"/>
            <a:ext cx="5715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48" name="Прямая со стрелкой 32"/>
          <p:cNvCxnSpPr>
            <a:stCxn xmlns:a="http://schemas.openxmlformats.org/drawingml/2006/main" id="11" idx="3"/>
            <a:endCxn xmlns:a="http://schemas.openxmlformats.org/drawingml/2006/main" id="12" idx="1"/>
          </p:cNvCxnSpPr>
          <p:nvPr/>
        </p:nvCxnSpPr>
        <p:spPr>
          <a:xfrm xmlns:a="http://schemas.openxmlformats.org/drawingml/2006/main">
            <a:off x="5238750" y="2166938"/>
            <a:ext cx="5715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49" name="Прямая со стрелкой 33"/>
          <p:cNvCxnSpPr>
            <a:stCxn xmlns:a="http://schemas.openxmlformats.org/drawingml/2006/main" id="12" idx="3"/>
            <a:endCxn xmlns:a="http://schemas.openxmlformats.org/drawingml/2006/main" id="13" idx="1"/>
          </p:cNvCxnSpPr>
          <p:nvPr/>
        </p:nvCxnSpPr>
        <p:spPr>
          <a:xfrm xmlns:a="http://schemas.openxmlformats.org/drawingml/2006/main">
            <a:off x="7810500" y="2166938"/>
            <a:ext cx="57150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sp>
        <p:nvSpPr>
          <p:cNvPr id="17" name="s33-code-label">
            <a:extLst xmlns:a="http://schemas.openxmlformats.org/drawingml/2006/main">
              <a:ext uri="{FF2B5EF4-FFF2-40B4-BE49-F238E27FC236}">
                <a16:creationId xmlns:a16="http://schemas.microsoft.com/office/drawing/2014/main" id="{3D07BC7C-3CFF-4FCF-B9AE-D2D7C4B0901D}"/>
              </a:ext>
            </a:extLst>
          </p:cNvPr>
          <p:cNvSpPr>
            <a:spLocks xmlns:a="http://schemas.openxmlformats.org/drawingml/2006/main" noGrp="1"/>
          </p:cNvSpPr>
          <p:nvPr/>
        </p:nvSpPr>
        <p:spPr>
          <a:xfrm xmlns:a="http://schemas.openxmlformats.org/drawingml/2006/main">
            <a:off x="2095500" y="3219450"/>
            <a:ext cx="800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C42026"/>
                </a:solidFill>
                <a:latin typeface="Aptos"/>
                <a:ea typeface="Aptos"/>
                <a:cs typeface="Aptos"/>
              </a:defRPr>
            </a:pPr>
            <a:r>
              <a:rPr sz="1200" b="1">
                <a:solidFill>
                  <a:srgbClr val="C42026"/>
                </a:solidFill>
                <a:latin typeface="Aptos"/>
                <a:ea typeface="Aptos"/>
                <a:cs typeface="Aptos"/>
              </a:rPr>
              <a:t>Первичное сравнение</a:t>
            </a:r>
          </a:p>
        </p:txBody>
      </p:sp>
      <p:sp>
        <p:nvSpPr>
          <p:cNvPr id="18" name="s33-code">
            <a:extLst xmlns:a="http://schemas.openxmlformats.org/drawingml/2006/main">
              <a:ext uri="{FF2B5EF4-FFF2-40B4-BE49-F238E27FC236}">
                <a16:creationId xmlns:a16="http://schemas.microsoft.com/office/drawing/2014/main" id="{9E6FA511-631F-42BF-BF9B-EAFD58D72C12}"/>
              </a:ext>
            </a:extLst>
          </p:cNvPr>
          <p:cNvSpPr>
            <a:spLocks xmlns:a="http://schemas.openxmlformats.org/drawingml/2006/main" noGrp="1"/>
          </p:cNvSpPr>
          <p:nvPr/>
        </p:nvSpPr>
        <p:spPr>
          <a:xfrm xmlns:a="http://schemas.openxmlformats.org/drawingml/2006/main">
            <a:off x="2095500" y="3476625"/>
            <a:ext cx="8001000" cy="933450"/>
          </a:xfrm>
          <a:prstGeom xmlns:a="http://schemas.openxmlformats.org/drawingml/2006/main" prst="roundRect">
            <a:avLst>
              <a:gd name="adj" fmla="val 3061"/>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jupyter nbconvert --to script incoming/source_v2.ipynb</a:t>
            </a:r>
          </a:p>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git diff --no-index incoming/source_v1.py incoming/source_v2.py</a:t>
            </a:r>
          </a:p>
        </p:txBody>
      </p:sp>
      <p:sp>
        <p:nvSpPr>
          <p:cNvPr id="19" name="s33-rule">
            <a:extLst xmlns:a="http://schemas.openxmlformats.org/drawingml/2006/main">
              <a:ext uri="{FF2B5EF4-FFF2-40B4-BE49-F238E27FC236}">
                <a16:creationId xmlns:a16="http://schemas.microsoft.com/office/drawing/2014/main" id="{290CA2FF-5A5B-4F67-8EE5-3EA4F9721D9D}"/>
              </a:ext>
            </a:extLst>
          </p:cNvPr>
          <p:cNvSpPr>
            <a:spLocks xmlns:a="http://schemas.openxmlformats.org/drawingml/2006/main" noGrp="1"/>
          </p:cNvSpPr>
          <p:nvPr/>
        </p:nvSpPr>
        <p:spPr>
          <a:xfrm xmlns:a="http://schemas.openxmlformats.org/drawingml/2006/main">
            <a:off x="2857500" y="4619625"/>
            <a:ext cx="6477000" cy="40005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Файлы src пока не изменяются</a:t>
            </a:r>
          </a:p>
        </p:txBody>
      </p:sp>
    </p:spTree>
    <p:extLst>
      <p:ext uri="{BB962C8B-B14F-4D97-AF65-F5344CB8AC3E}">
        <p14:creationId xmlns:p14="http://schemas.microsoft.com/office/powerpoint/2010/main" val="126418674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58A8DD-5550-4365-8537-CA00AB305F00}"/>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E60A671B-E020-4B33-9461-5F7D0B321CD6}"/>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Карта влияния изменений</a:t>
            </a:r>
            <a:endParaRPr sz="2300"/>
          </a:p>
        </p:txBody>
      </p:sp>
      <p:sp>
        <p:nvSpPr>
          <p:cNvPr id="4" name="Text 2">
            <a:extLst xmlns:a="http://schemas.openxmlformats.org/drawingml/2006/main">
              <a:ext uri="{FF2B5EF4-FFF2-40B4-BE49-F238E27FC236}">
                <a16:creationId xmlns:a16="http://schemas.microsoft.com/office/drawing/2014/main" id="{0942635A-A70A-42E1-8C41-2C87F0178609}"/>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D9C52AAE-14DF-4B66-BD65-E2504D6D142E}"/>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EE08FFEC-201D-4A38-8BAE-7133F8CCD622}"/>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Интеграция новой версии</a:t>
            </a:r>
            <a:endParaRPr sz="1200"/>
          </a:p>
        </p:txBody>
      </p:sp>
      <p:sp>
        <p:nvSpPr>
          <p:cNvPr id="7" name="Shape 5">
            <a:extLst xmlns:a="http://schemas.openxmlformats.org/drawingml/2006/main">
              <a:ext uri="{FF2B5EF4-FFF2-40B4-BE49-F238E27FC236}">
                <a16:creationId xmlns:a16="http://schemas.microsoft.com/office/drawing/2014/main" id="{BC5218EF-4E08-44DB-A9AC-49AA9EAD283E}"/>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B2F97F06-7008-42B1-ACEF-22AAE690D746}"/>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7948F59C-80C2-46E6-B3E3-1BC86BEF5996}"/>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34</a:t>
            </a:r>
            <a:endParaRPr sz="850"/>
          </a:p>
        </p:txBody>
      </p:sp>
      <p:sp>
        <p:nvSpPr>
          <p:cNvPr id="10" name="s34-change">
            <a:extLst xmlns:a="http://schemas.openxmlformats.org/drawingml/2006/main">
              <a:ext uri="{FF2B5EF4-FFF2-40B4-BE49-F238E27FC236}">
                <a16:creationId xmlns:a16="http://schemas.microsoft.com/office/drawing/2014/main" id="{BAE26438-EDB7-4686-BAA1-A28819EAB37F}"/>
              </a:ext>
            </a:extLst>
          </p:cNvPr>
          <p:cNvSpPr>
            <a:spLocks xmlns:a="http://schemas.openxmlformats.org/drawingml/2006/main" noGrp="1"/>
          </p:cNvSpPr>
          <p:nvPr/>
        </p:nvSpPr>
        <p:spPr>
          <a:xfrm xmlns:a="http://schemas.openxmlformats.org/drawingml/2006/main">
            <a:off x="4429125" y="1238250"/>
            <a:ext cx="3333750" cy="762000"/>
          </a:xfrm>
          <a:prstGeom xmlns:a="http://schemas.openxmlformats.org/drawingml/2006/main" prst="roundRect">
            <a:avLst>
              <a:gd name="adj" fmla="val 10000"/>
            </a:avLst>
          </a:prstGeom>
          <a:solidFill xmlns:a="http://schemas.openxmlformats.org/drawingml/2006/main">
            <a:srgbClr val="FDEBEC"/>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575" b="1">
                <a:solidFill>
                  <a:srgbClr val="151E2F"/>
                </a:solidFill>
                <a:latin typeface="Aptos"/>
                <a:ea typeface="Aptos"/>
                <a:cs typeface="Aptos"/>
              </a:defRPr>
            </a:pPr>
            <a:r>
              <a:rPr sz="1575" b="1">
                <a:solidFill>
                  <a:srgbClr val="151E2F"/>
                </a:solidFill>
                <a:latin typeface="Aptos"/>
                <a:ea typeface="Aptos"/>
                <a:cs typeface="Aptos"/>
              </a:rPr>
              <a:t>Что изменилось во входном скрипте?</a:t>
            </a:r>
          </a:p>
        </p:txBody>
      </p:sp>
      <p:sp>
        <p:nvSpPr>
          <p:cNvPr id="11" name="s34-features">
            <a:extLst xmlns:a="http://schemas.openxmlformats.org/drawingml/2006/main">
              <a:ext uri="{FF2B5EF4-FFF2-40B4-BE49-F238E27FC236}">
                <a16:creationId xmlns:a16="http://schemas.microsoft.com/office/drawing/2014/main" id="{3DA6EC0C-8E29-482E-AA0A-1B1D2FEFD3DA}"/>
              </a:ext>
            </a:extLst>
          </p:cNvPr>
          <p:cNvSpPr>
            <a:spLocks xmlns:a="http://schemas.openxmlformats.org/drawingml/2006/main" noGrp="1"/>
          </p:cNvSpPr>
          <p:nvPr/>
        </p:nvSpPr>
        <p:spPr>
          <a:xfrm xmlns:a="http://schemas.openxmlformats.org/drawingml/2006/main">
            <a:off x="666750" y="2714625"/>
            <a:ext cx="3143250" cy="1381125"/>
          </a:xfrm>
          <a:prstGeom xmlns:a="http://schemas.openxmlformats.org/drawingml/2006/main" prst="roundRect">
            <a:avLst>
              <a:gd name="adj" fmla="val 5517"/>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Новые признаки</a:t>
            </a:r>
          </a:p>
          <a:p xmlns:a="http://schemas.openxmlformats.org/drawingml/2006/main">
            <a:endParaRPr sz="1350" b="1">
              <a:solidFill>
                <a:srgbClr val="151E2F"/>
              </a:solidFill>
              <a:latin typeface="Aptos"/>
              <a:ea typeface="Aptos"/>
              <a:cs typeface="Aptos"/>
            </a:endParaRP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src/preprocess.py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tests/test_preprocess.py</a:t>
            </a:r>
          </a:p>
        </p:txBody>
      </p:sp>
      <p:sp>
        <p:nvSpPr>
          <p:cNvPr id="12" name="s34-params">
            <a:extLst xmlns:a="http://schemas.openxmlformats.org/drawingml/2006/main">
              <a:ext uri="{FF2B5EF4-FFF2-40B4-BE49-F238E27FC236}">
                <a16:creationId xmlns:a16="http://schemas.microsoft.com/office/drawing/2014/main" id="{741D43D2-DAA3-4343-8792-5D234C29461C}"/>
              </a:ext>
            </a:extLst>
          </p:cNvPr>
          <p:cNvSpPr>
            <a:spLocks xmlns:a="http://schemas.openxmlformats.org/drawingml/2006/main" noGrp="1"/>
          </p:cNvSpPr>
          <p:nvPr/>
        </p:nvSpPr>
        <p:spPr>
          <a:xfrm xmlns:a="http://schemas.openxmlformats.org/drawingml/2006/main">
            <a:off x="4524375" y="2714625"/>
            <a:ext cx="3143250" cy="1381125"/>
          </a:xfrm>
          <a:prstGeom xmlns:a="http://schemas.openxmlformats.org/drawingml/2006/main" prst="roundRect">
            <a:avLst>
              <a:gd name="adj" fmla="val 5517"/>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Новые параметры модели</a:t>
            </a:r>
          </a:p>
          <a:p xmlns:a="http://schemas.openxmlformats.org/drawingml/2006/main">
            <a:endParaRPr sz="1350" b="1">
              <a:solidFill>
                <a:srgbClr val="151E2F"/>
              </a:solidFill>
              <a:latin typeface="Aptos"/>
              <a:ea typeface="Aptos"/>
              <a:cs typeface="Aptos"/>
            </a:endParaRP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config.yaml  src/train.py</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models/model.pkl</a:t>
            </a:r>
          </a:p>
        </p:txBody>
      </p:sp>
      <p:sp>
        <p:nvSpPr>
          <p:cNvPr id="13" name="s34-response">
            <a:extLst xmlns:a="http://schemas.openxmlformats.org/drawingml/2006/main">
              <a:ext uri="{FF2B5EF4-FFF2-40B4-BE49-F238E27FC236}">
                <a16:creationId xmlns:a16="http://schemas.microsoft.com/office/drawing/2014/main" id="{8AB6CD4E-5FE0-4477-90C8-5E46D27AEE6D}"/>
              </a:ext>
            </a:extLst>
          </p:cNvPr>
          <p:cNvSpPr>
            <a:spLocks xmlns:a="http://schemas.openxmlformats.org/drawingml/2006/main" noGrp="1"/>
          </p:cNvSpPr>
          <p:nvPr/>
        </p:nvSpPr>
        <p:spPr>
          <a:xfrm xmlns:a="http://schemas.openxmlformats.org/drawingml/2006/main">
            <a:off x="8382000" y="2714625"/>
            <a:ext cx="3143250" cy="1381125"/>
          </a:xfrm>
          <a:prstGeom xmlns:a="http://schemas.openxmlformats.org/drawingml/2006/main" prst="roundRect">
            <a:avLst>
              <a:gd name="adj" fmla="val 5517"/>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Новый формат ответа</a:t>
            </a:r>
          </a:p>
          <a:p xmlns:a="http://schemas.openxmlformats.org/drawingml/2006/main">
            <a:endParaRPr sz="1350" b="1">
              <a:solidFill>
                <a:srgbClr val="151E2F"/>
              </a:solidFill>
              <a:latin typeface="Aptos"/>
              <a:ea typeface="Aptos"/>
              <a:cs typeface="Aptos"/>
            </a:endParaRP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src/predict.py  CLI/API</a:t>
            </a:r>
          </a:p>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tests  README.md</a:t>
            </a:r>
          </a:p>
        </p:txBody>
      </p:sp>
      <p:cxnSp>
        <p:nvCxnSpPr>
          <p:cNvPr id="45" name="Соединитель: уступ 29"/>
          <p:cNvCxnSpPr>
            <a:stCxn xmlns:a="http://schemas.openxmlformats.org/drawingml/2006/main" id="10" idx="2"/>
            <a:endCxn xmlns:a="http://schemas.openxmlformats.org/drawingml/2006/main" id="11" idx="0"/>
          </p:cNvCxnSpPr>
          <p:nvPr/>
        </p:nvCxnSpPr>
        <p:spPr>
          <a:xfrm xmlns:a="http://schemas.openxmlformats.org/drawingml/2006/main" flipH="1">
            <a:off x="2238375" y="2000250"/>
            <a:ext cx="3857625" cy="714375"/>
          </a:xfrm>
          <a:prstGeom xmlns:a="http://schemas.openxmlformats.org/drawingml/2006/main" prst="bentConnector4">
            <a:avLst>
              <a:gd name="adj1" fmla="val 0"/>
              <a:gd name="adj2" fmla="val 50000"/>
            </a:avLst>
          </a:prstGeom>
          <a:ln xmlns:a="http://schemas.openxmlformats.org/drawingml/2006/main" w="19050">
            <a:solidFill>
              <a:srgbClr val="2F66E8"/>
            </a:solidFill>
            <a:prstDash val="solid"/>
            <a:tailEnd type="triangle" w="sm" len="sm"/>
          </a:ln>
        </p:spPr>
      </p:cxnSp>
      <p:cxnSp>
        <p:nvCxnSpPr>
          <p:cNvPr id="46" name="Прямая со стрелкой 30"/>
          <p:cNvCxnSpPr>
            <a:stCxn xmlns:a="http://schemas.openxmlformats.org/drawingml/2006/main" id="10" idx="2"/>
            <a:endCxn xmlns:a="http://schemas.openxmlformats.org/drawingml/2006/main" id="12" idx="0"/>
          </p:cNvCxnSpPr>
          <p:nvPr/>
        </p:nvCxnSpPr>
        <p:spPr>
          <a:xfrm xmlns:a="http://schemas.openxmlformats.org/drawingml/2006/main">
            <a:off x="6096000" y="2000250"/>
            <a:ext cx="0" cy="714375"/>
          </a:xfrm>
          <a:prstGeom xmlns:a="http://schemas.openxmlformats.org/drawingml/2006/main" prst="straightConnector1">
            <a:avLst/>
          </a:prstGeom>
          <a:ln xmlns:a="http://schemas.openxmlformats.org/drawingml/2006/main" w="19050">
            <a:solidFill>
              <a:srgbClr val="B95A08"/>
            </a:solidFill>
            <a:prstDash val="solid"/>
            <a:tailEnd type="triangle" w="sm" len="sm"/>
          </a:ln>
        </p:spPr>
      </p:cxnSp>
      <p:cxnSp>
        <p:nvCxnSpPr>
          <p:cNvPr id="47" name="Соединитель: уступ 31"/>
          <p:cNvCxnSpPr>
            <a:stCxn xmlns:a="http://schemas.openxmlformats.org/drawingml/2006/main" id="10" idx="2"/>
            <a:endCxn xmlns:a="http://schemas.openxmlformats.org/drawingml/2006/main" id="13" idx="0"/>
          </p:cNvCxnSpPr>
          <p:nvPr/>
        </p:nvCxnSpPr>
        <p:spPr>
          <a:xfrm xmlns:a="http://schemas.openxmlformats.org/drawingml/2006/main">
            <a:off x="6096000" y="2000250"/>
            <a:ext cx="3857625" cy="714375"/>
          </a:xfrm>
          <a:prstGeom xmlns:a="http://schemas.openxmlformats.org/drawingml/2006/main" prst="bentConnector4">
            <a:avLst>
              <a:gd name="adj1" fmla="val 0"/>
              <a:gd name="adj2" fmla="val 50000"/>
            </a:avLst>
          </a:prstGeom>
          <a:ln xmlns:a="http://schemas.openxmlformats.org/drawingml/2006/main" w="19050">
            <a:solidFill>
              <a:srgbClr val="087F5B"/>
            </a:solidFill>
            <a:prstDash val="solid"/>
            <a:tailEnd type="triangle" w="sm" len="sm"/>
          </a:ln>
        </p:spPr>
      </p:cxnSp>
      <p:sp>
        <p:nvSpPr>
          <p:cNvPr id="17" name="s34-result">
            <a:extLst xmlns:a="http://schemas.openxmlformats.org/drawingml/2006/main">
              <a:ext uri="{FF2B5EF4-FFF2-40B4-BE49-F238E27FC236}">
                <a16:creationId xmlns:a16="http://schemas.microsoft.com/office/drawing/2014/main" id="{B1D251CE-E8DB-4394-BB55-CC021A18214A}"/>
              </a:ext>
            </a:extLst>
          </p:cNvPr>
          <p:cNvSpPr>
            <a:spLocks xmlns:a="http://schemas.openxmlformats.org/drawingml/2006/main" noGrp="1"/>
          </p:cNvSpPr>
          <p:nvPr/>
        </p:nvSpPr>
        <p:spPr>
          <a:xfrm xmlns:a="http://schemas.openxmlformats.org/drawingml/2006/main">
            <a:off x="2524125" y="4429125"/>
            <a:ext cx="7143750" cy="523875"/>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425" b="1">
                <a:solidFill>
                  <a:srgbClr val="151E2F"/>
                </a:solidFill>
                <a:latin typeface="Aptos"/>
                <a:ea typeface="Aptos"/>
                <a:cs typeface="Aptos"/>
              </a:defRPr>
            </a:pPr>
            <a:r>
              <a:rPr sz="1425" b="1">
                <a:solidFill>
                  <a:srgbClr val="151E2F"/>
                </a:solidFill>
                <a:latin typeface="Aptos"/>
                <a:ea typeface="Aptos"/>
                <a:cs typeface="Aptos"/>
              </a:rPr>
              <a:t>Карта влияния определяет состав изменений и проверок</a:t>
            </a:r>
          </a:p>
        </p:txBody>
      </p:sp>
    </p:spTree>
    <p:extLst>
      <p:ext uri="{BB962C8B-B14F-4D97-AF65-F5344CB8AC3E}">
        <p14:creationId xmlns:p14="http://schemas.microsoft.com/office/powerpoint/2010/main" val="13731947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524CE1-64F1-4FAC-941E-D0E3BEB05924}"/>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84FA25DD-3664-47E6-9E1F-E571D0F82A8D}"/>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Интеграция новой версии</a:t>
            </a:r>
            <a:endParaRPr sz="2300"/>
          </a:p>
        </p:txBody>
      </p:sp>
      <p:sp>
        <p:nvSpPr>
          <p:cNvPr id="4" name="Text 2">
            <a:extLst xmlns:a="http://schemas.openxmlformats.org/drawingml/2006/main">
              <a:ext uri="{FF2B5EF4-FFF2-40B4-BE49-F238E27FC236}">
                <a16:creationId xmlns:a16="http://schemas.microsoft.com/office/drawing/2014/main" id="{DE0004EE-38BE-4DC8-996E-38E0F7525F8B}"/>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2CD277EF-3E28-4606-81F3-7E14A69247DC}"/>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0E24C43D-2A6D-485D-A118-5D53304EE5E2}"/>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Исходник и проект как разные представления</a:t>
            </a:r>
            <a:endParaRPr sz="1200"/>
          </a:p>
        </p:txBody>
      </p:sp>
      <p:sp>
        <p:nvSpPr>
          <p:cNvPr id="7" name="Shape 5">
            <a:extLst xmlns:a="http://schemas.openxmlformats.org/drawingml/2006/main">
              <a:ext uri="{FF2B5EF4-FFF2-40B4-BE49-F238E27FC236}">
                <a16:creationId xmlns:a16="http://schemas.microsoft.com/office/drawing/2014/main" id="{30C228DF-F447-499C-AEF0-1554810E7765}"/>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AC458900-0B0C-4174-9270-B4C56CAAE381}"/>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E4145D70-19B4-4D7F-973A-5CC8C0403191}"/>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35</a:t>
            </a:r>
            <a:endParaRPr sz="850"/>
          </a:p>
        </p:txBody>
      </p:sp>
      <p:sp>
        <p:nvSpPr>
          <p:cNvPr id="10" name="s35-step-0">
            <a:extLst xmlns:a="http://schemas.openxmlformats.org/drawingml/2006/main">
              <a:ext uri="{FF2B5EF4-FFF2-40B4-BE49-F238E27FC236}">
                <a16:creationId xmlns:a16="http://schemas.microsoft.com/office/drawing/2014/main" id="{219DC2F4-CA46-46EA-B091-78440DF7E2A5}"/>
              </a:ext>
            </a:extLst>
          </p:cNvPr>
          <p:cNvSpPr>
            <a:spLocks xmlns:a="http://schemas.openxmlformats.org/drawingml/2006/main" noGrp="1"/>
          </p:cNvSpPr>
          <p:nvPr/>
        </p:nvSpPr>
        <p:spPr>
          <a:xfrm xmlns:a="http://schemas.openxmlformats.org/drawingml/2006/main">
            <a:off x="495300" y="1524000"/>
            <a:ext cx="1600200" cy="952500"/>
          </a:xfrm>
          <a:prstGeom xmlns:a="http://schemas.openxmlformats.org/drawingml/2006/main" prst="roundRect">
            <a:avLst>
              <a:gd name="adj" fmla="val 8000"/>
            </a:avLst>
          </a:prstGeom>
          <a:solidFill xmlns:a="http://schemas.openxmlformats.org/drawingml/2006/main">
            <a:srgbClr val="FDEBEC"/>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1. Эталон</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результат</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версии 2</a:t>
            </a:r>
          </a:p>
        </p:txBody>
      </p:sp>
      <p:sp>
        <p:nvSpPr>
          <p:cNvPr id="11" name="s35-step-1">
            <a:extLst xmlns:a="http://schemas.openxmlformats.org/drawingml/2006/main">
              <a:ext uri="{FF2B5EF4-FFF2-40B4-BE49-F238E27FC236}">
                <a16:creationId xmlns:a16="http://schemas.microsoft.com/office/drawing/2014/main" id="{D70278A2-7D0A-464A-B2F0-59E4A6142B3A}"/>
              </a:ext>
            </a:extLst>
          </p:cNvPr>
          <p:cNvSpPr>
            <a:spLocks xmlns:a="http://schemas.openxmlformats.org/drawingml/2006/main" noGrp="1"/>
          </p:cNvSpPr>
          <p:nvPr/>
        </p:nvSpPr>
        <p:spPr>
          <a:xfrm xmlns:a="http://schemas.openxmlformats.org/drawingml/2006/main">
            <a:off x="2428875" y="1524000"/>
            <a:ext cx="1600200" cy="952500"/>
          </a:xfrm>
          <a:prstGeom xmlns:a="http://schemas.openxmlformats.org/drawingml/2006/main" prst="roundRect">
            <a:avLst>
              <a:gd name="adj" fmla="val 8000"/>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2. Тест</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зафиксировать</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ожидание</a:t>
            </a:r>
          </a:p>
        </p:txBody>
      </p:sp>
      <p:sp>
        <p:nvSpPr>
          <p:cNvPr id="12" name="s35-step-2">
            <a:extLst xmlns:a="http://schemas.openxmlformats.org/drawingml/2006/main">
              <a:ext uri="{FF2B5EF4-FFF2-40B4-BE49-F238E27FC236}">
                <a16:creationId xmlns:a16="http://schemas.microsoft.com/office/drawing/2014/main" id="{93A5818E-EB28-46AA-89F4-EB0853AAE09A}"/>
              </a:ext>
            </a:extLst>
          </p:cNvPr>
          <p:cNvSpPr>
            <a:spLocks xmlns:a="http://schemas.openxmlformats.org/drawingml/2006/main" noGrp="1"/>
          </p:cNvSpPr>
          <p:nvPr/>
        </p:nvSpPr>
        <p:spPr>
          <a:xfrm xmlns:a="http://schemas.openxmlformats.org/drawingml/2006/main">
            <a:off x="4362450" y="1524000"/>
            <a:ext cx="1600200" cy="952500"/>
          </a:xfrm>
          <a:prstGeom xmlns:a="http://schemas.openxmlformats.org/drawingml/2006/main" prst="roundRect">
            <a:avLst>
              <a:gd name="adj" fmla="val 8000"/>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3. Модуль</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изменить один</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файл проекта</a:t>
            </a:r>
          </a:p>
        </p:txBody>
      </p:sp>
      <p:sp>
        <p:nvSpPr>
          <p:cNvPr id="13" name="s35-step-3">
            <a:extLst xmlns:a="http://schemas.openxmlformats.org/drawingml/2006/main">
              <a:ext uri="{FF2B5EF4-FFF2-40B4-BE49-F238E27FC236}">
                <a16:creationId xmlns:a16="http://schemas.microsoft.com/office/drawing/2014/main" id="{6B9E63FE-0CDD-4142-B0C1-2D0E60B9E796}"/>
              </a:ext>
            </a:extLst>
          </p:cNvPr>
          <p:cNvSpPr>
            <a:spLocks xmlns:a="http://schemas.openxmlformats.org/drawingml/2006/main" noGrp="1"/>
          </p:cNvSpPr>
          <p:nvPr/>
        </p:nvSpPr>
        <p:spPr>
          <a:xfrm xmlns:a="http://schemas.openxmlformats.org/drawingml/2006/main">
            <a:off x="6296025" y="1524000"/>
            <a:ext cx="1600200" cy="952500"/>
          </a:xfrm>
          <a:prstGeom xmlns:a="http://schemas.openxmlformats.org/drawingml/2006/main" prst="roundRect">
            <a:avLst>
              <a:gd name="adj" fmla="val 8000"/>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4. Запуск</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pytest</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контрольный набор</a:t>
            </a:r>
          </a:p>
        </p:txBody>
      </p:sp>
      <p:sp>
        <p:nvSpPr>
          <p:cNvPr id="14" name="s35-step-4">
            <a:extLst xmlns:a="http://schemas.openxmlformats.org/drawingml/2006/main">
              <a:ext uri="{FF2B5EF4-FFF2-40B4-BE49-F238E27FC236}">
                <a16:creationId xmlns:a16="http://schemas.microsoft.com/office/drawing/2014/main" id="{82F5D546-A9FB-41C4-8736-D9DC25CA42D5}"/>
              </a:ext>
            </a:extLst>
          </p:cNvPr>
          <p:cNvSpPr>
            <a:spLocks xmlns:a="http://schemas.openxmlformats.org/drawingml/2006/main" noGrp="1"/>
          </p:cNvSpPr>
          <p:nvPr/>
        </p:nvSpPr>
        <p:spPr>
          <a:xfrm xmlns:a="http://schemas.openxmlformats.org/drawingml/2006/main">
            <a:off x="8229600" y="1524000"/>
            <a:ext cx="1600200" cy="952500"/>
          </a:xfrm>
          <a:prstGeom xmlns:a="http://schemas.openxmlformats.org/drawingml/2006/main" prst="roundRect">
            <a:avLst>
              <a:gd name="adj" fmla="val 8000"/>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5. Сравнение</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выходы</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и метрики</a:t>
            </a:r>
          </a:p>
        </p:txBody>
      </p:sp>
      <p:sp>
        <p:nvSpPr>
          <p:cNvPr id="15" name="s35-step-5">
            <a:extLst xmlns:a="http://schemas.openxmlformats.org/drawingml/2006/main">
              <a:ext uri="{FF2B5EF4-FFF2-40B4-BE49-F238E27FC236}">
                <a16:creationId xmlns:a16="http://schemas.microsoft.com/office/drawing/2014/main" id="{DB408A7A-129F-4FFC-A216-210701CB31CC}"/>
              </a:ext>
            </a:extLst>
          </p:cNvPr>
          <p:cNvSpPr>
            <a:spLocks xmlns:a="http://schemas.openxmlformats.org/drawingml/2006/main" noGrp="1"/>
          </p:cNvSpPr>
          <p:nvPr/>
        </p:nvSpPr>
        <p:spPr>
          <a:xfrm xmlns:a="http://schemas.openxmlformats.org/drawingml/2006/main">
            <a:off x="10163175" y="1524000"/>
            <a:ext cx="1600200" cy="952500"/>
          </a:xfrm>
          <a:prstGeom xmlns:a="http://schemas.openxmlformats.org/drawingml/2006/main" prst="roundRect">
            <a:avLst>
              <a:gd name="adj" fmla="val 8000"/>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6. Коммит</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одна логическая</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часть</a:t>
            </a:r>
          </a:p>
        </p:txBody>
      </p:sp>
      <p:cxnSp>
        <p:nvCxnSpPr>
          <p:cNvPr id="57" name="Прямая со стрелкой 37"/>
          <p:cNvCxnSpPr>
            <a:stCxn xmlns:a="http://schemas.openxmlformats.org/drawingml/2006/main" id="10" idx="3"/>
            <a:endCxn xmlns:a="http://schemas.openxmlformats.org/drawingml/2006/main" id="11" idx="1"/>
          </p:cNvCxnSpPr>
          <p:nvPr/>
        </p:nvCxnSpPr>
        <p:spPr>
          <a:xfrm xmlns:a="http://schemas.openxmlformats.org/drawingml/2006/main">
            <a:off x="2095500" y="2000250"/>
            <a:ext cx="333375" cy="0"/>
          </a:xfrm>
          <a:prstGeom xmlns:a="http://schemas.openxmlformats.org/drawingml/2006/main" prst="straightConnector1">
            <a:avLst/>
          </a:prstGeom>
          <a:ln xmlns:a="http://schemas.openxmlformats.org/drawingml/2006/main" w="17145">
            <a:solidFill>
              <a:srgbClr val="64748B"/>
            </a:solidFill>
            <a:prstDash val="solid"/>
            <a:tailEnd type="triangle" w="sm" len="sm"/>
          </a:ln>
        </p:spPr>
      </p:cxnSp>
      <p:cxnSp>
        <p:nvCxnSpPr>
          <p:cNvPr id="58" name="Прямая со стрелкой 38"/>
          <p:cNvCxnSpPr>
            <a:stCxn xmlns:a="http://schemas.openxmlformats.org/drawingml/2006/main" id="11" idx="3"/>
            <a:endCxn xmlns:a="http://schemas.openxmlformats.org/drawingml/2006/main" id="12" idx="1"/>
          </p:cNvCxnSpPr>
          <p:nvPr/>
        </p:nvCxnSpPr>
        <p:spPr>
          <a:xfrm xmlns:a="http://schemas.openxmlformats.org/drawingml/2006/main">
            <a:off x="4029075" y="2000250"/>
            <a:ext cx="333375" cy="0"/>
          </a:xfrm>
          <a:prstGeom xmlns:a="http://schemas.openxmlformats.org/drawingml/2006/main" prst="straightConnector1">
            <a:avLst/>
          </a:prstGeom>
          <a:ln xmlns:a="http://schemas.openxmlformats.org/drawingml/2006/main" w="17145">
            <a:solidFill>
              <a:srgbClr val="64748B"/>
            </a:solidFill>
            <a:prstDash val="solid"/>
            <a:tailEnd type="triangle" w="sm" len="sm"/>
          </a:ln>
        </p:spPr>
      </p:cxnSp>
      <p:cxnSp>
        <p:nvCxnSpPr>
          <p:cNvPr id="59" name="Прямая со стрелкой 39"/>
          <p:cNvCxnSpPr>
            <a:stCxn xmlns:a="http://schemas.openxmlformats.org/drawingml/2006/main" id="12" idx="3"/>
            <a:endCxn xmlns:a="http://schemas.openxmlformats.org/drawingml/2006/main" id="13" idx="1"/>
          </p:cNvCxnSpPr>
          <p:nvPr/>
        </p:nvCxnSpPr>
        <p:spPr>
          <a:xfrm xmlns:a="http://schemas.openxmlformats.org/drawingml/2006/main">
            <a:off x="5962650" y="2000250"/>
            <a:ext cx="333375" cy="0"/>
          </a:xfrm>
          <a:prstGeom xmlns:a="http://schemas.openxmlformats.org/drawingml/2006/main" prst="straightConnector1">
            <a:avLst/>
          </a:prstGeom>
          <a:ln xmlns:a="http://schemas.openxmlformats.org/drawingml/2006/main" w="17145">
            <a:solidFill>
              <a:srgbClr val="64748B"/>
            </a:solidFill>
            <a:prstDash val="solid"/>
            <a:tailEnd type="triangle" w="sm" len="sm"/>
          </a:ln>
        </p:spPr>
      </p:cxnSp>
      <p:cxnSp>
        <p:nvCxnSpPr>
          <p:cNvPr id="60" name="Прямая со стрелкой 40"/>
          <p:cNvCxnSpPr>
            <a:stCxn xmlns:a="http://schemas.openxmlformats.org/drawingml/2006/main" id="13" idx="3"/>
            <a:endCxn xmlns:a="http://schemas.openxmlformats.org/drawingml/2006/main" id="14" idx="1"/>
          </p:cNvCxnSpPr>
          <p:nvPr/>
        </p:nvCxnSpPr>
        <p:spPr>
          <a:xfrm xmlns:a="http://schemas.openxmlformats.org/drawingml/2006/main">
            <a:off x="7896225" y="2000250"/>
            <a:ext cx="333375" cy="0"/>
          </a:xfrm>
          <a:prstGeom xmlns:a="http://schemas.openxmlformats.org/drawingml/2006/main" prst="straightConnector1">
            <a:avLst/>
          </a:prstGeom>
          <a:ln xmlns:a="http://schemas.openxmlformats.org/drawingml/2006/main" w="17145">
            <a:solidFill>
              <a:srgbClr val="64748B"/>
            </a:solidFill>
            <a:prstDash val="solid"/>
            <a:tailEnd type="triangle" w="sm" len="sm"/>
          </a:ln>
        </p:spPr>
      </p:cxnSp>
      <p:cxnSp>
        <p:nvCxnSpPr>
          <p:cNvPr id="61" name="Прямая со стрелкой 41"/>
          <p:cNvCxnSpPr>
            <a:stCxn xmlns:a="http://schemas.openxmlformats.org/drawingml/2006/main" id="14" idx="3"/>
            <a:endCxn xmlns:a="http://schemas.openxmlformats.org/drawingml/2006/main" id="15" idx="1"/>
          </p:cNvCxnSpPr>
          <p:nvPr/>
        </p:nvCxnSpPr>
        <p:spPr>
          <a:xfrm xmlns:a="http://schemas.openxmlformats.org/drawingml/2006/main">
            <a:off x="9829800" y="2000250"/>
            <a:ext cx="333375" cy="0"/>
          </a:xfrm>
          <a:prstGeom xmlns:a="http://schemas.openxmlformats.org/drawingml/2006/main" prst="straightConnector1">
            <a:avLst/>
          </a:prstGeom>
          <a:ln xmlns:a="http://schemas.openxmlformats.org/drawingml/2006/main" w="17145">
            <a:solidFill>
              <a:srgbClr val="64748B"/>
            </a:solidFill>
            <a:prstDash val="solid"/>
            <a:tailEnd type="triangle" w="sm" len="sm"/>
          </a:ln>
        </p:spPr>
      </p:cxnSp>
      <p:sp>
        <p:nvSpPr>
          <p:cNvPr id="21" name="s35-code-label">
            <a:extLst xmlns:a="http://schemas.openxmlformats.org/drawingml/2006/main">
              <a:ext uri="{FF2B5EF4-FFF2-40B4-BE49-F238E27FC236}">
                <a16:creationId xmlns:a16="http://schemas.microsoft.com/office/drawing/2014/main" id="{77C2A3CC-FCED-4E68-8577-CB368853D742}"/>
              </a:ext>
            </a:extLst>
          </p:cNvPr>
          <p:cNvSpPr>
            <a:spLocks xmlns:a="http://schemas.openxmlformats.org/drawingml/2006/main" noGrp="1"/>
          </p:cNvSpPr>
          <p:nvPr/>
        </p:nvSpPr>
        <p:spPr>
          <a:xfrm xmlns:a="http://schemas.openxmlformats.org/drawingml/2006/main">
            <a:off x="2000250" y="3124200"/>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C42026"/>
                </a:solidFill>
                <a:latin typeface="Aptos"/>
                <a:ea typeface="Aptos"/>
                <a:cs typeface="Aptos"/>
              </a:defRPr>
            </a:pPr>
            <a:r>
              <a:rPr sz="1200" b="1">
                <a:solidFill>
                  <a:srgbClr val="C42026"/>
                </a:solidFill>
                <a:latin typeface="Aptos"/>
                <a:ea typeface="Aptos"/>
                <a:cs typeface="Aptos"/>
              </a:rPr>
              <a:t>Регрессионная проверка</a:t>
            </a:r>
          </a:p>
        </p:txBody>
      </p:sp>
      <p:sp>
        <p:nvSpPr>
          <p:cNvPr id="22" name="s35-code">
            <a:extLst xmlns:a="http://schemas.openxmlformats.org/drawingml/2006/main">
              <a:ext uri="{FF2B5EF4-FFF2-40B4-BE49-F238E27FC236}">
                <a16:creationId xmlns:a16="http://schemas.microsoft.com/office/drawing/2014/main" id="{5997932C-23B3-47B8-8D6A-D04B29CD0044}"/>
              </a:ext>
            </a:extLst>
          </p:cNvPr>
          <p:cNvSpPr>
            <a:spLocks xmlns:a="http://schemas.openxmlformats.org/drawingml/2006/main" noGrp="1"/>
          </p:cNvSpPr>
          <p:nvPr/>
        </p:nvSpPr>
        <p:spPr>
          <a:xfrm xmlns:a="http://schemas.openxmlformats.org/drawingml/2006/main">
            <a:off x="2000250" y="3381375"/>
            <a:ext cx="8191500" cy="1066800"/>
          </a:xfrm>
          <a:prstGeom xmlns:a="http://schemas.openxmlformats.org/drawingml/2006/main" prst="roundRect">
            <a:avLst>
              <a:gd name="adj" fmla="val 2679"/>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expected = load_json("baseline/source_v2.json")</a:t>
            </a:r>
          </a:p>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actual = predict(control_df)</a:t>
            </a:r>
          </a:p>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np.testing.assert_allclose(actual, expected, rtol=1e-5)</a:t>
            </a:r>
          </a:p>
        </p:txBody>
      </p:sp>
      <p:sp>
        <p:nvSpPr>
          <p:cNvPr id="23" name="s35-loop">
            <a:extLst xmlns:a="http://schemas.openxmlformats.org/drawingml/2006/main">
              <a:ext uri="{FF2B5EF4-FFF2-40B4-BE49-F238E27FC236}">
                <a16:creationId xmlns:a16="http://schemas.microsoft.com/office/drawing/2014/main" id="{370FE4EE-1363-486D-B3F4-E362E483DCD7}"/>
              </a:ext>
            </a:extLst>
          </p:cNvPr>
          <p:cNvSpPr>
            <a:spLocks xmlns:a="http://schemas.openxmlformats.org/drawingml/2006/main" noGrp="1"/>
          </p:cNvSpPr>
          <p:nvPr/>
        </p:nvSpPr>
        <p:spPr>
          <a:xfrm xmlns:a="http://schemas.openxmlformats.org/drawingml/2006/main">
            <a:off x="3238500" y="4667250"/>
            <a:ext cx="5715000" cy="361950"/>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2383">
            <a:solidFill>
              <a:srgbClr val="546274"/>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Если проверка не прошла, уточняем одну внесённую часть</a:t>
            </a:r>
          </a:p>
        </p:txBody>
      </p:sp>
    </p:spTree>
    <p:extLst>
      <p:ext uri="{BB962C8B-B14F-4D97-AF65-F5344CB8AC3E}">
        <p14:creationId xmlns:p14="http://schemas.microsoft.com/office/powerpoint/2010/main" val="10728392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951B3D-4E3A-4DF3-B207-DE7927923054}"/>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587F674F-0F22-4A45-A8A0-7A5901F8EE7B}"/>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Исходник и проект как разные представления</a:t>
            </a:r>
            <a:endParaRPr sz="2300"/>
          </a:p>
        </p:txBody>
      </p:sp>
      <p:sp>
        <p:nvSpPr>
          <p:cNvPr id="4" name="Text 2">
            <a:extLst xmlns:a="http://schemas.openxmlformats.org/drawingml/2006/main">
              <a:ext uri="{FF2B5EF4-FFF2-40B4-BE49-F238E27FC236}">
                <a16:creationId xmlns:a16="http://schemas.microsoft.com/office/drawing/2014/main" id="{D28BD1E1-0C2E-4DDD-894F-40BA06AFC6B9}"/>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75CBDD81-3052-4756-A9F8-01099DB313CD}"/>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2E4CE9FB-D34B-4BAB-8AF6-C7E60DDA7FB8}"/>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Пример изменения алгоритма</a:t>
            </a:r>
            <a:endParaRPr sz="1200"/>
          </a:p>
        </p:txBody>
      </p:sp>
      <p:sp>
        <p:nvSpPr>
          <p:cNvPr id="7" name="Shape 5">
            <a:extLst xmlns:a="http://schemas.openxmlformats.org/drawingml/2006/main">
              <a:ext uri="{FF2B5EF4-FFF2-40B4-BE49-F238E27FC236}">
                <a16:creationId xmlns:a16="http://schemas.microsoft.com/office/drawing/2014/main" id="{84C06D47-F795-4744-A694-29224D4BECE5}"/>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23C10075-B519-4DEB-AB8A-5809B2BCD2C9}"/>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48F29753-5D2E-4F64-8470-9A6827BCADA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36</a:t>
            </a:r>
            <a:endParaRPr sz="850"/>
          </a:p>
        </p:txBody>
      </p:sp>
      <p:sp>
        <p:nvSpPr>
          <p:cNvPr id="10" name="s36-source-label">
            <a:extLst xmlns:a="http://schemas.openxmlformats.org/drawingml/2006/main">
              <a:ext uri="{FF2B5EF4-FFF2-40B4-BE49-F238E27FC236}">
                <a16:creationId xmlns:a16="http://schemas.microsoft.com/office/drawing/2014/main" id="{CCE0C7FF-2D2F-4414-831C-FE7E684C87EF}"/>
              </a:ext>
            </a:extLst>
          </p:cNvPr>
          <p:cNvSpPr>
            <a:spLocks xmlns:a="http://schemas.openxmlformats.org/drawingml/2006/main" noGrp="1"/>
          </p:cNvSpPr>
          <p:nvPr/>
        </p:nvSpPr>
        <p:spPr>
          <a:xfrm xmlns:a="http://schemas.openxmlformats.org/drawingml/2006/main">
            <a:off x="666750" y="1457325"/>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C42026"/>
                </a:solidFill>
                <a:latin typeface="Aptos"/>
                <a:ea typeface="Aptos"/>
                <a:cs typeface="Aptos"/>
              </a:defRPr>
            </a:pPr>
            <a:r>
              <a:rPr sz="1200" b="1">
                <a:solidFill>
                  <a:srgbClr val="C42026"/>
                </a:solidFill>
                <a:latin typeface="Aptos"/>
                <a:ea typeface="Aptos"/>
                <a:cs typeface="Aptos"/>
              </a:rPr>
              <a:t>Исследовательский исходник</a:t>
            </a:r>
          </a:p>
        </p:txBody>
      </p:sp>
      <p:sp>
        <p:nvSpPr>
          <p:cNvPr id="11" name="s36-source">
            <a:extLst xmlns:a="http://schemas.openxmlformats.org/drawingml/2006/main">
              <a:ext uri="{FF2B5EF4-FFF2-40B4-BE49-F238E27FC236}">
                <a16:creationId xmlns:a16="http://schemas.microsoft.com/office/drawing/2014/main" id="{AF7C44A7-43B1-44C0-9761-C98AE8B51F2C}"/>
              </a:ext>
            </a:extLst>
          </p:cNvPr>
          <p:cNvSpPr>
            <a:spLocks xmlns:a="http://schemas.openxmlformats.org/drawingml/2006/main" noGrp="1"/>
          </p:cNvSpPr>
          <p:nvPr/>
        </p:nvSpPr>
        <p:spPr>
          <a:xfrm xmlns:a="http://schemas.openxmlformats.org/drawingml/2006/main">
            <a:off x="666750" y="1714500"/>
            <a:ext cx="3905250" cy="2000250"/>
          </a:xfrm>
          <a:prstGeom xmlns:a="http://schemas.openxmlformats.org/drawingml/2006/main" prst="roundRect">
            <a:avLst>
              <a:gd name="adj" fmla="val 1429"/>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 source_v2.ipynb</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df["ratio"] = df.a / df.b</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result = model.predict(df[FEATURES])</a:t>
            </a:r>
          </a:p>
        </p:txBody>
      </p:sp>
      <p:sp>
        <p:nvSpPr>
          <p:cNvPr id="12" name="s36-contract">
            <a:extLst xmlns:a="http://schemas.openxmlformats.org/drawingml/2006/main">
              <a:ext uri="{FF2B5EF4-FFF2-40B4-BE49-F238E27FC236}">
                <a16:creationId xmlns:a16="http://schemas.microsoft.com/office/drawing/2014/main" id="{5F086DEB-725A-4BC6-BC10-58F690C74BEB}"/>
              </a:ext>
            </a:extLst>
          </p:cNvPr>
          <p:cNvSpPr>
            <a:spLocks xmlns:a="http://schemas.openxmlformats.org/drawingml/2006/main" noGrp="1"/>
          </p:cNvSpPr>
          <p:nvPr/>
        </p:nvSpPr>
        <p:spPr>
          <a:xfrm xmlns:a="http://schemas.openxmlformats.org/drawingml/2006/main">
            <a:off x="5191125" y="2047875"/>
            <a:ext cx="1809750" cy="1333500"/>
          </a:xfrm>
          <a:prstGeom xmlns:a="http://schemas.openxmlformats.org/drawingml/2006/main" prst="roundRect">
            <a:avLst>
              <a:gd name="adj" fmla="val 5714"/>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Контракт</a:t>
            </a:r>
          </a:p>
          <a:p xmlns:a="http://schemas.openxmlformats.org/drawingml/2006/main">
            <a:endParaRPr sz="1275" b="1">
              <a:solidFill>
                <a:srgbClr val="151E2F"/>
              </a:solidFill>
              <a:latin typeface="Aptos"/>
              <a:ea typeface="Aptos"/>
              <a:cs typeface="Aptos"/>
            </a:endParaRP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входные поля</a:t>
            </a: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преобразования</a:t>
            </a:r>
          </a:p>
          <a:p xmlns:a="http://schemas.openxmlformats.org/drawingml/2006/main">
            <a:pPr algn="ctr">
              <a:buNone/>
              <a:defRPr sz="1275" b="1">
                <a:solidFill>
                  <a:srgbClr val="151E2F"/>
                </a:solidFill>
                <a:latin typeface="Aptos"/>
                <a:ea typeface="Aptos"/>
                <a:cs typeface="Aptos"/>
              </a:defRPr>
            </a:pPr>
            <a:r>
              <a:rPr sz="1275" b="1">
                <a:solidFill>
                  <a:srgbClr val="151E2F"/>
                </a:solidFill>
                <a:latin typeface="Aptos"/>
                <a:ea typeface="Aptos"/>
                <a:cs typeface="Aptos"/>
              </a:rPr>
              <a:t>формат выхода</a:t>
            </a:r>
          </a:p>
        </p:txBody>
      </p:sp>
      <p:sp>
        <p:nvSpPr>
          <p:cNvPr id="13" name="s36-project-label">
            <a:extLst xmlns:a="http://schemas.openxmlformats.org/drawingml/2006/main">
              <a:ext uri="{FF2B5EF4-FFF2-40B4-BE49-F238E27FC236}">
                <a16:creationId xmlns:a16="http://schemas.microsoft.com/office/drawing/2014/main" id="{977F6A3D-9368-4587-93CC-C4AD94954456}"/>
              </a:ext>
            </a:extLst>
          </p:cNvPr>
          <p:cNvSpPr>
            <a:spLocks xmlns:a="http://schemas.openxmlformats.org/drawingml/2006/main" noGrp="1"/>
          </p:cNvSpPr>
          <p:nvPr/>
        </p:nvSpPr>
        <p:spPr>
          <a:xfrm xmlns:a="http://schemas.openxmlformats.org/drawingml/2006/main">
            <a:off x="7620000" y="1457325"/>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087F5B"/>
                </a:solidFill>
                <a:latin typeface="Aptos"/>
                <a:ea typeface="Aptos"/>
                <a:cs typeface="Aptos"/>
              </a:defRPr>
            </a:pPr>
            <a:r>
              <a:rPr sz="1200" b="1">
                <a:solidFill>
                  <a:srgbClr val="087F5B"/>
                </a:solidFill>
                <a:latin typeface="Aptos"/>
                <a:ea typeface="Aptos"/>
                <a:cs typeface="Aptos"/>
              </a:rPr>
              <a:t>Поддерживаемая реализация</a:t>
            </a:r>
          </a:p>
        </p:txBody>
      </p:sp>
      <p:sp>
        <p:nvSpPr>
          <p:cNvPr id="14" name="s36-project">
            <a:extLst xmlns:a="http://schemas.openxmlformats.org/drawingml/2006/main">
              <a:ext uri="{FF2B5EF4-FFF2-40B4-BE49-F238E27FC236}">
                <a16:creationId xmlns:a16="http://schemas.microsoft.com/office/drawing/2014/main" id="{F87B2AFA-1DB4-4483-BAEA-EAC897142C8D}"/>
              </a:ext>
            </a:extLst>
          </p:cNvPr>
          <p:cNvSpPr>
            <a:spLocks xmlns:a="http://schemas.openxmlformats.org/drawingml/2006/main" noGrp="1"/>
          </p:cNvSpPr>
          <p:nvPr/>
        </p:nvSpPr>
        <p:spPr>
          <a:xfrm xmlns:a="http://schemas.openxmlformats.org/drawingml/2006/main">
            <a:off x="7620000" y="1714500"/>
            <a:ext cx="3905250" cy="2000250"/>
          </a:xfrm>
          <a:prstGeom xmlns:a="http://schemas.openxmlformats.org/drawingml/2006/main" prst="roundRect">
            <a:avLst>
              <a:gd name="adj" fmla="val 1429"/>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 src/preprocess.py</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def add_features(df):</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    return df.assign(ratio=df.a / df.b)</a:t>
            </a:r>
          </a:p>
        </p:txBody>
      </p:sp>
      <p:cxnSp>
        <p:nvCxnSpPr>
          <p:cNvPr id="49" name="Прямая со стрелкой 31"/>
          <p:cNvCxnSpPr>
            <a:stCxn xmlns:a="http://schemas.openxmlformats.org/drawingml/2006/main" id="11" idx="3"/>
            <a:endCxn xmlns:a="http://schemas.openxmlformats.org/drawingml/2006/main" id="12" idx="1"/>
          </p:cNvCxnSpPr>
          <p:nvPr/>
        </p:nvCxnSpPr>
        <p:spPr>
          <a:xfrm xmlns:a="http://schemas.openxmlformats.org/drawingml/2006/main">
            <a:off x="4572000" y="2714625"/>
            <a:ext cx="619125" cy="0"/>
          </a:xfrm>
          <a:prstGeom xmlns:a="http://schemas.openxmlformats.org/drawingml/2006/main" prst="straightConnector1">
            <a:avLst/>
          </a:prstGeom>
          <a:ln xmlns:a="http://schemas.openxmlformats.org/drawingml/2006/main" w="19050">
            <a:solidFill>
              <a:srgbClr val="B95A08"/>
            </a:solidFill>
            <a:prstDash val="solid"/>
            <a:tailEnd type="triangle" w="sm" len="sm"/>
          </a:ln>
        </p:spPr>
      </p:cxnSp>
      <p:cxnSp>
        <p:nvCxnSpPr>
          <p:cNvPr id="50" name="Прямая со стрелкой 32"/>
          <p:cNvCxnSpPr>
            <a:stCxn xmlns:a="http://schemas.openxmlformats.org/drawingml/2006/main" id="12" idx="3"/>
            <a:endCxn xmlns:a="http://schemas.openxmlformats.org/drawingml/2006/main" id="14" idx="1"/>
          </p:cNvCxnSpPr>
          <p:nvPr/>
        </p:nvCxnSpPr>
        <p:spPr>
          <a:xfrm xmlns:a="http://schemas.openxmlformats.org/drawingml/2006/main">
            <a:off x="7000875" y="2714625"/>
            <a:ext cx="619125" cy="0"/>
          </a:xfrm>
          <a:prstGeom xmlns:a="http://schemas.openxmlformats.org/drawingml/2006/main" prst="straightConnector1">
            <a:avLst/>
          </a:prstGeom>
          <a:ln xmlns:a="http://schemas.openxmlformats.org/drawingml/2006/main" w="19050">
            <a:solidFill>
              <a:srgbClr val="087F5B"/>
            </a:solidFill>
            <a:prstDash val="solid"/>
            <a:tailEnd type="triangle" w="sm" len="sm"/>
          </a:ln>
        </p:spPr>
      </p:cxnSp>
      <p:sp>
        <p:nvSpPr>
          <p:cNvPr id="17" name="s36-tests">
            <a:extLst xmlns:a="http://schemas.openxmlformats.org/drawingml/2006/main">
              <a:ext uri="{FF2B5EF4-FFF2-40B4-BE49-F238E27FC236}">
                <a16:creationId xmlns:a16="http://schemas.microsoft.com/office/drawing/2014/main" id="{41E256C2-749D-4092-9BB4-09023590FB19}"/>
              </a:ext>
            </a:extLst>
          </p:cNvPr>
          <p:cNvSpPr>
            <a:spLocks xmlns:a="http://schemas.openxmlformats.org/drawingml/2006/main" noGrp="1"/>
          </p:cNvSpPr>
          <p:nvPr/>
        </p:nvSpPr>
        <p:spPr>
          <a:xfrm xmlns:a="http://schemas.openxmlformats.org/drawingml/2006/main">
            <a:off x="3714750" y="4238625"/>
            <a:ext cx="4762500" cy="590550"/>
          </a:xfrm>
          <a:prstGeom xmlns:a="http://schemas.openxmlformats.org/drawingml/2006/main" prst="roundRect">
            <a:avLst>
              <a:gd name="adj" fmla="val 4839"/>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tests/ проверяет одинаковое поведение на контрольных данных</a:t>
            </a:r>
          </a:p>
        </p:txBody>
      </p:sp>
      <p:cxnSp>
        <p:nvCxnSpPr>
          <p:cNvPr id="52" name="Прямая со стрелкой 34"/>
          <p:cNvCxnSpPr>
            <a:stCxn xmlns:a="http://schemas.openxmlformats.org/drawingml/2006/main" id="12" idx="2"/>
            <a:endCxn xmlns:a="http://schemas.openxmlformats.org/drawingml/2006/main" id="17" idx="0"/>
          </p:cNvCxnSpPr>
          <p:nvPr/>
        </p:nvCxnSpPr>
        <p:spPr>
          <a:xfrm xmlns:a="http://schemas.openxmlformats.org/drawingml/2006/main">
            <a:off x="6096000" y="3381375"/>
            <a:ext cx="0" cy="857250"/>
          </a:xfrm>
          <a:prstGeom xmlns:a="http://schemas.openxmlformats.org/drawingml/2006/main" prst="straightConnector1">
            <a:avLst/>
          </a:prstGeom>
          <a:ln xmlns:a="http://schemas.openxmlformats.org/drawingml/2006/main" w="19050">
            <a:solidFill>
              <a:srgbClr val="2F66E8"/>
            </a:solidFill>
            <a:prstDash val="solid"/>
            <a:tailEnd type="triangle" w="sm" len="sm"/>
          </a:ln>
        </p:spPr>
      </p:cxnSp>
    </p:spTree>
    <p:extLst>
      <p:ext uri="{BB962C8B-B14F-4D97-AF65-F5344CB8AC3E}">
        <p14:creationId xmlns:p14="http://schemas.microsoft.com/office/powerpoint/2010/main" val="18385497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32808D-AFE8-4742-9ECE-ED2C3141CDA6}"/>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FBC6C5C7-F44F-4EF7-A0DD-AC9FE6A8B8FE}"/>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Пример изменения алгоритма</a:t>
            </a:r>
            <a:endParaRPr sz="2300"/>
          </a:p>
        </p:txBody>
      </p:sp>
      <p:sp>
        <p:nvSpPr>
          <p:cNvPr id="4" name="Text 2">
            <a:extLst xmlns:a="http://schemas.openxmlformats.org/drawingml/2006/main">
              <a:ext uri="{FF2B5EF4-FFF2-40B4-BE49-F238E27FC236}">
                <a16:creationId xmlns:a16="http://schemas.microsoft.com/office/drawing/2014/main" id="{0E395E02-A507-4166-BF8A-D4A0D06390D2}"/>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FC6CD15B-F048-4CA3-8A4D-E69E7035A286}"/>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849EA7EB-88F3-4585-A3CA-6F7026056095}"/>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След изменений в Git</a:t>
            </a:r>
            <a:endParaRPr sz="1200"/>
          </a:p>
        </p:txBody>
      </p:sp>
      <p:sp>
        <p:nvSpPr>
          <p:cNvPr id="7" name="Shape 5">
            <a:extLst xmlns:a="http://schemas.openxmlformats.org/drawingml/2006/main">
              <a:ext uri="{FF2B5EF4-FFF2-40B4-BE49-F238E27FC236}">
                <a16:creationId xmlns:a16="http://schemas.microsoft.com/office/drawing/2014/main" id="{C1E6BA8B-03E2-42A4-A787-3E306C0DEB0B}"/>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86E7C7DA-184B-4EE2-8E0F-4C8F16FEE553}"/>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C2046618-01AB-42C9-AD3B-514495A83D09}"/>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37</a:t>
            </a:r>
            <a:endParaRPr sz="850"/>
          </a:p>
        </p:txBody>
      </p:sp>
      <p:sp>
        <p:nvSpPr>
          <p:cNvPr id="10" name="s37-before-label">
            <a:extLst xmlns:a="http://schemas.openxmlformats.org/drawingml/2006/main">
              <a:ext uri="{FF2B5EF4-FFF2-40B4-BE49-F238E27FC236}">
                <a16:creationId xmlns:a16="http://schemas.microsoft.com/office/drawing/2014/main" id="{61ED9E5A-5400-4465-ACE5-F51ABD597807}"/>
              </a:ext>
            </a:extLst>
          </p:cNvPr>
          <p:cNvSpPr>
            <a:spLocks xmlns:a="http://schemas.openxmlformats.org/drawingml/2006/main" noGrp="1"/>
          </p:cNvSpPr>
          <p:nvPr/>
        </p:nvSpPr>
        <p:spPr>
          <a:xfrm xmlns:a="http://schemas.openxmlformats.org/drawingml/2006/main">
            <a:off x="666750" y="14573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C42026"/>
                </a:solidFill>
                <a:latin typeface="Aptos"/>
                <a:ea typeface="Aptos"/>
                <a:cs typeface="Aptos"/>
              </a:defRPr>
            </a:pPr>
            <a:r>
              <a:rPr sz="1200" b="1">
                <a:solidFill>
                  <a:srgbClr val="C42026"/>
                </a:solidFill>
                <a:latin typeface="Aptos"/>
                <a:ea typeface="Aptos"/>
                <a:cs typeface="Aptos"/>
              </a:rPr>
              <a:t>До изменения</a:t>
            </a:r>
          </a:p>
        </p:txBody>
      </p:sp>
      <p:sp>
        <p:nvSpPr>
          <p:cNvPr id="11" name="s37-before">
            <a:extLst xmlns:a="http://schemas.openxmlformats.org/drawingml/2006/main">
              <a:ext uri="{FF2B5EF4-FFF2-40B4-BE49-F238E27FC236}">
                <a16:creationId xmlns:a16="http://schemas.microsoft.com/office/drawing/2014/main" id="{7C6BCDC3-575B-45AF-A83B-A4E96EB2A115}"/>
              </a:ext>
            </a:extLst>
          </p:cNvPr>
          <p:cNvSpPr>
            <a:spLocks xmlns:a="http://schemas.openxmlformats.org/drawingml/2006/main" noGrp="1"/>
          </p:cNvSpPr>
          <p:nvPr/>
        </p:nvSpPr>
        <p:spPr>
          <a:xfrm xmlns:a="http://schemas.openxmlformats.org/drawingml/2006/main">
            <a:off x="666750" y="1714500"/>
            <a:ext cx="4762500" cy="2333625"/>
          </a:xfrm>
          <a:prstGeom xmlns:a="http://schemas.openxmlformats.org/drawingml/2006/main" prst="roundRect">
            <a:avLst>
              <a:gd name="adj" fmla="val 1224"/>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FEATURES = ["age", "income"]</a:t>
            </a:r>
          </a:p>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X = df[FEATURES]</a:t>
            </a:r>
          </a:p>
          <a:p xmlns:a="http://schemas.openxmlformats.org/drawingml/2006/main">
            <a:pPr algn="l">
              <a:buNone/>
              <a:defRPr sz="1275" b="0">
                <a:solidFill>
                  <a:srgbClr val="151E2F"/>
                </a:solidFill>
                <a:latin typeface="Consolas"/>
                <a:ea typeface="Consolas"/>
                <a:cs typeface="Consolas"/>
              </a:defRPr>
            </a:pPr>
            <a:r>
              <a:rPr sz="1275" b="0">
                <a:solidFill>
                  <a:srgbClr val="151E2F"/>
                </a:solidFill>
                <a:latin typeface="Consolas"/>
                <a:ea typeface="Consolas"/>
                <a:cs typeface="Consolas"/>
              </a:rPr>
              <a:t>model.fit(X, y)</a:t>
            </a:r>
          </a:p>
        </p:txBody>
      </p:sp>
      <p:sp>
        <p:nvSpPr>
          <p:cNvPr id="12" name="s37-after-label">
            <a:extLst xmlns:a="http://schemas.openxmlformats.org/drawingml/2006/main">
              <a:ext uri="{FF2B5EF4-FFF2-40B4-BE49-F238E27FC236}">
                <a16:creationId xmlns:a16="http://schemas.microsoft.com/office/drawing/2014/main" id="{2B74803D-563E-4EE5-A176-519E5047C18B}"/>
              </a:ext>
            </a:extLst>
          </p:cNvPr>
          <p:cNvSpPr>
            <a:spLocks xmlns:a="http://schemas.openxmlformats.org/drawingml/2006/main" noGrp="1"/>
          </p:cNvSpPr>
          <p:nvPr/>
        </p:nvSpPr>
        <p:spPr>
          <a:xfrm xmlns:a="http://schemas.openxmlformats.org/drawingml/2006/main">
            <a:off x="6667500" y="14573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087F5B"/>
                </a:solidFill>
                <a:latin typeface="Aptos"/>
                <a:ea typeface="Aptos"/>
                <a:cs typeface="Aptos"/>
              </a:defRPr>
            </a:pPr>
            <a:r>
              <a:rPr sz="1200" b="1">
                <a:solidFill>
                  <a:srgbClr val="087F5B"/>
                </a:solidFill>
                <a:latin typeface="Aptos"/>
                <a:ea typeface="Aptos"/>
                <a:cs typeface="Aptos"/>
              </a:rPr>
              <a:t>После переноса в src/train.py</a:t>
            </a:r>
          </a:p>
        </p:txBody>
      </p:sp>
      <p:sp>
        <p:nvSpPr>
          <p:cNvPr id="13" name="s37-after">
            <a:extLst xmlns:a="http://schemas.openxmlformats.org/drawingml/2006/main">
              <a:ext uri="{FF2B5EF4-FFF2-40B4-BE49-F238E27FC236}">
                <a16:creationId xmlns:a16="http://schemas.microsoft.com/office/drawing/2014/main" id="{4E2E03FC-B1A3-4F2F-A523-47C726DDFE3F}"/>
              </a:ext>
            </a:extLst>
          </p:cNvPr>
          <p:cNvSpPr>
            <a:spLocks xmlns:a="http://schemas.openxmlformats.org/drawingml/2006/main" noGrp="1"/>
          </p:cNvSpPr>
          <p:nvPr/>
        </p:nvSpPr>
        <p:spPr>
          <a:xfrm xmlns:a="http://schemas.openxmlformats.org/drawingml/2006/main">
            <a:off x="6667500" y="1714500"/>
            <a:ext cx="4762500" cy="2333625"/>
          </a:xfrm>
          <a:prstGeom xmlns:a="http://schemas.openxmlformats.org/drawingml/2006/main" prst="roundRect">
            <a:avLst>
              <a:gd name="adj" fmla="val 1224"/>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FEATURES = ["age", "income", "tenure"]</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pipeline = make_pipeline(</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    StandardScaler(), LogisticRegression()</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pipeline.fit(df[FEATURES], y)</a:t>
            </a:r>
          </a:p>
        </p:txBody>
      </p:sp>
      <p:cxnSp>
        <p:nvCxnSpPr>
          <p:cNvPr id="41" name="Прямая со стрелкой 27"/>
          <p:cNvCxnSpPr>
            <a:stCxn xmlns:a="http://schemas.openxmlformats.org/drawingml/2006/main" id="11" idx="3"/>
            <a:endCxn xmlns:a="http://schemas.openxmlformats.org/drawingml/2006/main" id="13" idx="1"/>
          </p:cNvCxnSpPr>
          <p:nvPr/>
        </p:nvCxnSpPr>
        <p:spPr>
          <a:xfrm xmlns:a="http://schemas.openxmlformats.org/drawingml/2006/main">
            <a:off x="5429250" y="2881313"/>
            <a:ext cx="1238250" cy="0"/>
          </a:xfrm>
          <a:prstGeom xmlns:a="http://schemas.openxmlformats.org/drawingml/2006/main" prst="straightConnector1">
            <a:avLst/>
          </a:prstGeom>
          <a:ln xmlns:a="http://schemas.openxmlformats.org/drawingml/2006/main" w="23813">
            <a:solidFill>
              <a:srgbClr val="2F66E8"/>
            </a:solidFill>
            <a:prstDash val="solid"/>
            <a:tailEnd type="triangle" w="sm" len="sm"/>
          </a:ln>
        </p:spPr>
      </p:cxnSp>
      <p:sp>
        <p:nvSpPr>
          <p:cNvPr id="15" name="s37-files">
            <a:extLst xmlns:a="http://schemas.openxmlformats.org/drawingml/2006/main">
              <a:ext uri="{FF2B5EF4-FFF2-40B4-BE49-F238E27FC236}">
                <a16:creationId xmlns:a16="http://schemas.microsoft.com/office/drawing/2014/main" id="{FD91BCD9-8880-496A-A9F7-0182FA954CAC}"/>
              </a:ext>
            </a:extLst>
          </p:cNvPr>
          <p:cNvSpPr>
            <a:spLocks xmlns:a="http://schemas.openxmlformats.org/drawingml/2006/main" noGrp="1"/>
          </p:cNvSpPr>
          <p:nvPr/>
        </p:nvSpPr>
        <p:spPr>
          <a:xfrm xmlns:a="http://schemas.openxmlformats.org/drawingml/2006/main">
            <a:off x="1952625" y="4429125"/>
            <a:ext cx="8286750" cy="523875"/>
          </a:xfrm>
          <a:prstGeom xmlns:a="http://schemas.openxmlformats.org/drawingml/2006/main" prst="roundRect">
            <a:avLst>
              <a:gd name="adj" fmla="val 5455"/>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350" b="1">
                <a:solidFill>
                  <a:srgbClr val="151E2F"/>
                </a:solidFill>
                <a:latin typeface="Aptos"/>
                <a:ea typeface="Aptos"/>
                <a:cs typeface="Aptos"/>
              </a:defRPr>
            </a:pPr>
            <a:r>
              <a:rPr sz="1350" b="1">
                <a:solidFill>
                  <a:srgbClr val="151E2F"/>
                </a:solidFill>
                <a:latin typeface="Aptos"/>
                <a:ea typeface="Aptos"/>
                <a:cs typeface="Aptos"/>
              </a:rPr>
              <a:t>Также меняются config.yaml, preprocess.py, тестовые данные и README</a:t>
            </a:r>
          </a:p>
        </p:txBody>
      </p:sp>
    </p:spTree>
    <p:extLst>
      <p:ext uri="{BB962C8B-B14F-4D97-AF65-F5344CB8AC3E}">
        <p14:creationId xmlns:p14="http://schemas.microsoft.com/office/powerpoint/2010/main" val="147367629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FD3936-E11A-4B06-B966-B76F0D916FDA}"/>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B91C1C"/>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ИЗМЕНЕНИЯ ВХОДА</a:t>
            </a:r>
            <a:endParaRPr sz="850"/>
          </a:p>
        </p:txBody>
      </p:sp>
      <p:sp>
        <p:nvSpPr>
          <p:cNvPr id="3" name="Text 1">
            <a:extLst xmlns:a="http://schemas.openxmlformats.org/drawingml/2006/main">
              <a:ext uri="{FF2B5EF4-FFF2-40B4-BE49-F238E27FC236}">
                <a16:creationId xmlns:a16="http://schemas.microsoft.com/office/drawing/2014/main" id="{D3E8664D-34A7-49D5-B258-9F320CECF27A}"/>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След изменений в Git</a:t>
            </a:r>
            <a:endParaRPr sz="2300"/>
          </a:p>
        </p:txBody>
      </p:sp>
      <p:sp>
        <p:nvSpPr>
          <p:cNvPr id="4" name="Text 2">
            <a:extLst xmlns:a="http://schemas.openxmlformats.org/drawingml/2006/main">
              <a:ext uri="{FF2B5EF4-FFF2-40B4-BE49-F238E27FC236}">
                <a16:creationId xmlns:a16="http://schemas.microsoft.com/office/drawing/2014/main" id="{77A469BB-7C1C-4F54-87BA-1E27F9C74A10}"/>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endParaRPr sz="1800"/>
          </a:p>
        </p:txBody>
      </p:sp>
      <p:sp>
        <p:nvSpPr>
          <p:cNvPr id="5" name="Text 3">
            <a:extLst xmlns:a="http://schemas.openxmlformats.org/drawingml/2006/main">
              <a:ext uri="{FF2B5EF4-FFF2-40B4-BE49-F238E27FC236}">
                <a16:creationId xmlns:a16="http://schemas.microsoft.com/office/drawing/2014/main" id="{AFBA3806-AF70-4472-B82E-496D1D5F2F57}"/>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endParaRPr sz="1450"/>
          </a:p>
        </p:txBody>
      </p:sp>
      <p:sp>
        <p:nvSpPr>
          <p:cNvPr id="6" name="Text 4">
            <a:extLst xmlns:a="http://schemas.openxmlformats.org/drawingml/2006/main">
              <a:ext uri="{FF2B5EF4-FFF2-40B4-BE49-F238E27FC236}">
                <a16:creationId xmlns:a16="http://schemas.microsoft.com/office/drawing/2014/main" id="{9231D4A6-0248-4C20-97B6-243BAA347DA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Разделение обучения и инференса</a:t>
            </a:r>
            <a:endParaRPr sz="1200"/>
          </a:p>
        </p:txBody>
      </p:sp>
      <p:sp>
        <p:nvSpPr>
          <p:cNvPr id="7" name="Shape 5">
            <a:extLst xmlns:a="http://schemas.openxmlformats.org/drawingml/2006/main">
              <a:ext uri="{FF2B5EF4-FFF2-40B4-BE49-F238E27FC236}">
                <a16:creationId xmlns:a16="http://schemas.microsoft.com/office/drawing/2014/main" id="{8DFA35F0-A40D-4002-B179-68D4B3D1FDB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85BA54BB-9494-454A-8AFB-C9F038CCC3DD}"/>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45DF4222-0B1D-4E17-99DA-C71914185A51}"/>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38</a:t>
            </a:r>
            <a:endParaRPr sz="850"/>
          </a:p>
        </p:txBody>
      </p:sp>
      <p:sp>
        <p:nvSpPr>
          <p:cNvPr id="10" name="s38-commit-0">
            <a:extLst xmlns:a="http://schemas.openxmlformats.org/drawingml/2006/main">
              <a:ext uri="{FF2B5EF4-FFF2-40B4-BE49-F238E27FC236}">
                <a16:creationId xmlns:a16="http://schemas.microsoft.com/office/drawing/2014/main" id="{4D738D49-3ED7-4526-86F1-6A2D1D42C15A}"/>
              </a:ext>
            </a:extLst>
          </p:cNvPr>
          <p:cNvSpPr>
            <a:spLocks xmlns:a="http://schemas.openxmlformats.org/drawingml/2006/main" noGrp="1"/>
          </p:cNvSpPr>
          <p:nvPr/>
        </p:nvSpPr>
        <p:spPr>
          <a:xfrm xmlns:a="http://schemas.openxmlformats.org/drawingml/2006/main">
            <a:off x="619125" y="1476375"/>
            <a:ext cx="1809750" cy="857250"/>
          </a:xfrm>
          <a:prstGeom xmlns:a="http://schemas.openxmlformats.org/drawingml/2006/main" prst="roundRect">
            <a:avLst>
              <a:gd name="adj" fmla="val 8889"/>
            </a:avLst>
          </a:prstGeom>
          <a:solidFill xmlns:a="http://schemas.openxmlformats.org/drawingml/2006/main">
            <a:srgbClr val="FDEBEC"/>
          </a:solidFill>
          <a:ln xmlns:a="http://schemas.openxmlformats.org/drawingml/2006/main" w="12383">
            <a:solidFill>
              <a:srgbClr val="C4202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source v2</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сохранить</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исходник</a:t>
            </a:r>
          </a:p>
        </p:txBody>
      </p:sp>
      <p:sp>
        <p:nvSpPr>
          <p:cNvPr id="11" name="s38-commit-1">
            <a:extLst xmlns:a="http://schemas.openxmlformats.org/drawingml/2006/main">
              <a:ext uri="{FF2B5EF4-FFF2-40B4-BE49-F238E27FC236}">
                <a16:creationId xmlns:a16="http://schemas.microsoft.com/office/drawing/2014/main" id="{33D6B141-890C-430A-9075-5D61B5B1A0D5}"/>
              </a:ext>
            </a:extLst>
          </p:cNvPr>
          <p:cNvSpPr>
            <a:spLocks xmlns:a="http://schemas.openxmlformats.org/drawingml/2006/main" noGrp="1"/>
          </p:cNvSpPr>
          <p:nvPr/>
        </p:nvSpPr>
        <p:spPr>
          <a:xfrm xmlns:a="http://schemas.openxmlformats.org/drawingml/2006/main">
            <a:off x="2905125" y="1476375"/>
            <a:ext cx="1809750" cy="857250"/>
          </a:xfrm>
          <a:prstGeom xmlns:a="http://schemas.openxmlformats.org/drawingml/2006/main" prst="roundRect">
            <a:avLst>
              <a:gd name="adj" fmla="val 8889"/>
            </a:avLst>
          </a:prstGeom>
          <a:solidFill xmlns:a="http://schemas.openxmlformats.org/drawingml/2006/main">
            <a:srgbClr val="FFF2E7"/>
          </a:solidFill>
          <a:ln xmlns:a="http://schemas.openxmlformats.org/drawingml/2006/main" w="12383">
            <a:solidFill>
              <a:srgbClr val="B95A0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contract</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тест нового</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поведения</a:t>
            </a:r>
          </a:p>
        </p:txBody>
      </p:sp>
      <p:sp>
        <p:nvSpPr>
          <p:cNvPr id="12" name="s38-commit-2">
            <a:extLst xmlns:a="http://schemas.openxmlformats.org/drawingml/2006/main">
              <a:ext uri="{FF2B5EF4-FFF2-40B4-BE49-F238E27FC236}">
                <a16:creationId xmlns:a16="http://schemas.microsoft.com/office/drawing/2014/main" id="{8550F395-9ABC-44CA-9866-633BBD9295A6}"/>
              </a:ext>
            </a:extLst>
          </p:cNvPr>
          <p:cNvSpPr>
            <a:spLocks xmlns:a="http://schemas.openxmlformats.org/drawingml/2006/main" noGrp="1"/>
          </p:cNvSpPr>
          <p:nvPr/>
        </p:nvSpPr>
        <p:spPr>
          <a:xfrm xmlns:a="http://schemas.openxmlformats.org/drawingml/2006/main">
            <a:off x="5191125" y="1476375"/>
            <a:ext cx="1809750" cy="857250"/>
          </a:xfrm>
          <a:prstGeom xmlns:a="http://schemas.openxmlformats.org/drawingml/2006/main" prst="roundRect">
            <a:avLst>
              <a:gd name="adj" fmla="val 8889"/>
            </a:avLst>
          </a:prstGeom>
          <a:solidFill xmlns:a="http://schemas.openxmlformats.org/drawingml/2006/main">
            <a:srgbClr val="EAF0FF"/>
          </a:solidFill>
          <a:ln xmlns:a="http://schemas.openxmlformats.org/drawingml/2006/main" w="12383">
            <a:solidFill>
              <a:srgbClr val="2F66E8"/>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preprocess</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признаки и</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нормализация</a:t>
            </a:r>
          </a:p>
        </p:txBody>
      </p:sp>
      <p:sp>
        <p:nvSpPr>
          <p:cNvPr id="13" name="s38-commit-3">
            <a:extLst xmlns:a="http://schemas.openxmlformats.org/drawingml/2006/main">
              <a:ext uri="{FF2B5EF4-FFF2-40B4-BE49-F238E27FC236}">
                <a16:creationId xmlns:a16="http://schemas.microsoft.com/office/drawing/2014/main" id="{1E31E1FA-B288-4077-B1ED-9800720BA343}"/>
              </a:ext>
            </a:extLst>
          </p:cNvPr>
          <p:cNvSpPr>
            <a:spLocks xmlns:a="http://schemas.openxmlformats.org/drawingml/2006/main" noGrp="1"/>
          </p:cNvSpPr>
          <p:nvPr/>
        </p:nvSpPr>
        <p:spPr>
          <a:xfrm xmlns:a="http://schemas.openxmlformats.org/drawingml/2006/main">
            <a:off x="7477125" y="1476375"/>
            <a:ext cx="1809750" cy="857250"/>
          </a:xfrm>
          <a:prstGeom xmlns:a="http://schemas.openxmlformats.org/drawingml/2006/main" prst="roundRect">
            <a:avLst>
              <a:gd name="adj" fmla="val 8889"/>
            </a:avLst>
          </a:prstGeom>
          <a:solidFill xmlns:a="http://schemas.openxmlformats.org/drawingml/2006/main">
            <a:srgbClr val="E7F6F0"/>
          </a:solidFill>
          <a:ln xmlns:a="http://schemas.openxmlformats.org/drawingml/2006/main" w="12383">
            <a:solidFill>
              <a:srgbClr val="087F5B"/>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train</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pipeline и</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новая модель</a:t>
            </a:r>
          </a:p>
        </p:txBody>
      </p:sp>
      <p:sp>
        <p:nvSpPr>
          <p:cNvPr id="14" name="s38-commit-4">
            <a:extLst xmlns:a="http://schemas.openxmlformats.org/drawingml/2006/main">
              <a:ext uri="{FF2B5EF4-FFF2-40B4-BE49-F238E27FC236}">
                <a16:creationId xmlns:a16="http://schemas.microsoft.com/office/drawing/2014/main" id="{96193059-D4C9-40F8-B22E-11D6B6C044E9}"/>
              </a:ext>
            </a:extLst>
          </p:cNvPr>
          <p:cNvSpPr>
            <a:spLocks xmlns:a="http://schemas.openxmlformats.org/drawingml/2006/main" noGrp="1"/>
          </p:cNvSpPr>
          <p:nvPr/>
        </p:nvSpPr>
        <p:spPr>
          <a:xfrm xmlns:a="http://schemas.openxmlformats.org/drawingml/2006/main">
            <a:off x="9763125" y="1476375"/>
            <a:ext cx="1809750" cy="857250"/>
          </a:xfrm>
          <a:prstGeom xmlns:a="http://schemas.openxmlformats.org/drawingml/2006/main" prst="roundRect">
            <a:avLst>
              <a:gd name="adj" fmla="val 8889"/>
            </a:avLst>
          </a:prstGeom>
          <a:solidFill xmlns:a="http://schemas.openxmlformats.org/drawingml/2006/main">
            <a:srgbClr val="F2EAFF"/>
          </a:solidFill>
          <a:ln xmlns:a="http://schemas.openxmlformats.org/drawingml/2006/main" w="12383">
            <a:solidFill>
              <a:srgbClr val="6D28D9"/>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docs</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README и</a:t>
            </a:r>
          </a:p>
          <a:p xmlns:a="http://schemas.openxmlformats.org/drawingml/2006/main">
            <a:pPr algn="ctr">
              <a:buNone/>
              <a:defRPr sz="1200" b="1">
                <a:solidFill>
                  <a:srgbClr val="151E2F"/>
                </a:solidFill>
                <a:latin typeface="Aptos"/>
                <a:ea typeface="Aptos"/>
                <a:cs typeface="Aptos"/>
              </a:defRPr>
            </a:pPr>
            <a:r>
              <a:rPr sz="1200" b="1">
                <a:solidFill>
                  <a:srgbClr val="151E2F"/>
                </a:solidFill>
                <a:latin typeface="Aptos"/>
                <a:ea typeface="Aptos"/>
                <a:cs typeface="Aptos"/>
              </a:rPr>
              <a:t>совместимость</a:t>
            </a:r>
          </a:p>
        </p:txBody>
      </p:sp>
      <p:cxnSp>
        <p:nvCxnSpPr>
          <p:cNvPr id="51" name="Прямая со стрелкой 33"/>
          <p:cNvCxnSpPr>
            <a:stCxn xmlns:a="http://schemas.openxmlformats.org/drawingml/2006/main" id="10" idx="3"/>
            <a:endCxn xmlns:a="http://schemas.openxmlformats.org/drawingml/2006/main" id="11" idx="1"/>
          </p:cNvCxnSpPr>
          <p:nvPr/>
        </p:nvCxnSpPr>
        <p:spPr>
          <a:xfrm xmlns:a="http://schemas.openxmlformats.org/drawingml/2006/main">
            <a:off x="2428875" y="190500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52" name="Прямая со стрелкой 34"/>
          <p:cNvCxnSpPr>
            <a:stCxn xmlns:a="http://schemas.openxmlformats.org/drawingml/2006/main" id="11" idx="3"/>
            <a:endCxn xmlns:a="http://schemas.openxmlformats.org/drawingml/2006/main" id="12" idx="1"/>
          </p:cNvCxnSpPr>
          <p:nvPr/>
        </p:nvCxnSpPr>
        <p:spPr>
          <a:xfrm xmlns:a="http://schemas.openxmlformats.org/drawingml/2006/main">
            <a:off x="4714875" y="190500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53" name="Прямая со стрелкой 35"/>
          <p:cNvCxnSpPr>
            <a:stCxn xmlns:a="http://schemas.openxmlformats.org/drawingml/2006/main" id="12" idx="3"/>
            <a:endCxn xmlns:a="http://schemas.openxmlformats.org/drawingml/2006/main" id="13" idx="1"/>
          </p:cNvCxnSpPr>
          <p:nvPr/>
        </p:nvCxnSpPr>
        <p:spPr>
          <a:xfrm xmlns:a="http://schemas.openxmlformats.org/drawingml/2006/main">
            <a:off x="7000875" y="190500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cxnSp>
        <p:nvCxnSpPr>
          <p:cNvPr id="54" name="Прямая со стрелкой 36"/>
          <p:cNvCxnSpPr>
            <a:stCxn xmlns:a="http://schemas.openxmlformats.org/drawingml/2006/main" id="13" idx="3"/>
            <a:endCxn xmlns:a="http://schemas.openxmlformats.org/drawingml/2006/main" id="14" idx="1"/>
          </p:cNvCxnSpPr>
          <p:nvPr/>
        </p:nvCxnSpPr>
        <p:spPr>
          <a:xfrm xmlns:a="http://schemas.openxmlformats.org/drawingml/2006/main">
            <a:off x="9286875" y="1905000"/>
            <a:ext cx="476250" cy="0"/>
          </a:xfrm>
          <a:prstGeom xmlns:a="http://schemas.openxmlformats.org/drawingml/2006/main" prst="straightConnector1">
            <a:avLst/>
          </a:prstGeom>
          <a:ln xmlns:a="http://schemas.openxmlformats.org/drawingml/2006/main" w="19050">
            <a:solidFill>
              <a:srgbClr val="64748B"/>
            </a:solidFill>
            <a:prstDash val="solid"/>
            <a:tailEnd type="triangle" w="sm" len="sm"/>
          </a:ln>
        </p:spPr>
      </p:cxnSp>
      <p:sp>
        <p:nvSpPr>
          <p:cNvPr id="19" name="s38-code-label">
            <a:extLst xmlns:a="http://schemas.openxmlformats.org/drawingml/2006/main">
              <a:ext uri="{FF2B5EF4-FFF2-40B4-BE49-F238E27FC236}">
                <a16:creationId xmlns:a16="http://schemas.microsoft.com/office/drawing/2014/main" id="{F65C5673-523B-42E4-A20C-70B99471CBC6}"/>
              </a:ext>
            </a:extLst>
          </p:cNvPr>
          <p:cNvSpPr>
            <a:spLocks xmlns:a="http://schemas.openxmlformats.org/drawingml/2006/main" noGrp="1"/>
          </p:cNvSpPr>
          <p:nvPr/>
        </p:nvSpPr>
        <p:spPr>
          <a:xfrm xmlns:a="http://schemas.openxmlformats.org/drawingml/2006/main">
            <a:off x="1619250" y="30289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l">
              <a:buNone/>
              <a:defRPr sz="1200" b="1">
                <a:solidFill>
                  <a:srgbClr val="C42026"/>
                </a:solidFill>
                <a:latin typeface="Aptos"/>
                <a:ea typeface="Aptos"/>
                <a:cs typeface="Aptos"/>
              </a:defRPr>
            </a:pPr>
            <a:r>
              <a:rPr sz="1200" b="1">
                <a:solidFill>
                  <a:srgbClr val="C42026"/>
                </a:solidFill>
                <a:latin typeface="Aptos"/>
                <a:ea typeface="Aptos"/>
                <a:cs typeface="Aptos"/>
              </a:rPr>
              <a:t>Пример последовательности</a:t>
            </a:r>
          </a:p>
        </p:txBody>
      </p:sp>
      <p:sp>
        <p:nvSpPr>
          <p:cNvPr id="20" name="s38-code">
            <a:extLst xmlns:a="http://schemas.openxmlformats.org/drawingml/2006/main">
              <a:ext uri="{FF2B5EF4-FFF2-40B4-BE49-F238E27FC236}">
                <a16:creationId xmlns:a16="http://schemas.microsoft.com/office/drawing/2014/main" id="{643B637B-49A9-472D-9D70-2DA400CB2851}"/>
              </a:ext>
            </a:extLst>
          </p:cNvPr>
          <p:cNvSpPr>
            <a:spLocks xmlns:a="http://schemas.openxmlformats.org/drawingml/2006/main" noGrp="1"/>
          </p:cNvSpPr>
          <p:nvPr/>
        </p:nvSpPr>
        <p:spPr>
          <a:xfrm xmlns:a="http://schemas.openxmlformats.org/drawingml/2006/main">
            <a:off x="1619250" y="3286125"/>
            <a:ext cx="8953500" cy="1428750"/>
          </a:xfrm>
          <a:prstGeom xmlns:a="http://schemas.openxmlformats.org/drawingml/2006/main" prst="roundRect">
            <a:avLst>
              <a:gd name="adj" fmla="val 2000"/>
            </a:avLst>
          </a:prstGeom>
          <a:solidFill xmlns:a="http://schemas.openxmlformats.org/drawingml/2006/main">
            <a:srgbClr val="F8FAFC"/>
          </a:solidFill>
          <a:ln xmlns:a="http://schemas.openxmlformats.org/drawingml/2006/main" w="12383">
            <a:solidFill>
              <a:srgbClr val="B8C4D4"/>
            </a:solidFill>
            <a:prstDash val="solid"/>
          </a:ln>
        </p:spPr>
        <p:txBody>
          <a:bodyPr xmlns:a="http://schemas.openxmlformats.org/drawingml/2006/main" wrap="square" lIns="133350" tIns="95250" rIns="114300" bIns="95250" anchor="t">
            <a:normAutofit/>
          </a:bodyPr>
          <a:lstStyle xmlns:a="http://schemas.openxmlformats.org/drawingml/2006/main"/>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git add notebooks/source_experiment_v2.ipynb tests/</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git commit -m "test: зафиксировать контракт source v2"</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git add src/ config.yaml README.md</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git commit -m "feat: интегрировать признаки source v2"</a:t>
            </a:r>
          </a:p>
          <a:p xmlns:a="http://schemas.openxmlformats.org/drawingml/2006/main">
            <a:pPr algn="l">
              <a:buNone/>
              <a:defRPr sz="1200" b="0">
                <a:solidFill>
                  <a:srgbClr val="151E2F"/>
                </a:solidFill>
                <a:latin typeface="Consolas"/>
                <a:ea typeface="Consolas"/>
                <a:cs typeface="Consolas"/>
              </a:defRPr>
            </a:pPr>
            <a:r>
              <a:rPr sz="1200" b="0">
                <a:solidFill>
                  <a:srgbClr val="151E2F"/>
                </a:solidFill>
                <a:latin typeface="Consolas"/>
                <a:ea typeface="Consolas"/>
                <a:cs typeface="Consolas"/>
              </a:rPr>
              <a:t>git push origin main</a:t>
            </a:r>
          </a:p>
        </p:txBody>
      </p:sp>
    </p:spTree>
    <p:extLst>
      <p:ext uri="{BB962C8B-B14F-4D97-AF65-F5344CB8AC3E}">
        <p14:creationId xmlns:p14="http://schemas.microsoft.com/office/powerpoint/2010/main" val="94287437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442358A-654C-43A2-826B-8D9F36C540F6}"/>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F766E"/>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ML-КОМПОНЕНТ</a:t>
            </a:r>
            <a:endParaRPr sz="850"/>
          </a:p>
        </p:txBody>
      </p:sp>
      <p:sp>
        <p:nvSpPr>
          <p:cNvPr id="3" name="Text 1">
            <a:extLst xmlns:a="http://schemas.openxmlformats.org/drawingml/2006/main">
              <a:ext uri="{FF2B5EF4-FFF2-40B4-BE49-F238E27FC236}">
                <a16:creationId xmlns:a16="http://schemas.microsoft.com/office/drawing/2014/main" id="{9E527A7A-B784-4960-AC47-C2FF15AE7963}"/>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Разделение обучения и инференса</a:t>
            </a:r>
            <a:endParaRPr sz="2300"/>
          </a:p>
        </p:txBody>
      </p:sp>
      <p:sp>
        <p:nvSpPr>
          <p:cNvPr id="4" name="Text 2">
            <a:extLst xmlns:a="http://schemas.openxmlformats.org/drawingml/2006/main">
              <a:ext uri="{FF2B5EF4-FFF2-40B4-BE49-F238E27FC236}">
                <a16:creationId xmlns:a16="http://schemas.microsoft.com/office/drawing/2014/main" id="{EBF1E3C9-30F9-4954-B1AD-4802D310156D}"/>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Обучение создает или обновляет артефакт модели</a:t>
            </a:r>
            <a:endParaRPr sz="1800"/>
          </a:p>
          <a:p xmlns:a="http://schemas.openxmlformats.org/drawingml/2006/main">
            <a:pPr marL="0" indent="0">
              <a:buNone/>
            </a:pPr>
            <a:r>
              <a:rPr sz="1800">
                <a:solidFill>
                  <a:srgbClr val="111827"/>
                </a:solidFill>
                <a:latin typeface="Arial"/>
                <a:ea typeface="Arial"/>
                <a:cs typeface="Arial"/>
              </a:rPr>
              <a:t>• Инференс использует готовый артефакт для предсказания</a:t>
            </a:r>
            <a:endParaRPr sz="1800"/>
          </a:p>
          <a:p xmlns:a="http://schemas.openxmlformats.org/drawingml/2006/main">
            <a:pPr marL="0" indent="0">
              <a:buNone/>
            </a:pPr>
            <a:r>
              <a:rPr sz="1800">
                <a:solidFill>
                  <a:srgbClr val="111827"/>
                </a:solidFill>
                <a:latin typeface="Arial"/>
                <a:ea typeface="Arial"/>
                <a:cs typeface="Arial"/>
              </a:rPr>
              <a:t>• Смешивание этих стадий делает компонент трудно интегрируемым</a:t>
            </a:r>
            <a:endParaRPr sz="1800"/>
          </a:p>
        </p:txBody>
      </p:sp>
      <p:sp>
        <p:nvSpPr>
          <p:cNvPr id="5" name="Text 3">
            <a:extLst xmlns:a="http://schemas.openxmlformats.org/drawingml/2006/main">
              <a:ext uri="{FF2B5EF4-FFF2-40B4-BE49-F238E27FC236}">
                <a16:creationId xmlns:a16="http://schemas.microsoft.com/office/drawing/2014/main" id="{620BBA79-F29B-4272-88D3-68DC1A33F591}"/>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predict.py не должен заново обучать модель.</a:t>
            </a:r>
            <a:endParaRPr sz="1450"/>
          </a:p>
        </p:txBody>
      </p:sp>
      <p:sp>
        <p:nvSpPr>
          <p:cNvPr id="6" name="Text 4">
            <a:extLst xmlns:a="http://schemas.openxmlformats.org/drawingml/2006/main">
              <a:ext uri="{FF2B5EF4-FFF2-40B4-BE49-F238E27FC236}">
                <a16:creationId xmlns:a16="http://schemas.microsoft.com/office/drawing/2014/main" id="{A2AC8A98-306C-46E5-832E-5B44CD66CFC8}"/>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Ответственность train.py</a:t>
            </a:r>
            <a:endParaRPr sz="1200"/>
          </a:p>
        </p:txBody>
      </p:sp>
      <p:sp>
        <p:nvSpPr>
          <p:cNvPr id="7" name="Shape 5">
            <a:extLst xmlns:a="http://schemas.openxmlformats.org/drawingml/2006/main">
              <a:ext uri="{FF2B5EF4-FFF2-40B4-BE49-F238E27FC236}">
                <a16:creationId xmlns:a16="http://schemas.microsoft.com/office/drawing/2014/main" id="{8EFAA83C-74AD-4B41-B3EC-A7C096F007B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DBEEBAE5-8437-4E95-A1E0-07DFFB1D2CC0}"/>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B669B4E0-A1DF-429F-836C-3ED1C320DA0B}"/>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39</a:t>
            </a:r>
            <a:endParaRPr sz="850"/>
          </a:p>
        </p:txBody>
      </p:sp>
    </p:spTree>
    <p:extLst>
      <p:ext uri="{BB962C8B-B14F-4D97-AF65-F5344CB8AC3E}">
        <p14:creationId xmlns:p14="http://schemas.microsoft.com/office/powerpoint/2010/main" val="61233627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370461-73BD-471A-ABD8-DBFAF37F1F6D}"/>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F766E"/>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ML-КОМПОНЕНТ</a:t>
            </a:r>
            <a:endParaRPr sz="850"/>
          </a:p>
        </p:txBody>
      </p:sp>
      <p:sp>
        <p:nvSpPr>
          <p:cNvPr id="3" name="Text 1">
            <a:extLst xmlns:a="http://schemas.openxmlformats.org/drawingml/2006/main">
              <a:ext uri="{FF2B5EF4-FFF2-40B4-BE49-F238E27FC236}">
                <a16:creationId xmlns:a16="http://schemas.microsoft.com/office/drawing/2014/main" id="{A4161ADD-9C25-4C8B-B893-B57C92E0E926}"/>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Ответственность train.py</a:t>
            </a:r>
            <a:endParaRPr sz="2300"/>
          </a:p>
        </p:txBody>
      </p:sp>
      <p:sp>
        <p:nvSpPr>
          <p:cNvPr id="4" name="Text 2">
            <a:extLst xmlns:a="http://schemas.openxmlformats.org/drawingml/2006/main">
              <a:ext uri="{FF2B5EF4-FFF2-40B4-BE49-F238E27FC236}">
                <a16:creationId xmlns:a16="http://schemas.microsoft.com/office/drawing/2014/main" id="{A040B88A-9C76-499A-AF29-8036C073E55A}"/>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Загрузить учебный датасет или подготовленные данные</a:t>
            </a:r>
            <a:endParaRPr sz="1800"/>
          </a:p>
          <a:p xmlns:a="http://schemas.openxmlformats.org/drawingml/2006/main">
            <a:pPr marL="0" indent="0">
              <a:buNone/>
            </a:pPr>
            <a:r>
              <a:rPr sz="1800">
                <a:solidFill>
                  <a:srgbClr val="111827"/>
                </a:solidFill>
                <a:latin typeface="Arial"/>
                <a:ea typeface="Arial"/>
                <a:cs typeface="Arial"/>
              </a:rPr>
              <a:t>• Обучить простую модель и вывести краткую метрику</a:t>
            </a:r>
            <a:endParaRPr sz="1800"/>
          </a:p>
          <a:p xmlns:a="http://schemas.openxmlformats.org/drawingml/2006/main">
            <a:pPr marL="0" indent="0">
              <a:buNone/>
            </a:pPr>
            <a:r>
              <a:rPr sz="1800">
                <a:solidFill>
                  <a:srgbClr val="111827"/>
                </a:solidFill>
                <a:latin typeface="Arial"/>
                <a:ea typeface="Arial"/>
                <a:cs typeface="Arial"/>
              </a:rPr>
              <a:t>• Сохранить модель в согласованное место, например models/model.pkl</a:t>
            </a:r>
            <a:endParaRPr sz="1800"/>
          </a:p>
        </p:txBody>
      </p:sp>
      <p:sp>
        <p:nvSpPr>
          <p:cNvPr id="5" name="Text 3">
            <a:extLst xmlns:a="http://schemas.openxmlformats.org/drawingml/2006/main">
              <a:ext uri="{FF2B5EF4-FFF2-40B4-BE49-F238E27FC236}">
                <a16:creationId xmlns:a16="http://schemas.microsoft.com/office/drawing/2014/main" id="{8D0B3E91-4AF7-4CB7-AAC4-E3DCB31D2A6A}"/>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train.py отвечает за создание артефакта.</a:t>
            </a:r>
            <a:endParaRPr sz="1450"/>
          </a:p>
        </p:txBody>
      </p:sp>
      <p:sp>
        <p:nvSpPr>
          <p:cNvPr id="6" name="Text 4">
            <a:extLst xmlns:a="http://schemas.openxmlformats.org/drawingml/2006/main">
              <a:ext uri="{FF2B5EF4-FFF2-40B4-BE49-F238E27FC236}">
                <a16:creationId xmlns:a16="http://schemas.microsoft.com/office/drawing/2014/main" id="{633B79F5-A495-4781-ADDD-40A835711E10}"/>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Ответственность predict.py</a:t>
            </a:r>
            <a:endParaRPr sz="1200"/>
          </a:p>
        </p:txBody>
      </p:sp>
      <p:sp>
        <p:nvSpPr>
          <p:cNvPr id="7" name="Shape 5">
            <a:extLst xmlns:a="http://schemas.openxmlformats.org/drawingml/2006/main">
              <a:ext uri="{FF2B5EF4-FFF2-40B4-BE49-F238E27FC236}">
                <a16:creationId xmlns:a16="http://schemas.microsoft.com/office/drawing/2014/main" id="{DD282CB1-DC6A-41E1-B13F-30E5D3D8803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6C09D06-CBE0-4CD4-8C12-BAAD4872D02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58DE67A1-F1BC-4116-96CC-EE302CCB8224}"/>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40</a:t>
            </a:r>
            <a:endParaRPr sz="850"/>
          </a:p>
        </p:txBody>
      </p:sp>
    </p:spTree>
    <p:extLst>
      <p:ext uri="{BB962C8B-B14F-4D97-AF65-F5344CB8AC3E}">
        <p14:creationId xmlns:p14="http://schemas.microsoft.com/office/powerpoint/2010/main" val="146420930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3A6475-6457-4E83-B0C1-884B3460AFB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F766E"/>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ML-КОМПОНЕНТ</a:t>
            </a:r>
            <a:endParaRPr sz="850"/>
          </a:p>
        </p:txBody>
      </p:sp>
      <p:sp>
        <p:nvSpPr>
          <p:cNvPr id="3" name="Text 1">
            <a:extLst xmlns:a="http://schemas.openxmlformats.org/drawingml/2006/main">
              <a:ext uri="{FF2B5EF4-FFF2-40B4-BE49-F238E27FC236}">
                <a16:creationId xmlns:a16="http://schemas.microsoft.com/office/drawing/2014/main" id="{075E17CD-EFE8-4729-A7DF-0576601F898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Ответственность predict.py</a:t>
            </a:r>
            <a:endParaRPr sz="2300"/>
          </a:p>
        </p:txBody>
      </p:sp>
      <p:sp>
        <p:nvSpPr>
          <p:cNvPr id="4" name="Text 2">
            <a:extLst xmlns:a="http://schemas.openxmlformats.org/drawingml/2006/main">
              <a:ext uri="{FF2B5EF4-FFF2-40B4-BE49-F238E27FC236}">
                <a16:creationId xmlns:a16="http://schemas.microsoft.com/office/drawing/2014/main" id="{A210E6CD-C909-40B2-B5E1-01326C904B57}"/>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Загрузить сохраненную модель</a:t>
            </a:r>
            <a:endParaRPr sz="1800"/>
          </a:p>
          <a:p xmlns:a="http://schemas.openxmlformats.org/drawingml/2006/main">
            <a:pPr marL="0" indent="0">
              <a:buNone/>
            </a:pPr>
            <a:r>
              <a:rPr sz="1800">
                <a:solidFill>
                  <a:srgbClr val="111827"/>
                </a:solidFill>
                <a:latin typeface="Arial"/>
                <a:ea typeface="Arial"/>
                <a:cs typeface="Arial"/>
              </a:rPr>
              <a:t>• Принять один тестовый объект или строку из sample.csv</a:t>
            </a:r>
            <a:endParaRPr sz="1800"/>
          </a:p>
          <a:p xmlns:a="http://schemas.openxmlformats.org/drawingml/2006/main">
            <a:pPr marL="0" indent="0">
              <a:buNone/>
            </a:pPr>
            <a:r>
              <a:rPr sz="1800">
                <a:solidFill>
                  <a:srgbClr val="111827"/>
                </a:solidFill>
                <a:latin typeface="Arial"/>
                <a:ea typeface="Arial"/>
                <a:cs typeface="Arial"/>
              </a:rPr>
              <a:t>• Вывести предсказание в понятном формате</a:t>
            </a:r>
            <a:endParaRPr sz="1800"/>
          </a:p>
        </p:txBody>
      </p:sp>
      <p:sp>
        <p:nvSpPr>
          <p:cNvPr id="5" name="Text 3">
            <a:extLst xmlns:a="http://schemas.openxmlformats.org/drawingml/2006/main">
              <a:ext uri="{FF2B5EF4-FFF2-40B4-BE49-F238E27FC236}">
                <a16:creationId xmlns:a16="http://schemas.microsoft.com/office/drawing/2014/main" id="{74EE81B8-687E-4851-A4DA-AD6FC02E37AF}"/>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predict.py отвечает за использование артефакта, а не за его создание.</a:t>
            </a:r>
            <a:endParaRPr sz="1450"/>
          </a:p>
        </p:txBody>
      </p:sp>
      <p:sp>
        <p:nvSpPr>
          <p:cNvPr id="6" name="Text 4">
            <a:extLst xmlns:a="http://schemas.openxmlformats.org/drawingml/2006/main">
              <a:ext uri="{FF2B5EF4-FFF2-40B4-BE49-F238E27FC236}">
                <a16:creationId xmlns:a16="http://schemas.microsoft.com/office/drawing/2014/main" id="{AF8020C0-19C7-4678-B03F-5CD93E30BF4F}"/>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Артефакт модели</a:t>
            </a:r>
            <a:endParaRPr sz="1200"/>
          </a:p>
        </p:txBody>
      </p:sp>
      <p:sp>
        <p:nvSpPr>
          <p:cNvPr id="7" name="Shape 5">
            <a:extLst xmlns:a="http://schemas.openxmlformats.org/drawingml/2006/main">
              <a:ext uri="{FF2B5EF4-FFF2-40B4-BE49-F238E27FC236}">
                <a16:creationId xmlns:a16="http://schemas.microsoft.com/office/drawing/2014/main" id="{B7C5689C-EE6A-4F19-AD7E-23CC0FD487A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01E28F5-22F6-4F48-90B9-D58298CD549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E3FCBD8E-C47A-43B8-A8A9-8C9D09737A4A}"/>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41</a:t>
            </a:r>
            <a:endParaRPr sz="850"/>
          </a:p>
        </p:txBody>
      </p:sp>
    </p:spTree>
    <p:extLst>
      <p:ext uri="{BB962C8B-B14F-4D97-AF65-F5344CB8AC3E}">
        <p14:creationId xmlns:p14="http://schemas.microsoft.com/office/powerpoint/2010/main" val="181872364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D92CFB-8EC5-401B-92F6-D9A0BF752ACF}"/>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F766E"/>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ML-КОМПОНЕНТ</a:t>
            </a:r>
            <a:endParaRPr sz="850"/>
          </a:p>
        </p:txBody>
      </p:sp>
      <p:sp>
        <p:nvSpPr>
          <p:cNvPr id="3" name="Text 1">
            <a:extLst xmlns:a="http://schemas.openxmlformats.org/drawingml/2006/main">
              <a:ext uri="{FF2B5EF4-FFF2-40B4-BE49-F238E27FC236}">
                <a16:creationId xmlns:a16="http://schemas.microsoft.com/office/drawing/2014/main" id="{96BA3F5A-895D-4AA0-A0D4-C33FA83C426F}"/>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Артефакт модели</a:t>
            </a:r>
            <a:endParaRPr sz="2300"/>
          </a:p>
        </p:txBody>
      </p:sp>
      <p:sp>
        <p:nvSpPr>
          <p:cNvPr id="4" name="Text 2">
            <a:extLst xmlns:a="http://schemas.openxmlformats.org/drawingml/2006/main">
              <a:ext uri="{FF2B5EF4-FFF2-40B4-BE49-F238E27FC236}">
                <a16:creationId xmlns:a16="http://schemas.microsoft.com/office/drawing/2014/main" id="{D133105B-29B5-40B8-B643-892C38DE4633}"/>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Файл model.pkl фиксирует результат обучения для последующего использования</a:t>
            </a:r>
            <a:endParaRPr sz="1800"/>
          </a:p>
          <a:p xmlns:a="http://schemas.openxmlformats.org/drawingml/2006/main">
            <a:pPr marL="0" indent="0">
              <a:buNone/>
            </a:pPr>
            <a:r>
              <a:rPr sz="1800">
                <a:solidFill>
                  <a:srgbClr val="111827"/>
                </a:solidFill>
                <a:latin typeface="Arial"/>
                <a:ea typeface="Arial"/>
                <a:cs typeface="Arial"/>
              </a:rPr>
              <a:t>• Артефакт должен иметь понятное место хранения и способ создания</a:t>
            </a:r>
            <a:endParaRPr sz="1800"/>
          </a:p>
          <a:p xmlns:a="http://schemas.openxmlformats.org/drawingml/2006/main">
            <a:pPr marL="0" indent="0">
              <a:buNone/>
            </a:pPr>
            <a:r>
              <a:rPr sz="1800">
                <a:solidFill>
                  <a:srgbClr val="111827"/>
                </a:solidFill>
                <a:latin typeface="Arial"/>
                <a:ea typeface="Arial"/>
                <a:cs typeface="Arial"/>
              </a:rPr>
              <a:t>• Для учебной работы допустим простой файл; в MLOps это решается более специализированно</a:t>
            </a:r>
            <a:endParaRPr sz="1800"/>
          </a:p>
        </p:txBody>
      </p:sp>
      <p:sp>
        <p:nvSpPr>
          <p:cNvPr id="5" name="Text 3">
            <a:extLst xmlns:a="http://schemas.openxmlformats.org/drawingml/2006/main">
              <a:ext uri="{FF2B5EF4-FFF2-40B4-BE49-F238E27FC236}">
                <a16:creationId xmlns:a16="http://schemas.microsoft.com/office/drawing/2014/main" id="{E0FF6B0B-6C67-4A25-B35B-3EF3915CE022}"/>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Артефакт модели связывает обучение и инференс.</a:t>
            </a:r>
            <a:endParaRPr sz="1450"/>
          </a:p>
        </p:txBody>
      </p:sp>
      <p:sp>
        <p:nvSpPr>
          <p:cNvPr id="6" name="Text 4">
            <a:extLst xmlns:a="http://schemas.openxmlformats.org/drawingml/2006/main">
              <a:ext uri="{FF2B5EF4-FFF2-40B4-BE49-F238E27FC236}">
                <a16:creationId xmlns:a16="http://schemas.microsoft.com/office/drawing/2014/main" id="{A55E8EDE-F253-4AAE-A7A6-588123753741}"/>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Пример данных для запуска</a:t>
            </a:r>
            <a:endParaRPr sz="1200"/>
          </a:p>
        </p:txBody>
      </p:sp>
      <p:sp>
        <p:nvSpPr>
          <p:cNvPr id="7" name="Shape 5">
            <a:extLst xmlns:a="http://schemas.openxmlformats.org/drawingml/2006/main">
              <a:ext uri="{FF2B5EF4-FFF2-40B4-BE49-F238E27FC236}">
                <a16:creationId xmlns:a16="http://schemas.microsoft.com/office/drawing/2014/main" id="{05D3517D-332A-482A-BA23-3C591B23BFC1}"/>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93257F6F-DA03-4E2C-8D37-4FA7C2EBDAAB}"/>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75E4D3D5-C636-428F-B2E9-831844CC3C6C}"/>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42</a:t>
            </a:r>
            <a:endParaRPr sz="850"/>
          </a:p>
        </p:txBody>
      </p:sp>
    </p:spTree>
    <p:extLst>
      <p:ext uri="{BB962C8B-B14F-4D97-AF65-F5344CB8AC3E}">
        <p14:creationId xmlns:p14="http://schemas.microsoft.com/office/powerpoint/2010/main" val="147756717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4303E1-08C6-40C0-B63F-F0B5BEA18DB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F766E"/>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ML-КОМПОНЕНТ</a:t>
            </a:r>
            <a:endParaRPr sz="850"/>
          </a:p>
        </p:txBody>
      </p:sp>
      <p:sp>
        <p:nvSpPr>
          <p:cNvPr id="3" name="Text 1">
            <a:extLst xmlns:a="http://schemas.openxmlformats.org/drawingml/2006/main">
              <a:ext uri="{FF2B5EF4-FFF2-40B4-BE49-F238E27FC236}">
                <a16:creationId xmlns:a16="http://schemas.microsoft.com/office/drawing/2014/main" id="{5C51DB3C-E056-4EB1-A558-4EC33F79E90A}"/>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Пример данных для запуска</a:t>
            </a:r>
            <a:endParaRPr sz="2300"/>
          </a:p>
        </p:txBody>
      </p:sp>
      <p:sp>
        <p:nvSpPr>
          <p:cNvPr id="4" name="Text 2">
            <a:extLst xmlns:a="http://schemas.openxmlformats.org/drawingml/2006/main">
              <a:ext uri="{FF2B5EF4-FFF2-40B4-BE49-F238E27FC236}">
                <a16:creationId xmlns:a16="http://schemas.microsoft.com/office/drawing/2014/main" id="{FC4C07B1-EB07-4A0A-9D26-FFB504328831}"/>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data_sample/sample.csv нужен для демонстрации входного формата</a:t>
            </a:r>
            <a:endParaRPr sz="1800"/>
          </a:p>
          <a:p xmlns:a="http://schemas.openxmlformats.org/drawingml/2006/main">
            <a:pPr marL="0" indent="0">
              <a:buNone/>
            </a:pPr>
            <a:r>
              <a:rPr sz="1800">
                <a:solidFill>
                  <a:srgbClr val="111827"/>
                </a:solidFill>
                <a:latin typeface="Arial"/>
                <a:ea typeface="Arial"/>
                <a:cs typeface="Arial"/>
              </a:rPr>
              <a:t>• Файл должен быть маленьким и безопасным для репозитория</a:t>
            </a:r>
            <a:endParaRPr sz="1800"/>
          </a:p>
          <a:p xmlns:a="http://schemas.openxmlformats.org/drawingml/2006/main">
            <a:pPr marL="0" indent="0">
              <a:buNone/>
            </a:pPr>
            <a:r>
              <a:rPr sz="1800">
                <a:solidFill>
                  <a:srgbClr val="111827"/>
                </a:solidFill>
                <a:latin typeface="Arial"/>
                <a:ea typeface="Arial"/>
                <a:cs typeface="Arial"/>
              </a:rPr>
              <a:t>• Пример данных помогает проверить README и predict.py</a:t>
            </a:r>
            <a:endParaRPr sz="1800"/>
          </a:p>
        </p:txBody>
      </p:sp>
      <p:sp>
        <p:nvSpPr>
          <p:cNvPr id="5" name="Text 3">
            <a:extLst xmlns:a="http://schemas.openxmlformats.org/drawingml/2006/main">
              <a:ext uri="{FF2B5EF4-FFF2-40B4-BE49-F238E27FC236}">
                <a16:creationId xmlns:a16="http://schemas.microsoft.com/office/drawing/2014/main" id="{5CA8EB87-9040-4840-B691-316F6E63504E}"/>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Минимальный sample делает проект самодостаточным для проверки.</a:t>
            </a:r>
            <a:endParaRPr sz="1450"/>
          </a:p>
        </p:txBody>
      </p:sp>
      <p:sp>
        <p:nvSpPr>
          <p:cNvPr id="6" name="Text 4">
            <a:extLst xmlns:a="http://schemas.openxmlformats.org/drawingml/2006/main">
              <a:ext uri="{FF2B5EF4-FFF2-40B4-BE49-F238E27FC236}">
                <a16:creationId xmlns:a16="http://schemas.microsoft.com/office/drawing/2014/main" id="{A89D199C-A902-42FF-890D-E86F40F2A69F}"/>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Smoke-test и unit test</a:t>
            </a:r>
            <a:endParaRPr sz="1200"/>
          </a:p>
        </p:txBody>
      </p:sp>
      <p:sp>
        <p:nvSpPr>
          <p:cNvPr id="7" name="Shape 5">
            <a:extLst xmlns:a="http://schemas.openxmlformats.org/drawingml/2006/main">
              <a:ext uri="{FF2B5EF4-FFF2-40B4-BE49-F238E27FC236}">
                <a16:creationId xmlns:a16="http://schemas.microsoft.com/office/drawing/2014/main" id="{DEB86893-A6BD-4C53-A94C-2E8535D617D7}"/>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EF95F1E3-89F1-4BE2-BE12-8D37098AD88F}"/>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67B33379-0000-4529-BC2D-47ABB6F024C5}"/>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43</a:t>
            </a:r>
            <a:endParaRPr sz="850"/>
          </a:p>
        </p:txBody>
      </p:sp>
    </p:spTree>
    <p:extLst>
      <p:ext uri="{BB962C8B-B14F-4D97-AF65-F5344CB8AC3E}">
        <p14:creationId xmlns:p14="http://schemas.microsoft.com/office/powerpoint/2010/main" val="174317175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99ADFA-67D2-4A5D-BFF1-2E9B73D1A6EB}"/>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46DF1E2D-D0FE-4C00-AF19-54836BA8F2AA}"/>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Smoke-test и unit test</a:t>
            </a:r>
            <a:endParaRPr sz="2300"/>
          </a:p>
        </p:txBody>
      </p:sp>
      <p:sp>
        <p:nvSpPr>
          <p:cNvPr id="4" name="Text 2">
            <a:extLst xmlns:a="http://schemas.openxmlformats.org/drawingml/2006/main">
              <a:ext uri="{FF2B5EF4-FFF2-40B4-BE49-F238E27FC236}">
                <a16:creationId xmlns:a16="http://schemas.microsoft.com/office/drawing/2014/main" id="{FF27E34C-B0CB-41D7-B26B-B33A274825C6}"/>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Smoke-test проверяет, что основной сценарий не падает</a:t>
            </a:r>
            <a:endParaRPr sz="1800"/>
          </a:p>
          <a:p xmlns:a="http://schemas.openxmlformats.org/drawingml/2006/main">
            <a:pPr marL="0" indent="0">
              <a:buNone/>
            </a:pPr>
            <a:r>
              <a:rPr sz="1800">
                <a:solidFill>
                  <a:srgbClr val="111827"/>
                </a:solidFill>
                <a:latin typeface="Arial"/>
                <a:ea typeface="Arial"/>
                <a:cs typeface="Arial"/>
              </a:rPr>
              <a:t>• Unit test проверяет небольшую единицу логики или функцию</a:t>
            </a:r>
            <a:endParaRPr sz="1800"/>
          </a:p>
          <a:p xmlns:a="http://schemas.openxmlformats.org/drawingml/2006/main">
            <a:pPr marL="0" indent="0">
              <a:buNone/>
            </a:pPr>
            <a:r>
              <a:rPr sz="1800">
                <a:solidFill>
                  <a:srgbClr val="111827"/>
                </a:solidFill>
                <a:latin typeface="Arial"/>
                <a:ea typeface="Arial"/>
                <a:cs typeface="Arial"/>
              </a:rPr>
              <a:t>• Для первой практики достаточно минимальной проверки работоспособности</a:t>
            </a:r>
            <a:endParaRPr sz="1800"/>
          </a:p>
        </p:txBody>
      </p:sp>
      <p:sp>
        <p:nvSpPr>
          <p:cNvPr id="5" name="Text 3">
            <a:extLst xmlns:a="http://schemas.openxmlformats.org/drawingml/2006/main">
              <a:ext uri="{FF2B5EF4-FFF2-40B4-BE49-F238E27FC236}">
                <a16:creationId xmlns:a16="http://schemas.microsoft.com/office/drawing/2014/main" id="{1CB28C60-0BFB-4DD0-9AA6-6FC1F0E6B3DE}"/>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Тест в первой практике — это сигнал, что проект можно проверять автоматически.</a:t>
            </a:r>
            <a:endParaRPr sz="1450"/>
          </a:p>
        </p:txBody>
      </p:sp>
      <p:sp>
        <p:nvSpPr>
          <p:cNvPr id="6" name="Text 4">
            <a:extLst xmlns:a="http://schemas.openxmlformats.org/drawingml/2006/main">
              <a:ext uri="{FF2B5EF4-FFF2-40B4-BE49-F238E27FC236}">
                <a16:creationId xmlns:a16="http://schemas.microsoft.com/office/drawing/2014/main" id="{D35A4839-CAB4-4D49-BCC6-2CD3D8AF088D}"/>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Что проверяет test_predict.py</a:t>
            </a:r>
            <a:endParaRPr sz="1200"/>
          </a:p>
        </p:txBody>
      </p:sp>
      <p:sp>
        <p:nvSpPr>
          <p:cNvPr id="7" name="Shape 5">
            <a:extLst xmlns:a="http://schemas.openxmlformats.org/drawingml/2006/main">
              <a:ext uri="{FF2B5EF4-FFF2-40B4-BE49-F238E27FC236}">
                <a16:creationId xmlns:a16="http://schemas.microsoft.com/office/drawing/2014/main" id="{00A3270A-1D74-4A8C-B612-58E431B86985}"/>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81BACE29-92CF-491F-88D3-37FA933C088E}"/>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49C644C0-183A-4A58-926C-1A38732ED1E0}"/>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44</a:t>
            </a:r>
            <a:endParaRPr sz="850"/>
          </a:p>
        </p:txBody>
      </p:sp>
    </p:spTree>
    <p:extLst>
      <p:ext uri="{BB962C8B-B14F-4D97-AF65-F5344CB8AC3E}">
        <p14:creationId xmlns:p14="http://schemas.microsoft.com/office/powerpoint/2010/main" val="154611808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1D68F9-1A91-44C1-A527-BB5781530293}"/>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5F4693C6-EB9C-4D04-A90D-45A9F1628D10}"/>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Что проверяет test_predict.py</a:t>
            </a:r>
            <a:endParaRPr sz="2300"/>
          </a:p>
        </p:txBody>
      </p:sp>
      <p:sp>
        <p:nvSpPr>
          <p:cNvPr id="4" name="Text 2">
            <a:extLst xmlns:a="http://schemas.openxmlformats.org/drawingml/2006/main">
              <a:ext uri="{FF2B5EF4-FFF2-40B4-BE49-F238E27FC236}">
                <a16:creationId xmlns:a16="http://schemas.microsoft.com/office/drawing/2014/main" id="{0CCDA323-F048-4320-8D1A-6A5A3AF347EC}"/>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Наличие или корректная загрузка сохраненной модели</a:t>
            </a:r>
            <a:endParaRPr sz="1800"/>
          </a:p>
          <a:p xmlns:a="http://schemas.openxmlformats.org/drawingml/2006/main">
            <a:pPr marL="0" indent="0">
              <a:buNone/>
            </a:pPr>
            <a:r>
              <a:rPr sz="1800">
                <a:solidFill>
                  <a:srgbClr val="111827"/>
                </a:solidFill>
                <a:latin typeface="Arial"/>
                <a:ea typeface="Arial"/>
                <a:cs typeface="Arial"/>
              </a:rPr>
              <a:t>• Вызов функции/скрипта предсказания без аварийного завершения</a:t>
            </a:r>
            <a:endParaRPr sz="1800"/>
          </a:p>
          <a:p xmlns:a="http://schemas.openxmlformats.org/drawingml/2006/main">
            <a:pPr marL="0" indent="0">
              <a:buNone/>
            </a:pPr>
            <a:r>
              <a:rPr sz="1800">
                <a:solidFill>
                  <a:srgbClr val="111827"/>
                </a:solidFill>
                <a:latin typeface="Arial"/>
                <a:ea typeface="Arial"/>
                <a:cs typeface="Arial"/>
              </a:rPr>
              <a:t>• Формат результата: число, метка класса, массив нужной формы</a:t>
            </a:r>
            <a:endParaRPr sz="1800"/>
          </a:p>
        </p:txBody>
      </p:sp>
      <p:sp>
        <p:nvSpPr>
          <p:cNvPr id="5" name="Text 3">
            <a:extLst xmlns:a="http://schemas.openxmlformats.org/drawingml/2006/main">
              <a:ext uri="{FF2B5EF4-FFF2-40B4-BE49-F238E27FC236}">
                <a16:creationId xmlns:a16="http://schemas.microsoft.com/office/drawing/2014/main" id="{DB9980E9-6C43-4D4F-B896-9B53E6AEBECF}"/>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Минимальный тест не доказывает качество модели, но проверяет контракт запуска.</a:t>
            </a:r>
            <a:endParaRPr sz="1450"/>
          </a:p>
        </p:txBody>
      </p:sp>
      <p:sp>
        <p:nvSpPr>
          <p:cNvPr id="6" name="Text 4">
            <a:extLst xmlns:a="http://schemas.openxmlformats.org/drawingml/2006/main">
              <a:ext uri="{FF2B5EF4-FFF2-40B4-BE49-F238E27FC236}">
                <a16:creationId xmlns:a16="http://schemas.microsoft.com/office/drawing/2014/main" id="{F3784B37-DD98-4876-BB5D-CF238C806EA7}"/>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Команды воспроизводимого запуска</a:t>
            </a:r>
            <a:endParaRPr sz="1200"/>
          </a:p>
        </p:txBody>
      </p:sp>
      <p:sp>
        <p:nvSpPr>
          <p:cNvPr id="7" name="Shape 5">
            <a:extLst xmlns:a="http://schemas.openxmlformats.org/drawingml/2006/main">
              <a:ext uri="{FF2B5EF4-FFF2-40B4-BE49-F238E27FC236}">
                <a16:creationId xmlns:a16="http://schemas.microsoft.com/office/drawing/2014/main" id="{3A9CA7E5-95DA-4D7B-94D6-32C5E8135C93}"/>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1EEB7892-96FB-4C42-86E9-28D1BCA8AD1D}"/>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A834FB63-BF87-4F93-88E0-14A0E17BE3C7}"/>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45</a:t>
            </a:r>
            <a:endParaRPr sz="850"/>
          </a:p>
        </p:txBody>
      </p:sp>
    </p:spTree>
    <p:extLst>
      <p:ext uri="{BB962C8B-B14F-4D97-AF65-F5344CB8AC3E}">
        <p14:creationId xmlns:p14="http://schemas.microsoft.com/office/powerpoint/2010/main" val="85345588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C8632A-77EF-4161-BDFD-BC9089AAABB1}"/>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6CA5C4E2-063B-4C65-A804-A60945138FDA}"/>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Команды воспроизводимого запуска</a:t>
            </a:r>
            <a:endParaRPr sz="2300"/>
          </a:p>
        </p:txBody>
      </p:sp>
      <p:sp>
        <p:nvSpPr>
          <p:cNvPr id="4" name="Text 2">
            <a:extLst xmlns:a="http://schemas.openxmlformats.org/drawingml/2006/main">
              <a:ext uri="{FF2B5EF4-FFF2-40B4-BE49-F238E27FC236}">
                <a16:creationId xmlns:a16="http://schemas.microsoft.com/office/drawing/2014/main" id="{92730F83-D2A8-42C1-BC40-867ECFD92D12}"/>
              </a:ext>
            </a:extLst>
          </p:cNvPr>
          <p:cNvSpPr>
            <a:spLocks xmlns:a="http://schemas.openxmlformats.org/drawingml/2006/main" noGrp="1"/>
          </p:cNvSpPr>
          <p:nvPr/>
        </p:nvSpPr>
        <p:spPr>
          <a:xfrm xmlns:a="http://schemas.openxmlformats.org/drawingml/2006/main">
            <a:off x="685800" y="1143000"/>
            <a:ext cx="6766560" cy="20574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python -m venv .venv и активация окружения</a:t>
            </a:r>
            <a:endParaRPr sz="1800"/>
          </a:p>
          <a:p xmlns:a="http://schemas.openxmlformats.org/drawingml/2006/main">
            <a:pPr marL="0" indent="0">
              <a:buNone/>
            </a:pPr>
            <a:r>
              <a:rPr sz="1800">
                <a:solidFill>
                  <a:srgbClr val="111827"/>
                </a:solidFill>
                <a:latin typeface="Arial"/>
                <a:ea typeface="Arial"/>
                <a:cs typeface="Arial"/>
              </a:rPr>
              <a:t>• pip install -r requirements.txt</a:t>
            </a:r>
            <a:endParaRPr sz="1800"/>
          </a:p>
          <a:p xmlns:a="http://schemas.openxmlformats.org/drawingml/2006/main">
            <a:pPr marL="0" indent="0">
              <a:buNone/>
            </a:pPr>
            <a:r>
              <a:rPr sz="1800">
                <a:solidFill>
                  <a:srgbClr val="111827"/>
                </a:solidFill>
                <a:latin typeface="Arial"/>
                <a:ea typeface="Arial"/>
                <a:cs typeface="Arial"/>
              </a:rPr>
              <a:t>• python src/train.py → python src/predict.py → pytest</a:t>
            </a:r>
            <a:endParaRPr sz="1800"/>
          </a:p>
        </p:txBody>
      </p:sp>
      <p:sp>
        <p:nvSpPr>
          <p:cNvPr id="5" name="Text 3">
            <a:extLst xmlns:a="http://schemas.openxmlformats.org/drawingml/2006/main">
              <a:ext uri="{FF2B5EF4-FFF2-40B4-BE49-F238E27FC236}">
                <a16:creationId xmlns:a16="http://schemas.microsoft.com/office/drawing/2014/main" id="{FCBF6DB7-55DE-40C8-A1F3-2DADD71CA7C0}"/>
              </a:ext>
            </a:extLst>
          </p:cNvPr>
          <p:cNvSpPr>
            <a:spLocks xmlns:a="http://schemas.openxmlformats.org/drawingml/2006/main" noGrp="1"/>
          </p:cNvSpPr>
          <p:nvPr/>
        </p:nvSpPr>
        <p:spPr>
          <a:xfrm xmlns:a="http://schemas.openxmlformats.org/drawingml/2006/main">
            <a:off x="7726680" y="1143000"/>
            <a:ext cx="3520440" cy="205740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350">
                <a:solidFill>
                  <a:srgbClr val="111827"/>
                </a:solidFill>
                <a:latin typeface="Arial"/>
                <a:ea typeface="Arial"/>
                <a:cs typeface="Arial"/>
              </a:rPr>
              <a:t>Ключевой акцент</a:t>
            </a:r>
            <a:endParaRPr sz="1350"/>
          </a:p>
          <a:p xmlns:a="http://schemas.openxmlformats.org/drawingml/2006/main">
            <a:pPr marL="0" indent="0">
              <a:buNone/>
            </a:pPr>
            <a:r>
              <a:rPr sz="1350">
                <a:solidFill>
                  <a:srgbClr val="111827"/>
                </a:solidFill>
                <a:latin typeface="Arial"/>
                <a:ea typeface="Arial"/>
                <a:cs typeface="Arial"/>
              </a:rPr>
              <a:t>README должен содержать команды, которые реально выполнялись.</a:t>
            </a:r>
            <a:endParaRPr sz="1350"/>
          </a:p>
        </p:txBody>
      </p:sp>
      <p:sp>
        <p:nvSpPr>
          <p:cNvPr id="6" name="Text 4">
            <a:extLst xmlns:a="http://schemas.openxmlformats.org/drawingml/2006/main">
              <a:ext uri="{FF2B5EF4-FFF2-40B4-BE49-F238E27FC236}">
                <a16:creationId xmlns:a16="http://schemas.microsoft.com/office/drawing/2014/main" id="{E2781670-D204-4E75-A7F9-AF7DFB02ACFF}"/>
              </a:ext>
            </a:extLst>
          </p:cNvPr>
          <p:cNvSpPr>
            <a:spLocks xmlns:a="http://schemas.openxmlformats.org/drawingml/2006/main" noGrp="1"/>
          </p:cNvSpPr>
          <p:nvPr/>
        </p:nvSpPr>
        <p:spPr>
          <a:xfrm xmlns:a="http://schemas.openxmlformats.org/drawingml/2006/main">
            <a:off x="685800" y="3520440"/>
            <a:ext cx="10561320" cy="237744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905" tIns="1905" rIns="1905" bIns="1905" anchor="ctr">
            <a:normAutofit/>
          </a:bodyPr>
          <a:lstStyle xmlns:a="http://schemas.openxmlformats.org/drawingml/2006/main"/>
          <a:p xmlns:a="http://schemas.openxmlformats.org/drawingml/2006/main">
            <a:pPr marL="0" indent="0">
              <a:buNone/>
            </a:pPr>
            <a:r>
              <a:rPr sz="1300">
                <a:solidFill>
                  <a:srgbClr val="111827"/>
                </a:solidFill>
                <a:latin typeface="Courier New"/>
                <a:ea typeface="Courier New"/>
                <a:cs typeface="Courier New"/>
              </a:rPr>
              <a:t>python -m venv .venv</a:t>
            </a:r>
            <a:endParaRPr sz="1300"/>
          </a:p>
          <a:p xmlns:a="http://schemas.openxmlformats.org/drawingml/2006/main">
            <a:pPr marL="0" indent="0">
              <a:buNone/>
            </a:pPr>
            <a:r>
              <a:rPr sz="1300">
                <a:solidFill>
                  <a:srgbClr val="111827"/>
                </a:solidFill>
                <a:latin typeface="Courier New"/>
                <a:ea typeface="Courier New"/>
                <a:cs typeface="Courier New"/>
              </a:rPr>
              <a:t># Windows: .venv\Scripts\activate</a:t>
            </a:r>
            <a:endParaRPr sz="1300"/>
          </a:p>
          <a:p xmlns:a="http://schemas.openxmlformats.org/drawingml/2006/main">
            <a:pPr marL="0" indent="0">
              <a:buNone/>
            </a:pPr>
            <a:r>
              <a:rPr sz="1300">
                <a:solidFill>
                  <a:srgbClr val="111827"/>
                </a:solidFill>
                <a:latin typeface="Courier New"/>
                <a:ea typeface="Courier New"/>
                <a:cs typeface="Courier New"/>
              </a:rPr>
              <a:t># Linux/macOS: source .venv/bin/activate</a:t>
            </a:r>
            <a:endParaRPr sz="1300"/>
          </a:p>
          <a:p xmlns:a="http://schemas.openxmlformats.org/drawingml/2006/main">
            <a:pPr marL="0" indent="0">
              <a:buNone/>
            </a:pPr>
            <a:r>
              <a:rPr sz="1300">
                <a:solidFill>
                  <a:srgbClr val="111827"/>
                </a:solidFill>
                <a:latin typeface="Courier New"/>
                <a:ea typeface="Courier New"/>
                <a:cs typeface="Courier New"/>
              </a:rPr>
              <a:t>pip install -r requirements.txt</a:t>
            </a:r>
            <a:endParaRPr sz="1300"/>
          </a:p>
          <a:p xmlns:a="http://schemas.openxmlformats.org/drawingml/2006/main">
            <a:pPr marL="0" indent="0">
              <a:buNone/>
            </a:pPr>
            <a:r>
              <a:rPr sz="1300">
                <a:solidFill>
                  <a:srgbClr val="111827"/>
                </a:solidFill>
                <a:latin typeface="Courier New"/>
                <a:ea typeface="Courier New"/>
                <a:cs typeface="Courier New"/>
              </a:rPr>
              <a:t>python src/train.py</a:t>
            </a:r>
            <a:endParaRPr sz="1300"/>
          </a:p>
          <a:p xmlns:a="http://schemas.openxmlformats.org/drawingml/2006/main">
            <a:pPr marL="0" indent="0">
              <a:buNone/>
            </a:pPr>
            <a:r>
              <a:rPr sz="1300">
                <a:solidFill>
                  <a:srgbClr val="111827"/>
                </a:solidFill>
                <a:latin typeface="Courier New"/>
                <a:ea typeface="Courier New"/>
                <a:cs typeface="Courier New"/>
              </a:rPr>
              <a:t>python src/predict.py</a:t>
            </a:r>
            <a:endParaRPr sz="1300"/>
          </a:p>
          <a:p xmlns:a="http://schemas.openxmlformats.org/drawingml/2006/main">
            <a:pPr marL="0" indent="0">
              <a:buNone/>
            </a:pPr>
            <a:r>
              <a:rPr sz="1300">
                <a:solidFill>
                  <a:srgbClr val="111827"/>
                </a:solidFill>
                <a:latin typeface="Courier New"/>
                <a:ea typeface="Courier New"/>
                <a:cs typeface="Courier New"/>
              </a:rPr>
              <a:t>pytest</a:t>
            </a:r>
            <a:endParaRPr sz="1300"/>
          </a:p>
        </p:txBody>
      </p:sp>
      <p:sp>
        <p:nvSpPr>
          <p:cNvPr id="7" name="Shape 5">
            <a:extLst xmlns:a="http://schemas.openxmlformats.org/drawingml/2006/main">
              <a:ext uri="{FF2B5EF4-FFF2-40B4-BE49-F238E27FC236}">
                <a16:creationId xmlns:a16="http://schemas.microsoft.com/office/drawing/2014/main" id="{B390A0FE-B196-4014-8A4B-32464E16C0B3}"/>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97F62A86-91E5-4F17-A45D-0DDEC7B24682}"/>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B4A8E555-1C53-4B65-AAAF-60CF93E75730}"/>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46</a:t>
            </a:r>
            <a:endParaRPr sz="850"/>
          </a:p>
        </p:txBody>
      </p:sp>
    </p:spTree>
    <p:extLst>
      <p:ext uri="{BB962C8B-B14F-4D97-AF65-F5344CB8AC3E}">
        <p14:creationId xmlns:p14="http://schemas.microsoft.com/office/powerpoint/2010/main" val="78718860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EB4B75-3705-4F50-81C6-71F81B74613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593DBA6D-24BA-4A52-A4D0-33110AC438A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Типовые причины невоспроизводимости</a:t>
            </a:r>
            <a:endParaRPr sz="2300"/>
          </a:p>
        </p:txBody>
      </p:sp>
      <p:sp>
        <p:nvSpPr>
          <p:cNvPr id="4" name="Text 2">
            <a:extLst xmlns:a="http://schemas.openxmlformats.org/drawingml/2006/main">
              <a:ext uri="{FF2B5EF4-FFF2-40B4-BE49-F238E27FC236}">
                <a16:creationId xmlns:a16="http://schemas.microsoft.com/office/drawing/2014/main" id="{22B46622-91C5-41CB-954E-7EF639C47B11}"/>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В README указаны команды, которых нет в проекте</a:t>
            </a:r>
            <a:endParaRPr sz="1800"/>
          </a:p>
          <a:p xmlns:a="http://schemas.openxmlformats.org/drawingml/2006/main">
            <a:pPr marL="0" indent="0">
              <a:buNone/>
            </a:pPr>
            <a:r>
              <a:rPr sz="1800">
                <a:solidFill>
                  <a:srgbClr val="111827"/>
                </a:solidFill>
                <a:latin typeface="Arial"/>
                <a:ea typeface="Arial"/>
                <a:cs typeface="Arial"/>
              </a:rPr>
              <a:t>• requirements.txt не содержит нужные зависимости или содержит лишний хаос</a:t>
            </a:r>
            <a:endParaRPr sz="1800"/>
          </a:p>
          <a:p xmlns:a="http://schemas.openxmlformats.org/drawingml/2006/main">
            <a:pPr marL="0" indent="0">
              <a:buNone/>
            </a:pPr>
            <a:r>
              <a:rPr sz="1800">
                <a:solidFill>
                  <a:srgbClr val="111827"/>
                </a:solidFill>
                <a:latin typeface="Arial"/>
                <a:ea typeface="Arial"/>
                <a:cs typeface="Arial"/>
              </a:rPr>
              <a:t>• Код зависит от абсолютных путей, локальных файлов или ручных действий</a:t>
            </a:r>
            <a:endParaRPr sz="1800"/>
          </a:p>
        </p:txBody>
      </p:sp>
      <p:sp>
        <p:nvSpPr>
          <p:cNvPr id="5" name="Text 3">
            <a:extLst xmlns:a="http://schemas.openxmlformats.org/drawingml/2006/main">
              <a:ext uri="{FF2B5EF4-FFF2-40B4-BE49-F238E27FC236}">
                <a16:creationId xmlns:a16="http://schemas.microsoft.com/office/drawing/2014/main" id="{8B306497-AAFA-4821-8F6D-22F73CF7FE7D}"/>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Невоспроизводимость почти всегда проявляется при запуске на другой машине.</a:t>
            </a:r>
            <a:endParaRPr sz="1450"/>
          </a:p>
        </p:txBody>
      </p:sp>
      <p:sp>
        <p:nvSpPr>
          <p:cNvPr id="6" name="Text 4">
            <a:extLst xmlns:a="http://schemas.openxmlformats.org/drawingml/2006/main">
              <a:ext uri="{FF2B5EF4-FFF2-40B4-BE49-F238E27FC236}">
                <a16:creationId xmlns:a16="http://schemas.microsoft.com/office/drawing/2014/main" id="{40D42601-DC83-4D6F-A86B-2BB3D2F2A620}"/>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Готовность к интеграции: чек-лист</a:t>
            </a:r>
            <a:endParaRPr sz="1200"/>
          </a:p>
        </p:txBody>
      </p:sp>
      <p:sp>
        <p:nvSpPr>
          <p:cNvPr id="7" name="Shape 5">
            <a:extLst xmlns:a="http://schemas.openxmlformats.org/drawingml/2006/main">
              <a:ext uri="{FF2B5EF4-FFF2-40B4-BE49-F238E27FC236}">
                <a16:creationId xmlns:a16="http://schemas.microsoft.com/office/drawing/2014/main" id="{7E481FB9-91DA-4ADF-8ABC-65951BC4A71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96FC540B-87E7-46BC-875B-0262261D98A9}"/>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816135D3-F499-4BAF-A0DD-6A42A279E12E}"/>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47</a:t>
            </a:r>
            <a:endParaRPr sz="850"/>
          </a:p>
        </p:txBody>
      </p:sp>
    </p:spTree>
    <p:extLst>
      <p:ext uri="{BB962C8B-B14F-4D97-AF65-F5344CB8AC3E}">
        <p14:creationId xmlns:p14="http://schemas.microsoft.com/office/powerpoint/2010/main" val="139237417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6A128D-C7C8-4831-B386-D34026D7FDA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D71CD99E-A5BA-4A0B-80F5-0DD70061B38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Готовность к интеграции: чек-лист</a:t>
            </a:r>
            <a:endParaRPr sz="2300"/>
          </a:p>
        </p:txBody>
      </p:sp>
      <p:sp>
        <p:nvSpPr>
          <p:cNvPr id="4" name="Text 2">
            <a:extLst xmlns:a="http://schemas.openxmlformats.org/drawingml/2006/main">
              <a:ext uri="{FF2B5EF4-FFF2-40B4-BE49-F238E27FC236}">
                <a16:creationId xmlns:a16="http://schemas.microsoft.com/office/drawing/2014/main" id="{9EEEE3BD-BA12-4D7B-9E59-BE95029FF9A2}"/>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Есть понятная структура проекта и README</a:t>
            </a:r>
            <a:endParaRPr sz="1800"/>
          </a:p>
          <a:p xmlns:a="http://schemas.openxmlformats.org/drawingml/2006/main">
            <a:pPr marL="0" indent="0">
              <a:buNone/>
            </a:pPr>
            <a:r>
              <a:rPr sz="1800">
                <a:solidFill>
                  <a:srgbClr val="111827"/>
                </a:solidFill>
                <a:latin typeface="Arial"/>
                <a:ea typeface="Arial"/>
                <a:cs typeface="Arial"/>
              </a:rPr>
              <a:t>• Команды установки, обучения, предсказания и тестирования работают</a:t>
            </a:r>
            <a:endParaRPr sz="1800"/>
          </a:p>
          <a:p xmlns:a="http://schemas.openxmlformats.org/drawingml/2006/main">
            <a:pPr marL="0" indent="0">
              <a:buNone/>
            </a:pPr>
            <a:r>
              <a:rPr sz="1800">
                <a:solidFill>
                  <a:srgbClr val="111827"/>
                </a:solidFill>
                <a:latin typeface="Arial"/>
                <a:ea typeface="Arial"/>
                <a:cs typeface="Arial"/>
              </a:rPr>
              <a:t>• Обучение и инференс разделены; модель сохраняется и загружается</a:t>
            </a:r>
            <a:endParaRPr sz="1800"/>
          </a:p>
        </p:txBody>
      </p:sp>
      <p:sp>
        <p:nvSpPr>
          <p:cNvPr id="5" name="Text 3">
            <a:extLst xmlns:a="http://schemas.openxmlformats.org/drawingml/2006/main">
              <a:ext uri="{FF2B5EF4-FFF2-40B4-BE49-F238E27FC236}">
                <a16:creationId xmlns:a16="http://schemas.microsoft.com/office/drawing/2014/main" id="{5E9D9299-7832-4943-A4DB-938CDFC26F09}"/>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Если чек-лист не проходит, рано переходить к API, Docker и CI/CD.</a:t>
            </a:r>
            <a:endParaRPr sz="1450"/>
          </a:p>
        </p:txBody>
      </p:sp>
      <p:sp>
        <p:nvSpPr>
          <p:cNvPr id="6" name="Text 4">
            <a:extLst xmlns:a="http://schemas.openxmlformats.org/drawingml/2006/main">
              <a:ext uri="{FF2B5EF4-FFF2-40B4-BE49-F238E27FC236}">
                <a16:creationId xmlns:a16="http://schemas.microsoft.com/office/drawing/2014/main" id="{F0726D67-2D83-4FDF-BADB-470EBCEE4180}"/>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Мини-трансформация проекта</a:t>
            </a:r>
            <a:endParaRPr sz="1200"/>
          </a:p>
        </p:txBody>
      </p:sp>
      <p:sp>
        <p:nvSpPr>
          <p:cNvPr id="7" name="Shape 5">
            <a:extLst xmlns:a="http://schemas.openxmlformats.org/drawingml/2006/main">
              <a:ext uri="{FF2B5EF4-FFF2-40B4-BE49-F238E27FC236}">
                <a16:creationId xmlns:a16="http://schemas.microsoft.com/office/drawing/2014/main" id="{F6B228E7-B22B-436A-9A8F-E1BBF9274A1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413D1359-DBAD-47FF-83BE-54839F85B177}"/>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2DA7EF75-6AEC-44AB-A9FE-ED2D8984A260}"/>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48</a:t>
            </a:r>
            <a:endParaRPr sz="850"/>
          </a:p>
        </p:txBody>
      </p:sp>
    </p:spTree>
    <p:extLst>
      <p:ext uri="{BB962C8B-B14F-4D97-AF65-F5344CB8AC3E}">
        <p14:creationId xmlns:p14="http://schemas.microsoft.com/office/powerpoint/2010/main" val="101424780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203024-F6CF-4E50-BC27-595D0FABE99C}"/>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0369A1"/>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ПРОВЕРКА</a:t>
            </a:r>
            <a:endParaRPr sz="850"/>
          </a:p>
        </p:txBody>
      </p:sp>
      <p:sp>
        <p:nvSpPr>
          <p:cNvPr id="3" name="Text 1">
            <a:extLst xmlns:a="http://schemas.openxmlformats.org/drawingml/2006/main">
              <a:ext uri="{FF2B5EF4-FFF2-40B4-BE49-F238E27FC236}">
                <a16:creationId xmlns:a16="http://schemas.microsoft.com/office/drawing/2014/main" id="{FFF7109D-23AE-4AA5-A309-A611F98E080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Мини-трансформация проекта</a:t>
            </a:r>
            <a:endParaRPr sz="2300"/>
          </a:p>
        </p:txBody>
      </p:sp>
      <p:sp>
        <p:nvSpPr>
          <p:cNvPr id="4" name="Text 2">
            <a:extLst xmlns:a="http://schemas.openxmlformats.org/drawingml/2006/main">
              <a:ext uri="{FF2B5EF4-FFF2-40B4-BE49-F238E27FC236}">
                <a16:creationId xmlns:a16="http://schemas.microsoft.com/office/drawing/2014/main" id="{BF9C8B52-A7DA-46B9-9385-09ADF7476670}"/>
              </a:ext>
            </a:extLst>
          </p:cNvPr>
          <p:cNvSpPr>
            <a:spLocks xmlns:a="http://schemas.openxmlformats.org/drawingml/2006/main" noGrp="1"/>
          </p:cNvSpPr>
          <p:nvPr/>
        </p:nvSpPr>
        <p:spPr>
          <a:xfrm xmlns:a="http://schemas.openxmlformats.org/drawingml/2006/main">
            <a:off x="777240" y="128016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5" name="Text 3">
            <a:extLst xmlns:a="http://schemas.openxmlformats.org/drawingml/2006/main">
              <a:ext uri="{FF2B5EF4-FFF2-40B4-BE49-F238E27FC236}">
                <a16:creationId xmlns:a16="http://schemas.microsoft.com/office/drawing/2014/main" id="{127DC03C-8027-45CD-AE0A-2BEB8A15E0B1}"/>
              </a:ext>
            </a:extLst>
          </p:cNvPr>
          <p:cNvSpPr>
            <a:spLocks xmlns:a="http://schemas.openxmlformats.org/drawingml/2006/main" noGrp="1"/>
          </p:cNvSpPr>
          <p:nvPr/>
        </p:nvSpPr>
        <p:spPr>
          <a:xfrm xmlns:a="http://schemas.openxmlformats.org/drawingml/2006/main">
            <a:off x="1325880" y="126187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Было: один notebook или script с обучением и предсказанием вместе</a:t>
            </a:r>
            <a:endParaRPr sz="1800"/>
          </a:p>
        </p:txBody>
      </p:sp>
      <p:sp>
        <p:nvSpPr>
          <p:cNvPr id="6" name="Text 4">
            <a:extLst xmlns:a="http://schemas.openxmlformats.org/drawingml/2006/main">
              <a:ext uri="{FF2B5EF4-FFF2-40B4-BE49-F238E27FC236}">
                <a16:creationId xmlns:a16="http://schemas.microsoft.com/office/drawing/2014/main" id="{7AAC508C-4384-4F7D-8CD3-4187A2081FDF}"/>
              </a:ext>
            </a:extLst>
          </p:cNvPr>
          <p:cNvSpPr>
            <a:spLocks xmlns:a="http://schemas.openxmlformats.org/drawingml/2006/main" noGrp="1"/>
          </p:cNvSpPr>
          <p:nvPr/>
        </p:nvSpPr>
        <p:spPr>
          <a:xfrm xmlns:a="http://schemas.openxmlformats.org/drawingml/2006/main">
            <a:off x="777240" y="228600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7" name="Text 5">
            <a:extLst xmlns:a="http://schemas.openxmlformats.org/drawingml/2006/main">
              <a:ext uri="{FF2B5EF4-FFF2-40B4-BE49-F238E27FC236}">
                <a16:creationId xmlns:a16="http://schemas.microsoft.com/office/drawing/2014/main" id="{F4DF3375-F2BA-47E6-B35E-F077C0A19A53}"/>
              </a:ext>
            </a:extLst>
          </p:cNvPr>
          <p:cNvSpPr>
            <a:spLocks xmlns:a="http://schemas.openxmlformats.org/drawingml/2006/main" noGrp="1"/>
          </p:cNvSpPr>
          <p:nvPr/>
        </p:nvSpPr>
        <p:spPr>
          <a:xfrm xmlns:a="http://schemas.openxmlformats.org/drawingml/2006/main">
            <a:off x="1325880" y="226771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Стало: репозиторий с ролями файлов, командами и историей</a:t>
            </a:r>
            <a:endParaRPr sz="1800"/>
          </a:p>
        </p:txBody>
      </p:sp>
      <p:sp>
        <p:nvSpPr>
          <p:cNvPr id="8" name="Text 6">
            <a:extLst xmlns:a="http://schemas.openxmlformats.org/drawingml/2006/main">
              <a:ext uri="{FF2B5EF4-FFF2-40B4-BE49-F238E27FC236}">
                <a16:creationId xmlns:a16="http://schemas.microsoft.com/office/drawing/2014/main" id="{B922AF20-E3F5-4938-9F2D-949F9C9FB18A}"/>
              </a:ext>
            </a:extLst>
          </p:cNvPr>
          <p:cNvSpPr>
            <a:spLocks xmlns:a="http://schemas.openxmlformats.org/drawingml/2006/main" noGrp="1"/>
          </p:cNvSpPr>
          <p:nvPr/>
        </p:nvSpPr>
        <p:spPr>
          <a:xfrm xmlns:a="http://schemas.openxmlformats.org/drawingml/2006/main">
            <a:off x="777240" y="329184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9" name="Text 7">
            <a:extLst xmlns:a="http://schemas.openxmlformats.org/drawingml/2006/main">
              <a:ext uri="{FF2B5EF4-FFF2-40B4-BE49-F238E27FC236}">
                <a16:creationId xmlns:a16="http://schemas.microsoft.com/office/drawing/2014/main" id="{33E91661-1CCB-44BF-9C52-09736684B7AB}"/>
              </a:ext>
            </a:extLst>
          </p:cNvPr>
          <p:cNvSpPr>
            <a:spLocks xmlns:a="http://schemas.openxmlformats.org/drawingml/2006/main" noGrp="1"/>
          </p:cNvSpPr>
          <p:nvPr/>
        </p:nvSpPr>
        <p:spPr>
          <a:xfrm xmlns:a="http://schemas.openxmlformats.org/drawingml/2006/main">
            <a:off x="1325880" y="327355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Следующий шаг курса: завернуть компонент в сервис с API</a:t>
            </a:r>
            <a:endParaRPr sz="1800"/>
          </a:p>
        </p:txBody>
      </p:sp>
      <p:sp>
        <p:nvSpPr>
          <p:cNvPr id="10" name="Text 8">
            <a:extLst xmlns:a="http://schemas.openxmlformats.org/drawingml/2006/main">
              <a:ext uri="{FF2B5EF4-FFF2-40B4-BE49-F238E27FC236}">
                <a16:creationId xmlns:a16="http://schemas.microsoft.com/office/drawing/2014/main" id="{32C84D84-DE4A-4E31-8B22-832F9F6336BD}"/>
              </a:ext>
            </a:extLst>
          </p:cNvPr>
          <p:cNvSpPr>
            <a:spLocks xmlns:a="http://schemas.openxmlformats.org/drawingml/2006/main" noGrp="1"/>
          </p:cNvSpPr>
          <p:nvPr/>
        </p:nvSpPr>
        <p:spPr>
          <a:xfrm xmlns:a="http://schemas.openxmlformats.org/drawingml/2006/main">
            <a:off x="8961120" y="1143000"/>
            <a:ext cx="2331720" cy="274320"/>
          </a:xfrm>
          <a:prstGeom xmlns:a="http://schemas.openxmlformats.org/drawingml/2006/main" prst="rect">
            <a:avLst/>
          </a:prstGeom>
          <a:solidFill xmlns:a="http://schemas.openxmlformats.org/drawingml/2006/main">
            <a:srgbClr val="0369A1"/>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Инженерная проверка</a:t>
            </a:r>
            <a:endParaRPr sz="1100"/>
          </a:p>
        </p:txBody>
      </p:sp>
      <p:sp>
        <p:nvSpPr>
          <p:cNvPr id="11" name="Text 9">
            <a:extLst xmlns:a="http://schemas.openxmlformats.org/drawingml/2006/main">
              <a:ext uri="{FF2B5EF4-FFF2-40B4-BE49-F238E27FC236}">
                <a16:creationId xmlns:a16="http://schemas.microsoft.com/office/drawing/2014/main" id="{C17970C4-C0D9-49CE-9B62-05E1239D39FD}"/>
              </a:ext>
            </a:extLst>
          </p:cNvPr>
          <p:cNvSpPr>
            <a:spLocks xmlns:a="http://schemas.openxmlformats.org/drawingml/2006/main" noGrp="1"/>
          </p:cNvSpPr>
          <p:nvPr/>
        </p:nvSpPr>
        <p:spPr>
          <a:xfrm xmlns:a="http://schemas.openxmlformats.org/drawingml/2006/main">
            <a:off x="8961120" y="1536192"/>
            <a:ext cx="2331720" cy="25603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524" tIns="1524" rIns="1524" bIns="1524" anchor="ctr">
            <a:normAutofit/>
          </a:bodyPr>
          <a:lstStyle xmlns:a="http://schemas.openxmlformats.org/drawingml/2006/main"/>
          <a:p xmlns:a="http://schemas.openxmlformats.org/drawingml/2006/main">
            <a:pPr marL="0" indent="0">
              <a:buNone/>
            </a:pPr>
            <a:r>
              <a:rPr sz="1400">
                <a:solidFill>
                  <a:srgbClr val="111827"/>
                </a:solidFill>
                <a:latin typeface="Arial"/>
                <a:ea typeface="Arial"/>
                <a:cs typeface="Arial"/>
              </a:rPr>
              <a:t>Инженерная трансформация делает ML-код пригодным для дальнейшего развития.</a:t>
            </a:r>
            <a:endParaRPr sz="1400"/>
          </a:p>
        </p:txBody>
      </p:sp>
      <p:sp>
        <p:nvSpPr>
          <p:cNvPr id="12" name="Shape 10">
            <a:extLst xmlns:a="http://schemas.openxmlformats.org/drawingml/2006/main">
              <a:ext uri="{FF2B5EF4-FFF2-40B4-BE49-F238E27FC236}">
                <a16:creationId xmlns:a16="http://schemas.microsoft.com/office/drawing/2014/main" id="{AECE9DD3-2F5A-4526-8116-02985816CAEF}"/>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3" name="Text 11">
            <a:extLst xmlns:a="http://schemas.openxmlformats.org/drawingml/2006/main">
              <a:ext uri="{FF2B5EF4-FFF2-40B4-BE49-F238E27FC236}">
                <a16:creationId xmlns:a16="http://schemas.microsoft.com/office/drawing/2014/main" id="{4ED504ED-D7D6-4B24-A562-9DA017B2B279}"/>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14" name="Text 12">
            <a:extLst xmlns:a="http://schemas.openxmlformats.org/drawingml/2006/main">
              <a:ext uri="{FF2B5EF4-FFF2-40B4-BE49-F238E27FC236}">
                <a16:creationId xmlns:a16="http://schemas.microsoft.com/office/drawing/2014/main" id="{DE9878BE-1C60-45CE-A5D0-9318A8F9CD35}"/>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49</a:t>
            </a:r>
            <a:endParaRPr sz="850"/>
          </a:p>
        </p:txBody>
      </p:sp>
    </p:spTree>
    <p:extLst>
      <p:ext uri="{BB962C8B-B14F-4D97-AF65-F5344CB8AC3E}">
        <p14:creationId xmlns:p14="http://schemas.microsoft.com/office/powerpoint/2010/main" val="116653704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3553E7A-8D3F-4B38-B35B-8FE1F4FE7397}"/>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7C2D12"/>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ПРАКТИКА</a:t>
            </a:r>
            <a:endParaRPr sz="850"/>
          </a:p>
        </p:txBody>
      </p:sp>
      <p:sp>
        <p:nvSpPr>
          <p:cNvPr id="3" name="Text 1">
            <a:extLst xmlns:a="http://schemas.openxmlformats.org/drawingml/2006/main">
              <a:ext uri="{FF2B5EF4-FFF2-40B4-BE49-F238E27FC236}">
                <a16:creationId xmlns:a16="http://schemas.microsoft.com/office/drawing/2014/main" id="{37D2B5FB-9012-449F-B9C5-F7FB9ECBA362}"/>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Практическая работа 1: ожидаемый результат</a:t>
            </a:r>
            <a:endParaRPr sz="2300"/>
          </a:p>
        </p:txBody>
      </p:sp>
      <p:sp>
        <p:nvSpPr>
          <p:cNvPr id="4" name="Text 2">
            <a:extLst xmlns:a="http://schemas.openxmlformats.org/drawingml/2006/main">
              <a:ext uri="{FF2B5EF4-FFF2-40B4-BE49-F238E27FC236}">
                <a16:creationId xmlns:a16="http://schemas.microsoft.com/office/drawing/2014/main" id="{AE812684-687F-4A84-B7D6-85A187151DC4}"/>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Исследовательская заготовка преобразована в структуру программного проекта</a:t>
            </a:r>
            <a:endParaRPr sz="1800"/>
          </a:p>
          <a:p xmlns:a="http://schemas.openxmlformats.org/drawingml/2006/main">
            <a:pPr marL="0" indent="0">
              <a:buNone/>
            </a:pPr>
            <a:r>
              <a:rPr sz="1800">
                <a:solidFill>
                  <a:srgbClr val="111827"/>
                </a:solidFill>
                <a:latin typeface="Arial"/>
                <a:ea typeface="Arial"/>
                <a:cs typeface="Arial"/>
              </a:rPr>
              <a:t>• Проект запускается по README и содержит минимальную проверку</a:t>
            </a:r>
            <a:endParaRPr sz="1800"/>
          </a:p>
          <a:p xmlns:a="http://schemas.openxmlformats.org/drawingml/2006/main">
            <a:pPr marL="0" indent="0">
              <a:buNone/>
            </a:pPr>
            <a:r>
              <a:rPr sz="1800">
                <a:solidFill>
                  <a:srgbClr val="111827"/>
                </a:solidFill>
                <a:latin typeface="Arial"/>
                <a:ea typeface="Arial"/>
                <a:cs typeface="Arial"/>
              </a:rPr>
              <a:t>• История изменений опубликована в репозитории GitVerse</a:t>
            </a:r>
            <a:endParaRPr sz="1800"/>
          </a:p>
        </p:txBody>
      </p:sp>
      <p:sp>
        <p:nvSpPr>
          <p:cNvPr id="5" name="Text 3">
            <a:extLst xmlns:a="http://schemas.openxmlformats.org/drawingml/2006/main">
              <a:ext uri="{FF2B5EF4-FFF2-40B4-BE49-F238E27FC236}">
                <a16:creationId xmlns:a16="http://schemas.microsoft.com/office/drawing/2014/main" id="{D5E787C7-0F8D-45C5-8810-E0A07039ADC4}"/>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Подробный порядок выполнения и команды приведены в методическом пособии.</a:t>
            </a:r>
            <a:endParaRPr sz="1450"/>
          </a:p>
        </p:txBody>
      </p:sp>
      <p:sp>
        <p:nvSpPr>
          <p:cNvPr id="6" name="Text 4">
            <a:extLst xmlns:a="http://schemas.openxmlformats.org/drawingml/2006/main">
              <a:ext uri="{FF2B5EF4-FFF2-40B4-BE49-F238E27FC236}">
                <a16:creationId xmlns:a16="http://schemas.microsoft.com/office/drawing/2014/main" id="{E491C0D1-6738-4A25-AFB8-F3485F5E4328}"/>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Формат сдачи</a:t>
            </a:r>
            <a:endParaRPr sz="1200"/>
          </a:p>
        </p:txBody>
      </p:sp>
      <p:sp>
        <p:nvSpPr>
          <p:cNvPr id="7" name="Shape 5">
            <a:extLst xmlns:a="http://schemas.openxmlformats.org/drawingml/2006/main">
              <a:ext uri="{FF2B5EF4-FFF2-40B4-BE49-F238E27FC236}">
                <a16:creationId xmlns:a16="http://schemas.microsoft.com/office/drawing/2014/main" id="{477B4B51-0310-4C36-B79D-5D93320E21B5}"/>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C8D9CA2C-0301-445D-9BD2-814A7BB55757}"/>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9E3C6BFB-D9E8-4AEE-816B-681D027A9E45}"/>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50</a:t>
            </a:r>
            <a:endParaRPr sz="850"/>
          </a:p>
        </p:txBody>
      </p:sp>
    </p:spTree>
    <p:extLst>
      <p:ext uri="{BB962C8B-B14F-4D97-AF65-F5344CB8AC3E}">
        <p14:creationId xmlns:p14="http://schemas.microsoft.com/office/powerpoint/2010/main" val="205417626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03B56F-461D-4142-8B6D-E4AEF8D0254C}"/>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7C2D12"/>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ПРАКТИКА</a:t>
            </a:r>
            <a:endParaRPr sz="850"/>
          </a:p>
        </p:txBody>
      </p:sp>
      <p:sp>
        <p:nvSpPr>
          <p:cNvPr id="3" name="Text 1">
            <a:extLst xmlns:a="http://schemas.openxmlformats.org/drawingml/2006/main">
              <a:ext uri="{FF2B5EF4-FFF2-40B4-BE49-F238E27FC236}">
                <a16:creationId xmlns:a16="http://schemas.microsoft.com/office/drawing/2014/main" id="{1D7B9AF1-D390-4441-A922-83C3932430E6}"/>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Формат сдачи практической работы</a:t>
            </a:r>
            <a:endParaRPr sz="2300"/>
          </a:p>
        </p:txBody>
      </p:sp>
      <p:sp>
        <p:nvSpPr>
          <p:cNvPr id="4" name="Text 2">
            <a:extLst xmlns:a="http://schemas.openxmlformats.org/drawingml/2006/main">
              <a:ext uri="{FF2B5EF4-FFF2-40B4-BE49-F238E27FC236}">
                <a16:creationId xmlns:a16="http://schemas.microsoft.com/office/drawing/2014/main" id="{AAA9A476-8FA1-4A24-9920-9169F5966DA0}"/>
              </a:ext>
            </a:extLst>
          </p:cNvPr>
          <p:cNvSpPr>
            <a:spLocks xmlns:a="http://schemas.openxmlformats.org/drawingml/2006/main" noGrp="1"/>
          </p:cNvSpPr>
          <p:nvPr/>
        </p:nvSpPr>
        <p:spPr>
          <a:xfrm xmlns:a="http://schemas.openxmlformats.org/drawingml/2006/main">
            <a:off x="685800" y="1143000"/>
            <a:ext cx="6766560" cy="3429000"/>
          </a:xfrm>
          <a:prstGeom xmlns:a="http://schemas.openxmlformats.org/drawingml/2006/main" prst="rect">
            <a:avLst/>
          </a:prstGeom>
          <a:noFill xmlns:a="http://schemas.openxmlformats.org/drawingml/2006/main"/>
        </p:spPr>
        <p:txBody>
          <a:bodyPr xmlns:a="http://schemas.openxmlformats.org/drawingml/2006/main" wrap="square" lIns="635" tIns="635" rIns="635" bIns="635" anchor="t">
            <a:normAutofit/>
          </a:bodyPr>
          <a:lstStyle xmlns:a="http://schemas.openxmlformats.org/drawingml/2006/main"/>
          <a:p xmlns:a="http://schemas.openxmlformats.org/drawingml/2006/main">
            <a:pPr marL="0" indent="0">
              <a:buNone/>
            </a:pPr>
            <a:r>
              <a:rPr sz="1800">
                <a:solidFill>
                  <a:srgbClr val="111827"/>
                </a:solidFill>
                <a:latin typeface="Arial"/>
                <a:ea typeface="Arial"/>
                <a:cs typeface="Arial"/>
              </a:rPr>
              <a:t>• Ссылка на репозиторий GitVerse с актуальной веткой main</a:t>
            </a:r>
            <a:endParaRPr sz="1800"/>
          </a:p>
          <a:p xmlns:a="http://schemas.openxmlformats.org/drawingml/2006/main">
            <a:pPr marL="0" indent="0">
              <a:buNone/>
            </a:pPr>
            <a:r>
              <a:rPr sz="1800">
                <a:solidFill>
                  <a:srgbClr val="111827"/>
                </a:solidFill>
                <a:latin typeface="Arial"/>
                <a:ea typeface="Arial"/>
                <a:cs typeface="Arial"/>
              </a:rPr>
              <a:t>• Исходная безопасная заготовка, файлы проекта и понятная история коммитов</a:t>
            </a:r>
            <a:endParaRPr sz="1800"/>
          </a:p>
          <a:p xmlns:a="http://schemas.openxmlformats.org/drawingml/2006/main">
            <a:pPr marL="0" indent="0">
              <a:buNone/>
            </a:pPr>
            <a:r>
              <a:rPr sz="1800">
                <a:solidFill>
                  <a:srgbClr val="111827"/>
                </a:solidFill>
                <a:latin typeface="Arial"/>
                <a:ea typeface="Arial"/>
                <a:cs typeface="Arial"/>
              </a:rPr>
              <a:t>• Рабочие команды установки, обучения, предсказания и проверки</a:t>
            </a:r>
            <a:endParaRPr sz="1800"/>
          </a:p>
        </p:txBody>
      </p:sp>
      <p:sp>
        <p:nvSpPr>
          <p:cNvPr id="5" name="Text 3">
            <a:extLst xmlns:a="http://schemas.openxmlformats.org/drawingml/2006/main">
              <a:ext uri="{FF2B5EF4-FFF2-40B4-BE49-F238E27FC236}">
                <a16:creationId xmlns:a16="http://schemas.microsoft.com/office/drawing/2014/main" id="{E518AB25-AFD0-4755-A485-CE6F2C642950}"/>
              </a:ext>
            </a:extLst>
          </p:cNvPr>
          <p:cNvSpPr>
            <a:spLocks xmlns:a="http://schemas.openxmlformats.org/drawingml/2006/main" noGrp="1"/>
          </p:cNvSpPr>
          <p:nvPr/>
        </p:nvSpPr>
        <p:spPr>
          <a:xfrm xmlns:a="http://schemas.openxmlformats.org/drawingml/2006/main">
            <a:off x="7726680" y="1143000"/>
            <a:ext cx="3520440" cy="27889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2286" tIns="2286" rIns="2286" bIns="2286" anchor="ctr">
            <a:normAutofit/>
          </a:bodyPr>
          <a:lstStyle xmlns:a="http://schemas.openxmlformats.org/drawingml/2006/main"/>
          <a:p xmlns:a="http://schemas.openxmlformats.org/drawingml/2006/main">
            <a:pPr marL="0" indent="0">
              <a:buNone/>
            </a:pPr>
            <a:r>
              <a:rPr sz="1450">
                <a:solidFill>
                  <a:srgbClr val="111827"/>
                </a:solidFill>
                <a:latin typeface="Arial"/>
                <a:ea typeface="Arial"/>
                <a:cs typeface="Arial"/>
              </a:rPr>
              <a:t>Ключевой акцент</a:t>
            </a:r>
            <a:endParaRPr sz="1450"/>
          </a:p>
          <a:p xmlns:a="http://schemas.openxmlformats.org/drawingml/2006/main">
            <a:pPr marL="0" indent="0">
              <a:buNone/>
            </a:pPr>
            <a:r>
              <a:rPr sz="1450">
                <a:solidFill>
                  <a:srgbClr val="111827"/>
                </a:solidFill>
                <a:latin typeface="Arial"/>
                <a:ea typeface="Arial"/>
                <a:cs typeface="Arial"/>
              </a:rPr>
              <a:t>Проверяющий должен клонировать проект и воспроизвести основной сценарий.</a:t>
            </a:r>
            <a:endParaRPr sz="1450"/>
          </a:p>
        </p:txBody>
      </p:sp>
      <p:sp>
        <p:nvSpPr>
          <p:cNvPr id="6" name="Text 4">
            <a:extLst xmlns:a="http://schemas.openxmlformats.org/drawingml/2006/main">
              <a:ext uri="{FF2B5EF4-FFF2-40B4-BE49-F238E27FC236}">
                <a16:creationId xmlns:a16="http://schemas.microsoft.com/office/drawing/2014/main" id="{6CC07F9E-88B0-4964-BFFD-73C4FB901193}"/>
              </a:ext>
            </a:extLst>
          </p:cNvPr>
          <p:cNvSpPr>
            <a:spLocks xmlns:a="http://schemas.openxmlformats.org/drawingml/2006/main" noGrp="1"/>
          </p:cNvSpPr>
          <p:nvPr/>
        </p:nvSpPr>
        <p:spPr>
          <a:xfrm xmlns:a="http://schemas.openxmlformats.org/drawingml/2006/main">
            <a:off x="685800" y="5074920"/>
            <a:ext cx="10561320" cy="502920"/>
          </a:xfrm>
          <a:prstGeom xmlns:a="http://schemas.openxmlformats.org/drawingml/2006/main" prst="rect">
            <a:avLst/>
          </a:prstGeom>
          <a:solidFill xmlns:a="http://schemas.openxmlformats.org/drawingml/2006/main">
            <a:srgbClr val="FFFFFF"/>
          </a:solidFill>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200" i="1">
                <a:solidFill>
                  <a:srgbClr val="475569"/>
                </a:solidFill>
                <a:latin typeface="Arial"/>
                <a:ea typeface="Arial"/>
                <a:cs typeface="Arial"/>
              </a:rPr>
              <a:t>Переход: Итог лекции</a:t>
            </a:r>
            <a:endParaRPr sz="1200"/>
          </a:p>
        </p:txBody>
      </p:sp>
      <p:sp>
        <p:nvSpPr>
          <p:cNvPr id="7" name="Shape 5">
            <a:extLst xmlns:a="http://schemas.openxmlformats.org/drawingml/2006/main">
              <a:ext uri="{FF2B5EF4-FFF2-40B4-BE49-F238E27FC236}">
                <a16:creationId xmlns:a16="http://schemas.microsoft.com/office/drawing/2014/main" id="{EAA8F77F-790E-4590-B8D9-B688FD7D5C8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8" name="Text 6">
            <a:extLst xmlns:a="http://schemas.openxmlformats.org/drawingml/2006/main">
              <a:ext uri="{FF2B5EF4-FFF2-40B4-BE49-F238E27FC236}">
                <a16:creationId xmlns:a16="http://schemas.microsoft.com/office/drawing/2014/main" id="{9BBF344C-E1F8-404E-A1B7-EE81D4D6C204}"/>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9" name="Text 7">
            <a:extLst xmlns:a="http://schemas.openxmlformats.org/drawingml/2006/main">
              <a:ext uri="{FF2B5EF4-FFF2-40B4-BE49-F238E27FC236}">
                <a16:creationId xmlns:a16="http://schemas.microsoft.com/office/drawing/2014/main" id="{74F46B8E-3FE1-49B2-9BC0-FF33AC49288C}"/>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51</a:t>
            </a:r>
            <a:endParaRPr sz="850"/>
          </a:p>
        </p:txBody>
      </p:sp>
    </p:spTree>
    <p:extLst>
      <p:ext uri="{BB962C8B-B14F-4D97-AF65-F5344CB8AC3E}">
        <p14:creationId xmlns:p14="http://schemas.microsoft.com/office/powerpoint/2010/main" val="34788923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CAEEAF-E864-4BE4-B0F9-C7FB5F8DD591}"/>
              </a:ext>
            </a:extLst>
          </p:cNvPr>
          <p:cNvSpPr>
            <a:spLocks xmlns:a="http://schemas.openxmlformats.org/drawingml/2006/main" noGrp="1"/>
          </p:cNvSpPr>
          <p:nvPr/>
        </p:nvSpPr>
        <p:spPr>
          <a:xfrm xmlns:a="http://schemas.openxmlformats.org/drawingml/2006/main">
            <a:off x="502920" y="164592"/>
            <a:ext cx="2468880" cy="256032"/>
          </a:xfrm>
          <a:prstGeom xmlns:a="http://schemas.openxmlformats.org/drawingml/2006/main" prst="rect">
            <a:avLst/>
          </a:prstGeom>
          <a:solidFill xmlns:a="http://schemas.openxmlformats.org/drawingml/2006/main">
            <a:srgbClr val="1F2937"/>
          </a:solidFill>
        </p:spPr>
        <p:txBody>
          <a:bodyPr xmlns:a="http://schemas.openxmlformats.org/drawingml/2006/main" wrap="square" lIns="635" tIns="635" rIns="635" bIns="635" anchor="ctr">
            <a:normAutofit/>
          </a:bodyPr>
          <a:lstStyle xmlns:a="http://schemas.openxmlformats.org/drawingml/2006/main"/>
          <a:p xmlns:a="http://schemas.openxmlformats.org/drawingml/2006/main">
            <a:pPr marL="0" indent="0" algn="ctr">
              <a:buNone/>
            </a:pPr>
            <a:r>
              <a:rPr sz="850" b="1">
                <a:solidFill>
                  <a:srgbClr val="FFFFFF"/>
                </a:solidFill>
                <a:latin typeface="Arial"/>
                <a:ea typeface="Arial"/>
                <a:cs typeface="Arial"/>
              </a:rPr>
              <a:t>ИТОГ</a:t>
            </a:r>
            <a:endParaRPr sz="850"/>
          </a:p>
        </p:txBody>
      </p:sp>
      <p:sp>
        <p:nvSpPr>
          <p:cNvPr id="3" name="Text 1">
            <a:extLst xmlns:a="http://schemas.openxmlformats.org/drawingml/2006/main">
              <a:ext uri="{FF2B5EF4-FFF2-40B4-BE49-F238E27FC236}">
                <a16:creationId xmlns:a16="http://schemas.microsoft.com/office/drawing/2014/main" id="{C06A1AE3-041A-433A-B9CC-6E9AB6EA4CA9}"/>
              </a:ext>
            </a:extLst>
          </p:cNvPr>
          <p:cNvSpPr>
            <a:spLocks xmlns:a="http://schemas.openxmlformats.org/drawingml/2006/main" noGrp="1"/>
          </p:cNvSpPr>
          <p:nvPr/>
        </p:nvSpPr>
        <p:spPr>
          <a:xfrm xmlns:a="http://schemas.openxmlformats.org/drawingml/2006/main">
            <a:off x="502920" y="502920"/>
            <a:ext cx="11201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300" b="1">
                <a:solidFill>
                  <a:srgbClr val="111827"/>
                </a:solidFill>
                <a:latin typeface="Arial"/>
                <a:ea typeface="Arial"/>
                <a:cs typeface="Arial"/>
              </a:rPr>
              <a:t>Итог лекции</a:t>
            </a:r>
            <a:endParaRPr sz="2300"/>
          </a:p>
        </p:txBody>
      </p:sp>
      <p:sp>
        <p:nvSpPr>
          <p:cNvPr id="4" name="Text 2">
            <a:extLst xmlns:a="http://schemas.openxmlformats.org/drawingml/2006/main">
              <a:ext uri="{FF2B5EF4-FFF2-40B4-BE49-F238E27FC236}">
                <a16:creationId xmlns:a16="http://schemas.microsoft.com/office/drawing/2014/main" id="{99BD1DBD-3903-44F1-AE5A-8081FF8F7A8C}"/>
              </a:ext>
            </a:extLst>
          </p:cNvPr>
          <p:cNvSpPr>
            <a:spLocks xmlns:a="http://schemas.openxmlformats.org/drawingml/2006/main" noGrp="1"/>
          </p:cNvSpPr>
          <p:nvPr/>
        </p:nvSpPr>
        <p:spPr>
          <a:xfrm xmlns:a="http://schemas.openxmlformats.org/drawingml/2006/main">
            <a:off x="777240" y="128016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5" name="Text 3">
            <a:extLst xmlns:a="http://schemas.openxmlformats.org/drawingml/2006/main">
              <a:ext uri="{FF2B5EF4-FFF2-40B4-BE49-F238E27FC236}">
                <a16:creationId xmlns:a16="http://schemas.microsoft.com/office/drawing/2014/main" id="{8C15703D-158A-4B7D-A927-C3E22F2E6E04}"/>
              </a:ext>
            </a:extLst>
          </p:cNvPr>
          <p:cNvSpPr>
            <a:spLocks xmlns:a="http://schemas.openxmlformats.org/drawingml/2006/main" noGrp="1"/>
          </p:cNvSpPr>
          <p:nvPr/>
        </p:nvSpPr>
        <p:spPr>
          <a:xfrm xmlns:a="http://schemas.openxmlformats.org/drawingml/2006/main">
            <a:off x="1325880" y="126187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9074" lnSpcReduction="10000"/>
          </a:bodyPr>
          <a:lstStyle xmlns:a="http://schemas.openxmlformats.org/drawingml/2006/main"/>
          <a:p xmlns:a="http://schemas.openxmlformats.org/drawingml/2006/main">
            <a:pPr marL="0" indent="0">
              <a:buNone/>
            </a:pPr>
            <a:r>
              <a:rPr sz="1800">
                <a:solidFill>
                  <a:srgbClr val="111827"/>
                </a:solidFill>
                <a:latin typeface="Arial"/>
                <a:ea typeface="Arial"/>
                <a:cs typeface="Arial"/>
              </a:rPr>
              <a:t>Входные материалы преобразуются через явные контракты и проверку поведения</a:t>
            </a:r>
            <a:endParaRPr sz="1800"/>
          </a:p>
        </p:txBody>
      </p:sp>
      <p:sp>
        <p:nvSpPr>
          <p:cNvPr id="6" name="Text 4">
            <a:extLst xmlns:a="http://schemas.openxmlformats.org/drawingml/2006/main">
              <a:ext uri="{FF2B5EF4-FFF2-40B4-BE49-F238E27FC236}">
                <a16:creationId xmlns:a16="http://schemas.microsoft.com/office/drawing/2014/main" id="{B97A1463-135D-42F0-A4AB-365CE089BE7C}"/>
              </a:ext>
            </a:extLst>
          </p:cNvPr>
          <p:cNvSpPr>
            <a:spLocks xmlns:a="http://schemas.openxmlformats.org/drawingml/2006/main" noGrp="1"/>
          </p:cNvSpPr>
          <p:nvPr/>
        </p:nvSpPr>
        <p:spPr>
          <a:xfrm xmlns:a="http://schemas.openxmlformats.org/drawingml/2006/main">
            <a:off x="777240" y="228600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7" name="Text 5">
            <a:extLst xmlns:a="http://schemas.openxmlformats.org/drawingml/2006/main">
              <a:ext uri="{FF2B5EF4-FFF2-40B4-BE49-F238E27FC236}">
                <a16:creationId xmlns:a16="http://schemas.microsoft.com/office/drawing/2014/main" id="{48308A3A-8EED-4BED-AC9F-8241ADCCCDC0}"/>
              </a:ext>
            </a:extLst>
          </p:cNvPr>
          <p:cNvSpPr>
            <a:spLocks xmlns:a="http://schemas.openxmlformats.org/drawingml/2006/main" noGrp="1"/>
          </p:cNvSpPr>
          <p:nvPr/>
        </p:nvSpPr>
        <p:spPr>
          <a:xfrm xmlns:a="http://schemas.openxmlformats.org/drawingml/2006/main">
            <a:off x="1325880" y="226771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8015" lnSpcReduction="10000"/>
          </a:bodyPr>
          <a:lstStyle xmlns:a="http://schemas.openxmlformats.org/drawingml/2006/main"/>
          <a:p xmlns:a="http://schemas.openxmlformats.org/drawingml/2006/main">
            <a:pPr marL="0" indent="0">
              <a:buNone/>
            </a:pPr>
            <a:r>
              <a:rPr sz="1800">
                <a:solidFill>
                  <a:srgbClr val="111827"/>
                </a:solidFill>
                <a:latin typeface="Arial"/>
                <a:ea typeface="Arial"/>
                <a:cs typeface="Arial"/>
              </a:rPr>
              <a:t>Исходный файл и поддерживаемые файлы src выполняют разные роли</a:t>
            </a:r>
            <a:endParaRPr sz="1800"/>
          </a:p>
        </p:txBody>
      </p:sp>
      <p:sp>
        <p:nvSpPr>
          <p:cNvPr id="8" name="Text 6">
            <a:extLst xmlns:a="http://schemas.openxmlformats.org/drawingml/2006/main">
              <a:ext uri="{FF2B5EF4-FFF2-40B4-BE49-F238E27FC236}">
                <a16:creationId xmlns:a16="http://schemas.microsoft.com/office/drawing/2014/main" id="{8083C2BE-0CDD-42E6-A730-7C83472DA91C}"/>
              </a:ext>
            </a:extLst>
          </p:cNvPr>
          <p:cNvSpPr>
            <a:spLocks xmlns:a="http://schemas.openxmlformats.org/drawingml/2006/main" noGrp="1"/>
          </p:cNvSpPr>
          <p:nvPr/>
        </p:nvSpPr>
        <p:spPr>
          <a:xfrm xmlns:a="http://schemas.openxmlformats.org/drawingml/2006/main">
            <a:off x="777240" y="329184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47857"/>
                </a:solidFill>
                <a:latin typeface="Arial"/>
                <a:ea typeface="Arial"/>
                <a:cs typeface="Arial"/>
              </a:rPr>
              <a:t>✓</a:t>
            </a:r>
            <a:endParaRPr sz="2200"/>
          </a:p>
        </p:txBody>
      </p:sp>
      <p:sp>
        <p:nvSpPr>
          <p:cNvPr id="9" name="Text 7">
            <a:extLst xmlns:a="http://schemas.openxmlformats.org/drawingml/2006/main">
              <a:ext uri="{FF2B5EF4-FFF2-40B4-BE49-F238E27FC236}">
                <a16:creationId xmlns:a16="http://schemas.microsoft.com/office/drawing/2014/main" id="{49484EBE-D35A-4472-BC1D-4A7A3A895C4D}"/>
              </a:ext>
            </a:extLst>
          </p:cNvPr>
          <p:cNvSpPr>
            <a:spLocks xmlns:a="http://schemas.openxmlformats.org/drawingml/2006/main" noGrp="1"/>
          </p:cNvSpPr>
          <p:nvPr/>
        </p:nvSpPr>
        <p:spPr>
          <a:xfrm xmlns:a="http://schemas.openxmlformats.org/drawingml/2006/main">
            <a:off x="1325880" y="3273552"/>
            <a:ext cx="749808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9074" lnSpcReduction="10000"/>
          </a:bodyPr>
          <a:lstStyle xmlns:a="http://schemas.openxmlformats.org/drawingml/2006/main"/>
          <a:p xmlns:a="http://schemas.openxmlformats.org/drawingml/2006/main">
            <a:pPr marL="0" indent="0">
              <a:buNone/>
            </a:pPr>
            <a:r>
              <a:rPr sz="1800">
                <a:solidFill>
                  <a:srgbClr val="111827"/>
                </a:solidFill>
                <a:latin typeface="Arial"/>
                <a:ea typeface="Arial"/>
                <a:cs typeface="Arial"/>
              </a:rPr>
              <a:t>Новая версия входного скрипта интегрируется вместе с тестами и документацией</a:t>
            </a:r>
            <a:endParaRPr sz="1800"/>
          </a:p>
        </p:txBody>
      </p:sp>
      <p:sp>
        <p:nvSpPr>
          <p:cNvPr id="10" name="Text 8">
            <a:extLst xmlns:a="http://schemas.openxmlformats.org/drawingml/2006/main">
              <a:ext uri="{FF2B5EF4-FFF2-40B4-BE49-F238E27FC236}">
                <a16:creationId xmlns:a16="http://schemas.microsoft.com/office/drawing/2014/main" id="{FBD00CAE-3F0C-4CDF-9F69-4ACCBBA0AE2C}"/>
              </a:ext>
            </a:extLst>
          </p:cNvPr>
          <p:cNvSpPr>
            <a:spLocks xmlns:a="http://schemas.openxmlformats.org/drawingml/2006/main" noGrp="1"/>
          </p:cNvSpPr>
          <p:nvPr/>
        </p:nvSpPr>
        <p:spPr>
          <a:xfrm xmlns:a="http://schemas.openxmlformats.org/drawingml/2006/main">
            <a:off x="8961120" y="1143000"/>
            <a:ext cx="2331720" cy="274320"/>
          </a:xfrm>
          <a:prstGeom xmlns:a="http://schemas.openxmlformats.org/drawingml/2006/main" prst="rect">
            <a:avLst/>
          </a:prstGeom>
          <a:solidFill xmlns:a="http://schemas.openxmlformats.org/drawingml/2006/main">
            <a:srgbClr val="1F2937"/>
          </a:solidFill>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Инженерная проверка</a:t>
            </a:r>
            <a:endParaRPr sz="1100"/>
          </a:p>
        </p:txBody>
      </p:sp>
      <p:sp>
        <p:nvSpPr>
          <p:cNvPr id="11" name="Text 9">
            <a:extLst xmlns:a="http://schemas.openxmlformats.org/drawingml/2006/main">
              <a:ext uri="{FF2B5EF4-FFF2-40B4-BE49-F238E27FC236}">
                <a16:creationId xmlns:a16="http://schemas.microsoft.com/office/drawing/2014/main" id="{429E0B35-8530-45EF-8ECB-F1B1FFE9A230}"/>
              </a:ext>
            </a:extLst>
          </p:cNvPr>
          <p:cNvSpPr>
            <a:spLocks xmlns:a="http://schemas.openxmlformats.org/drawingml/2006/main" noGrp="1"/>
          </p:cNvSpPr>
          <p:nvPr/>
        </p:nvSpPr>
        <p:spPr>
          <a:xfrm xmlns:a="http://schemas.openxmlformats.org/drawingml/2006/main">
            <a:off x="8961120" y="1536192"/>
            <a:ext cx="2331720" cy="2560320"/>
          </a:xfrm>
          <a:prstGeom xmlns:a="http://schemas.openxmlformats.org/drawingml/2006/main" prst="rect">
            <a:avLst/>
          </a:prstGeom>
          <a:solidFill xmlns:a="http://schemas.openxmlformats.org/drawingml/2006/main">
            <a:srgbClr val="F8FAFC"/>
          </a:solidFill>
          <a:ln xmlns:a="http://schemas.openxmlformats.org/drawingml/2006/main" w="12700">
            <a:solidFill>
              <a:srgbClr val="CBD5E1"/>
            </a:solidFill>
          </a:ln>
        </p:spPr>
        <p:txBody>
          <a:bodyPr xmlns:a="http://schemas.openxmlformats.org/drawingml/2006/main" wrap="square" lIns="1524" tIns="1524" rIns="1524" bIns="1524" anchor="ctr">
            <a:normAutofit/>
          </a:bodyPr>
          <a:lstStyle xmlns:a="http://schemas.openxmlformats.org/drawingml/2006/main"/>
          <a:p xmlns:a="http://schemas.openxmlformats.org/drawingml/2006/main">
            <a:pPr marL="0" indent="0">
              <a:buNone/>
            </a:pPr>
            <a:r>
              <a:rPr sz="1400">
                <a:solidFill>
                  <a:srgbClr val="111827"/>
                </a:solidFill>
                <a:latin typeface="Arial"/>
                <a:ea typeface="Arial"/>
                <a:cs typeface="Arial"/>
              </a:rPr>
              <a:t>Подробный сценарий практической работы вынесен в методическое пособие</a:t>
            </a:r>
            <a:endParaRPr sz="1400"/>
          </a:p>
        </p:txBody>
      </p:sp>
      <p:sp>
        <p:nvSpPr>
          <p:cNvPr id="12" name="Shape 10">
            <a:extLst xmlns:a="http://schemas.openxmlformats.org/drawingml/2006/main">
              <a:ext uri="{FF2B5EF4-FFF2-40B4-BE49-F238E27FC236}">
                <a16:creationId xmlns:a16="http://schemas.microsoft.com/office/drawing/2014/main" id="{8B820B8A-7C55-444F-BCC0-4F8BE36E4AB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3" name="Text 11">
            <a:extLst xmlns:a="http://schemas.openxmlformats.org/drawingml/2006/main">
              <a:ext uri="{FF2B5EF4-FFF2-40B4-BE49-F238E27FC236}">
                <a16:creationId xmlns:a16="http://schemas.microsoft.com/office/drawing/2014/main" id="{ABE88C53-3655-4746-9A8E-AE082C79A155}"/>
              </a:ext>
            </a:extLst>
          </p:cNvPr>
          <p:cNvSpPr>
            <a:spLocks xmlns:a="http://schemas.openxmlformats.org/drawingml/2006/main" noGrp="1"/>
          </p:cNvSpPr>
          <p:nvPr/>
        </p:nvSpPr>
        <p:spPr>
          <a:xfrm xmlns:a="http://schemas.openxmlformats.org/drawingml/2006/main">
            <a:off x="502920" y="651967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475569"/>
                </a:solidFill>
                <a:latin typeface="Arial"/>
                <a:ea typeface="Arial"/>
                <a:cs typeface="Arial"/>
              </a:rPr>
              <a:t>Разработка и интеграция • Лекция 1</a:t>
            </a:r>
            <a:endParaRPr sz="750"/>
          </a:p>
        </p:txBody>
      </p:sp>
      <p:sp>
        <p:nvSpPr>
          <p:cNvPr id="14" name="Text 12">
            <a:extLst xmlns:a="http://schemas.openxmlformats.org/drawingml/2006/main">
              <a:ext uri="{FF2B5EF4-FFF2-40B4-BE49-F238E27FC236}">
                <a16:creationId xmlns:a16="http://schemas.microsoft.com/office/drawing/2014/main" id="{DB2B51E9-974F-4D13-BA8E-9B6A99FE2839}"/>
              </a:ext>
            </a:extLst>
          </p:cNvPr>
          <p:cNvSpPr>
            <a:spLocks xmlns:a="http://schemas.openxmlformats.org/drawingml/2006/main" noGrp="1"/>
          </p:cNvSpPr>
          <p:nvPr/>
        </p:nvSpPr>
        <p:spPr>
          <a:xfrm xmlns:a="http://schemas.openxmlformats.org/drawingml/2006/main">
            <a:off x="11109960" y="6501384"/>
            <a:ext cx="6400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475569"/>
                </a:solidFill>
                <a:latin typeface="Arial"/>
                <a:ea typeface="Arial"/>
                <a:cs typeface="Arial"/>
              </a:rPr>
              <a:t>52</a:t>
            </a:r>
            <a:endParaRPr sz="850"/>
          </a:p>
        </p:txBody>
      </p:sp>
    </p:spTree>
    <p:extLst>
      <p:ext uri="{BB962C8B-B14F-4D97-AF65-F5344CB8AC3E}">
        <p14:creationId xmlns:p14="http://schemas.microsoft.com/office/powerpoint/2010/main" val="7666392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2026-09-04T11:05:16.4860000Z</dcterms:created>
  <dcterms:modified xsi:type="dcterms:W3CDTF">2026-09-04T11:05:16.4860000Z</dcterms:modified>
</coreProperties>
</file>