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31d3c56b9e4d2c" /><Relationship Type="http://schemas.openxmlformats.org/officeDocument/2006/relationships/extended-properties" Target="/docProps/app.xml" Id="R64c6fd91f75247b6" /><Relationship Type="http://schemas.openxmlformats.org/officeDocument/2006/relationships/officeDocument" Target="/ppt/presentation.xml" Id="Rdf6c4b9a43f74e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db67b9616d4b3c"/>
  </p:sldMasterIdLst>
  <p:notesMasterIdLst>
    <p:notesMasterId xmlns:r="http://schemas.openxmlformats.org/officeDocument/2006/relationships" r:id="R6220bbe33bb649fe"/>
  </p:notesMasterIdLst>
  <p:sldIdLst>
    <p:sldId xmlns:r="http://schemas.openxmlformats.org/officeDocument/2006/relationships" id="256" r:id="Rb9b86b6645d842ef"/>
    <p:sldId xmlns:r="http://schemas.openxmlformats.org/officeDocument/2006/relationships" id="257" r:id="Ra329ba67d2b64694"/>
    <p:sldId xmlns:r="http://schemas.openxmlformats.org/officeDocument/2006/relationships" id="258" r:id="R3bc69344c9c04587"/>
    <p:sldId xmlns:r="http://schemas.openxmlformats.org/officeDocument/2006/relationships" id="259" r:id="Rdf34c85e66644e4f"/>
    <p:sldId xmlns:r="http://schemas.openxmlformats.org/officeDocument/2006/relationships" id="260" r:id="R8cae4dbac9fc4972"/>
    <p:sldId xmlns:r="http://schemas.openxmlformats.org/officeDocument/2006/relationships" id="261" r:id="Rd61b1311551741eb"/>
    <p:sldId xmlns:r="http://schemas.openxmlformats.org/officeDocument/2006/relationships" id="262" r:id="Rbec9df6315bb4b6f"/>
    <p:sldId xmlns:r="http://schemas.openxmlformats.org/officeDocument/2006/relationships" id="263" r:id="R5713f4b9067d437f"/>
    <p:sldId xmlns:r="http://schemas.openxmlformats.org/officeDocument/2006/relationships" id="264" r:id="R3ab78e2e365f4e85"/>
    <p:sldId xmlns:r="http://schemas.openxmlformats.org/officeDocument/2006/relationships" id="265" r:id="R0cea0b8758c64482"/>
    <p:sldId xmlns:r="http://schemas.openxmlformats.org/officeDocument/2006/relationships" id="266" r:id="R394e15e986004771"/>
    <p:sldId xmlns:r="http://schemas.openxmlformats.org/officeDocument/2006/relationships" id="267" r:id="R3faffb6e624444c0"/>
    <p:sldId xmlns:r="http://schemas.openxmlformats.org/officeDocument/2006/relationships" id="268" r:id="Ree9ea6a555a84d8e"/>
    <p:sldId xmlns:r="http://schemas.openxmlformats.org/officeDocument/2006/relationships" id="269" r:id="Rfed70c5b54d94add"/>
    <p:sldId xmlns:r="http://schemas.openxmlformats.org/officeDocument/2006/relationships" id="270" r:id="Ree4af91be9d34c9f"/>
    <p:sldId xmlns:r="http://schemas.openxmlformats.org/officeDocument/2006/relationships" id="271" r:id="Re4d6124e318c4a55"/>
    <p:sldId xmlns:r="http://schemas.openxmlformats.org/officeDocument/2006/relationships" id="272" r:id="Red429251a81d4f04"/>
    <p:sldId xmlns:r="http://schemas.openxmlformats.org/officeDocument/2006/relationships" id="273" r:id="Rbf9e008fa3a7462c"/>
    <p:sldId xmlns:r="http://schemas.openxmlformats.org/officeDocument/2006/relationships" id="274" r:id="Rc89beee0df00422f"/>
    <p:sldId xmlns:r="http://schemas.openxmlformats.org/officeDocument/2006/relationships" id="275" r:id="Rf883e465c7564a9e"/>
    <p:sldId xmlns:r="http://schemas.openxmlformats.org/officeDocument/2006/relationships" id="276" r:id="R2a4762815e16476c"/>
    <p:sldId xmlns:r="http://schemas.openxmlformats.org/officeDocument/2006/relationships" id="277" r:id="R4a93fe2a5bab4d92"/>
    <p:sldId xmlns:r="http://schemas.openxmlformats.org/officeDocument/2006/relationships" id="278" r:id="Rf3bbb0ffd72c4297"/>
    <p:sldId xmlns:r="http://schemas.openxmlformats.org/officeDocument/2006/relationships" id="279" r:id="R858be1c6c370493e"/>
    <p:sldId xmlns:r="http://schemas.openxmlformats.org/officeDocument/2006/relationships" id="280" r:id="Rd98581e294bc4438"/>
    <p:sldId xmlns:r="http://schemas.openxmlformats.org/officeDocument/2006/relationships" id="281" r:id="R555bbb48f98a402b"/>
    <p:sldId xmlns:r="http://schemas.openxmlformats.org/officeDocument/2006/relationships" id="282" r:id="Rd688111146ab493f"/>
    <p:sldId xmlns:r="http://schemas.openxmlformats.org/officeDocument/2006/relationships" id="283" r:id="Rd74c7b8cbb2145e7"/>
    <p:sldId xmlns:r="http://schemas.openxmlformats.org/officeDocument/2006/relationships" id="284" r:id="R4702132cc59d4c09"/>
    <p:sldId xmlns:r="http://schemas.openxmlformats.org/officeDocument/2006/relationships" id="285" r:id="Re833e7a67cdb445a"/>
    <p:sldId xmlns:r="http://schemas.openxmlformats.org/officeDocument/2006/relationships" id="286" r:id="R0f1fd72047cf460a"/>
    <p:sldId xmlns:r="http://schemas.openxmlformats.org/officeDocument/2006/relationships" id="287" r:id="R9851b83fb52b4fd3"/>
    <p:sldId xmlns:r="http://schemas.openxmlformats.org/officeDocument/2006/relationships" id="288" r:id="Rb2c5c3b744314a9b"/>
    <p:sldId xmlns:r="http://schemas.openxmlformats.org/officeDocument/2006/relationships" id="289" r:id="R23d7a056534b435c"/>
    <p:sldId xmlns:r="http://schemas.openxmlformats.org/officeDocument/2006/relationships" id="290" r:id="Rcca32f626e1246c6"/>
    <p:sldId xmlns:r="http://schemas.openxmlformats.org/officeDocument/2006/relationships" id="291" r:id="Rd892429770304828"/>
    <p:sldId xmlns:r="http://schemas.openxmlformats.org/officeDocument/2006/relationships" id="292" r:id="R0dc1cb80b9f340c0"/>
    <p:sldId xmlns:r="http://schemas.openxmlformats.org/officeDocument/2006/relationships" id="293" r:id="R94db3777fbcb4e45"/>
    <p:sldId xmlns:r="http://schemas.openxmlformats.org/officeDocument/2006/relationships" id="294" r:id="R79a3b0ec46a84d63"/>
    <p:sldId xmlns:r="http://schemas.openxmlformats.org/officeDocument/2006/relationships" id="295" r:id="Rb34d0eaee0d24207"/>
    <p:sldId xmlns:r="http://schemas.openxmlformats.org/officeDocument/2006/relationships" id="296" r:id="R063cb1052c0f4784"/>
    <p:sldId xmlns:r="http://schemas.openxmlformats.org/officeDocument/2006/relationships" id="297" r:id="Rad0063f8e4024d75"/>
    <p:sldId xmlns:r="http://schemas.openxmlformats.org/officeDocument/2006/relationships" id="298" r:id="R85e8b6cdd9de4ed8"/>
    <p:sldId xmlns:r="http://schemas.openxmlformats.org/officeDocument/2006/relationships" id="299" r:id="R54daca6875914c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51ffedcf9a4856" /><Relationship Type="http://schemas.openxmlformats.org/officeDocument/2006/relationships/slideMaster" Target="/ppt/slideMasters/slideMaster1.xml" Id="R4ddb67b9616d4b3c" /><Relationship Type="http://schemas.openxmlformats.org/officeDocument/2006/relationships/notesMaster" Target="/ppt/notesMasters/notesMaster1.xml" Id="R6220bbe33bb649fe" /><Relationship Type="http://schemas.openxmlformats.org/officeDocument/2006/relationships/presProps" Target="/ppt/presProps.xml" Id="Rde82608a74054147" /><Relationship Type="http://schemas.openxmlformats.org/officeDocument/2006/relationships/viewProps" Target="/ppt/viewProps.xml" Id="R62c12ecf082842de" /><Relationship Type="http://schemas.openxmlformats.org/officeDocument/2006/relationships/tableStyles" Target="/ppt/tableStyles.xml" Id="R095bdc81f1114bfe" /><Relationship Type="http://schemas.openxmlformats.org/officeDocument/2006/relationships/slide" Target="/ppt/slides/slide1.xml" Id="Rb9b86b6645d842ef" /><Relationship Type="http://schemas.openxmlformats.org/officeDocument/2006/relationships/slide" Target="/ppt/slides/slide2.xml" Id="Ra329ba67d2b64694" /><Relationship Type="http://schemas.openxmlformats.org/officeDocument/2006/relationships/slide" Target="/ppt/slides/slide3.xml" Id="R3bc69344c9c04587" /><Relationship Type="http://schemas.openxmlformats.org/officeDocument/2006/relationships/slide" Target="/ppt/slides/slide4.xml" Id="Rdf34c85e66644e4f" /><Relationship Type="http://schemas.openxmlformats.org/officeDocument/2006/relationships/slide" Target="/ppt/slides/slide5.xml" Id="R8cae4dbac9fc4972" /><Relationship Type="http://schemas.openxmlformats.org/officeDocument/2006/relationships/slide" Target="/ppt/slides/slide6.xml" Id="Rd61b1311551741eb" /><Relationship Type="http://schemas.openxmlformats.org/officeDocument/2006/relationships/slide" Target="/ppt/slides/slide7.xml" Id="Rbec9df6315bb4b6f" /><Relationship Type="http://schemas.openxmlformats.org/officeDocument/2006/relationships/slide" Target="/ppt/slides/slide8.xml" Id="R5713f4b9067d437f" /><Relationship Type="http://schemas.openxmlformats.org/officeDocument/2006/relationships/slide" Target="/ppt/slides/slide9.xml" Id="R3ab78e2e365f4e85" /><Relationship Type="http://schemas.openxmlformats.org/officeDocument/2006/relationships/slide" Target="/ppt/slides/slide10.xml" Id="R0cea0b8758c64482" /><Relationship Type="http://schemas.openxmlformats.org/officeDocument/2006/relationships/slide" Target="/ppt/slides/slide11.xml" Id="R394e15e986004771" /><Relationship Type="http://schemas.openxmlformats.org/officeDocument/2006/relationships/slide" Target="/ppt/slides/slide12.xml" Id="R3faffb6e624444c0" /><Relationship Type="http://schemas.openxmlformats.org/officeDocument/2006/relationships/slide" Target="/ppt/slides/slide13.xml" Id="Ree9ea6a555a84d8e" /><Relationship Type="http://schemas.openxmlformats.org/officeDocument/2006/relationships/slide" Target="/ppt/slides/slide14.xml" Id="Rfed70c5b54d94add" /><Relationship Type="http://schemas.openxmlformats.org/officeDocument/2006/relationships/slide" Target="/ppt/slides/slide15.xml" Id="Ree4af91be9d34c9f" /><Relationship Type="http://schemas.openxmlformats.org/officeDocument/2006/relationships/slide" Target="/ppt/slides/slide16.xml" Id="Re4d6124e318c4a55" /><Relationship Type="http://schemas.openxmlformats.org/officeDocument/2006/relationships/slide" Target="/ppt/slides/slide17.xml" Id="Red429251a81d4f04" /><Relationship Type="http://schemas.openxmlformats.org/officeDocument/2006/relationships/slide" Target="/ppt/slides/slide18.xml" Id="Rbf9e008fa3a7462c" /><Relationship Type="http://schemas.openxmlformats.org/officeDocument/2006/relationships/slide" Target="/ppt/slides/slide19.xml" Id="Rc89beee0df00422f" /><Relationship Type="http://schemas.openxmlformats.org/officeDocument/2006/relationships/slide" Target="/ppt/slides/slide20.xml" Id="Rf883e465c7564a9e" /><Relationship Type="http://schemas.openxmlformats.org/officeDocument/2006/relationships/slide" Target="/ppt/slides/slide21.xml" Id="R2a4762815e16476c" /><Relationship Type="http://schemas.openxmlformats.org/officeDocument/2006/relationships/slide" Target="/ppt/slides/slide22.xml" Id="R4a93fe2a5bab4d92" /><Relationship Type="http://schemas.openxmlformats.org/officeDocument/2006/relationships/slide" Target="/ppt/slides/slide23.xml" Id="Rf3bbb0ffd72c4297" /><Relationship Type="http://schemas.openxmlformats.org/officeDocument/2006/relationships/slide" Target="/ppt/slides/slide24.xml" Id="R858be1c6c370493e" /><Relationship Type="http://schemas.openxmlformats.org/officeDocument/2006/relationships/slide" Target="/ppt/slides/slide25.xml" Id="Rd98581e294bc4438" /><Relationship Type="http://schemas.openxmlformats.org/officeDocument/2006/relationships/slide" Target="/ppt/slides/slide26.xml" Id="R555bbb48f98a402b" /><Relationship Type="http://schemas.openxmlformats.org/officeDocument/2006/relationships/slide" Target="/ppt/slides/slide27.xml" Id="Rd688111146ab493f" /><Relationship Type="http://schemas.openxmlformats.org/officeDocument/2006/relationships/slide" Target="/ppt/slides/slide28.xml" Id="Rd74c7b8cbb2145e7" /><Relationship Type="http://schemas.openxmlformats.org/officeDocument/2006/relationships/slide" Target="/ppt/slides/slide29.xml" Id="R4702132cc59d4c09" /><Relationship Type="http://schemas.openxmlformats.org/officeDocument/2006/relationships/slide" Target="/ppt/slides/slide30.xml" Id="Re833e7a67cdb445a" /><Relationship Type="http://schemas.openxmlformats.org/officeDocument/2006/relationships/slide" Target="/ppt/slides/slide31.xml" Id="R0f1fd72047cf460a" /><Relationship Type="http://schemas.openxmlformats.org/officeDocument/2006/relationships/slide" Target="/ppt/slides/slide32.xml" Id="R9851b83fb52b4fd3" /><Relationship Type="http://schemas.openxmlformats.org/officeDocument/2006/relationships/slide" Target="/ppt/slides/slide33.xml" Id="Rb2c5c3b744314a9b" /><Relationship Type="http://schemas.openxmlformats.org/officeDocument/2006/relationships/slide" Target="/ppt/slides/slide34.xml" Id="R23d7a056534b435c" /><Relationship Type="http://schemas.openxmlformats.org/officeDocument/2006/relationships/slide" Target="/ppt/slides/slide35.xml" Id="Rcca32f626e1246c6" /><Relationship Type="http://schemas.openxmlformats.org/officeDocument/2006/relationships/slide" Target="/ppt/slides/slide36.xml" Id="Rd892429770304828" /><Relationship Type="http://schemas.openxmlformats.org/officeDocument/2006/relationships/slide" Target="/ppt/slides/slide37.xml" Id="R0dc1cb80b9f340c0" /><Relationship Type="http://schemas.openxmlformats.org/officeDocument/2006/relationships/slide" Target="/ppt/slides/slide38.xml" Id="R94db3777fbcb4e45" /><Relationship Type="http://schemas.openxmlformats.org/officeDocument/2006/relationships/slide" Target="/ppt/slides/slide39.xml" Id="R79a3b0ec46a84d63" /><Relationship Type="http://schemas.openxmlformats.org/officeDocument/2006/relationships/slide" Target="/ppt/slides/slide40.xml" Id="Rb34d0eaee0d24207" /><Relationship Type="http://schemas.openxmlformats.org/officeDocument/2006/relationships/slide" Target="/ppt/slides/slide41.xml" Id="R063cb1052c0f4784" /><Relationship Type="http://schemas.openxmlformats.org/officeDocument/2006/relationships/slide" Target="/ppt/slides/slide42.xml" Id="Rad0063f8e4024d75" /><Relationship Type="http://schemas.openxmlformats.org/officeDocument/2006/relationships/slide" Target="/ppt/slides/slide43.xml" Id="R85e8b6cdd9de4ed8" /><Relationship Type="http://schemas.openxmlformats.org/officeDocument/2006/relationships/slide" Target="/ppt/slides/slide44.xml" Id="R54daca6875914c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259abcf46747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93707f1cd94ed3" /><Relationship Type="http://schemas.openxmlformats.org/officeDocument/2006/relationships/notesMaster" Target="/ppt/notesMasters/notesMaster1.xml" Id="R83dfd20d528b45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5281134e6e4ca6" /><Relationship Type="http://schemas.openxmlformats.org/officeDocument/2006/relationships/notesMaster" Target="/ppt/notesMasters/notesMaster1.xml" Id="Ra40d9672de214c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a6048c5320429f" /><Relationship Type="http://schemas.openxmlformats.org/officeDocument/2006/relationships/notesMaster" Target="/ppt/notesMasters/notesMaster1.xml" Id="R63539ae8fcee40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79c2bc27504771" /><Relationship Type="http://schemas.openxmlformats.org/officeDocument/2006/relationships/notesMaster" Target="/ppt/notesMasters/notesMaster1.xml" Id="Rb8b32c2bce2640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30891187f0429f" /><Relationship Type="http://schemas.openxmlformats.org/officeDocument/2006/relationships/notesMaster" Target="/ppt/notesMasters/notesMaster1.xml" Id="Rec1dc0f5bbf24b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5614eae04b4972" /><Relationship Type="http://schemas.openxmlformats.org/officeDocument/2006/relationships/notesMaster" Target="/ppt/notesMasters/notesMaster1.xml" Id="Rc19a7abf430649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846a8433634d86" /><Relationship Type="http://schemas.openxmlformats.org/officeDocument/2006/relationships/notesMaster" Target="/ppt/notesMasters/notesMaster1.xml" Id="R5ce74ea2bd7d4a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78fc8a554d411e" /><Relationship Type="http://schemas.openxmlformats.org/officeDocument/2006/relationships/notesMaster" Target="/ppt/notesMasters/notesMaster1.xml" Id="Rab4b13fad96f4b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32c3aae300432c" /><Relationship Type="http://schemas.openxmlformats.org/officeDocument/2006/relationships/notesMaster" Target="/ppt/notesMasters/notesMaster1.xml" Id="R3c91373ae8624c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92c96dba1b7436a" /><Relationship Type="http://schemas.openxmlformats.org/officeDocument/2006/relationships/notesMaster" Target="/ppt/notesMasters/notesMaster1.xml" Id="R8dcc01e4026744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fbb3bbc73e40fd" /><Relationship Type="http://schemas.openxmlformats.org/officeDocument/2006/relationships/notesMaster" Target="/ppt/notesMasters/notesMaster1.xml" Id="Rd3625211007243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5a89ee56954b14" /><Relationship Type="http://schemas.openxmlformats.org/officeDocument/2006/relationships/notesMaster" Target="/ppt/notesMasters/notesMaster1.xml" Id="R927c49d24c4e4e7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2c445e628144264" /><Relationship Type="http://schemas.openxmlformats.org/officeDocument/2006/relationships/notesMaster" Target="/ppt/notesMasters/notesMaster1.xml" Id="Ra8d7a79dec8f425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08fbcd52db43f6" /><Relationship Type="http://schemas.openxmlformats.org/officeDocument/2006/relationships/notesMaster" Target="/ppt/notesMasters/notesMaster1.xml" Id="R4aa8faf7312541a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a02d802c16c4950" /><Relationship Type="http://schemas.openxmlformats.org/officeDocument/2006/relationships/notesMaster" Target="/ppt/notesMasters/notesMaster1.xml" Id="Ra677c1b395ed42d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d40d89ee86742dc" /><Relationship Type="http://schemas.openxmlformats.org/officeDocument/2006/relationships/notesMaster" Target="/ppt/notesMasters/notesMaster1.xml" Id="Ra4ca3a04f110422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bba383b1a894bd6" /><Relationship Type="http://schemas.openxmlformats.org/officeDocument/2006/relationships/notesMaster" Target="/ppt/notesMasters/notesMaster1.xml" Id="Rc22a321c82c048c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0f25508b83e4173" /><Relationship Type="http://schemas.openxmlformats.org/officeDocument/2006/relationships/notesMaster" Target="/ppt/notesMasters/notesMaster1.xml" Id="Rc9a2ad045623428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093d42eb621461c" /><Relationship Type="http://schemas.openxmlformats.org/officeDocument/2006/relationships/notesMaster" Target="/ppt/notesMasters/notesMaster1.xml" Id="Rf2c0b978e26e494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e36d87c17f14423" /><Relationship Type="http://schemas.openxmlformats.org/officeDocument/2006/relationships/notesMaster" Target="/ppt/notesMasters/notesMaster1.xml" Id="R30648d112f9c432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b2c2970e18f4dad" /><Relationship Type="http://schemas.openxmlformats.org/officeDocument/2006/relationships/notesMaster" Target="/ppt/notesMasters/notesMaster1.xml" Id="R6d5d480dab404c9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1f36bd0b1e04a23" /><Relationship Type="http://schemas.openxmlformats.org/officeDocument/2006/relationships/notesMaster" Target="/ppt/notesMasters/notesMaster1.xml" Id="Reaa2eb776400463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d4691889af64811" /><Relationship Type="http://schemas.openxmlformats.org/officeDocument/2006/relationships/notesMaster" Target="/ppt/notesMasters/notesMaster1.xml" Id="Rd83b28228b1942a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4469fc5b8a74eb5" /><Relationship Type="http://schemas.openxmlformats.org/officeDocument/2006/relationships/notesMaster" Target="/ppt/notesMasters/notesMaster1.xml" Id="R7b91a6c4ae554b8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628143e97f34fdc" /><Relationship Type="http://schemas.openxmlformats.org/officeDocument/2006/relationships/notesMaster" Target="/ppt/notesMasters/notesMaster1.xml" Id="R91dd5bb9db7941f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f3cdfc66b4a4f95" /><Relationship Type="http://schemas.openxmlformats.org/officeDocument/2006/relationships/notesMaster" Target="/ppt/notesMasters/notesMaster1.xml" Id="R86f6a8f7b7e743a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235a98d56e0423d" /><Relationship Type="http://schemas.openxmlformats.org/officeDocument/2006/relationships/notesMaster" Target="/ppt/notesMasters/notesMaster1.xml" Id="R72023711ff4c4e2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b36fa60c2254228" /><Relationship Type="http://schemas.openxmlformats.org/officeDocument/2006/relationships/notesMaster" Target="/ppt/notesMasters/notesMaster1.xml" Id="Rdfef3255da0e410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d311704b5ee474f" /><Relationship Type="http://schemas.openxmlformats.org/officeDocument/2006/relationships/notesMaster" Target="/ppt/notesMasters/notesMaster1.xml" Id="R953fe2d051f64fd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1a905aec2654af4" /><Relationship Type="http://schemas.openxmlformats.org/officeDocument/2006/relationships/notesMaster" Target="/ppt/notesMasters/notesMaster1.xml" Id="R26d3afcb64fb446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9fc080a66ea4bdd" /><Relationship Type="http://schemas.openxmlformats.org/officeDocument/2006/relationships/notesMaster" Target="/ppt/notesMasters/notesMaster1.xml" Id="Rf2542a3b0ca449e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fe53792836443ff" /><Relationship Type="http://schemas.openxmlformats.org/officeDocument/2006/relationships/notesMaster" Target="/ppt/notesMasters/notesMaster1.xml" Id="Rc7eb39833ea6401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f1f295615d14096" /><Relationship Type="http://schemas.openxmlformats.org/officeDocument/2006/relationships/notesMaster" Target="/ppt/notesMasters/notesMaster1.xml" Id="Rbe67f5c9df8f48e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33d77abb5a74134" /><Relationship Type="http://schemas.openxmlformats.org/officeDocument/2006/relationships/notesMaster" Target="/ppt/notesMasters/notesMaster1.xml" Id="R34e486d3bdd94df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36147716b61427a" /><Relationship Type="http://schemas.openxmlformats.org/officeDocument/2006/relationships/notesMaster" Target="/ppt/notesMasters/notesMaster1.xml" Id="R6e1a50e749de483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13ff71715d04866" /><Relationship Type="http://schemas.openxmlformats.org/officeDocument/2006/relationships/notesMaster" Target="/ppt/notesMasters/notesMaster1.xml" Id="Rdd0ced39a4c9452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b8a1839a5be42d0" /><Relationship Type="http://schemas.openxmlformats.org/officeDocument/2006/relationships/notesMaster" Target="/ppt/notesMasters/notesMaster1.xml" Id="R20c7b91765d042f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dac44884d3d4502" /><Relationship Type="http://schemas.openxmlformats.org/officeDocument/2006/relationships/notesMaster" Target="/ppt/notesMasters/notesMaster1.xml" Id="R18cb85c30e46485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f20f325c302426f" /><Relationship Type="http://schemas.openxmlformats.org/officeDocument/2006/relationships/notesMaster" Target="/ppt/notesMasters/notesMaster1.xml" Id="Rbf2b5d0215474f4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1af5805b1054d61" /><Relationship Type="http://schemas.openxmlformats.org/officeDocument/2006/relationships/notesMaster" Target="/ppt/notesMasters/notesMaster1.xml" Id="R016ea30c9d9d464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1dcbc9faaf44df6" /><Relationship Type="http://schemas.openxmlformats.org/officeDocument/2006/relationships/notesMaster" Target="/ppt/notesMasters/notesMaster1.xml" Id="Rb8b5bb3b9caf4a3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48b606feadd4220" /><Relationship Type="http://schemas.openxmlformats.org/officeDocument/2006/relationships/notesMaster" Target="/ppt/notesMasters/notesMaster1.xml" Id="Rab510ba0ba1b4cb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27fb220be4644dc" /><Relationship Type="http://schemas.openxmlformats.org/officeDocument/2006/relationships/notesMaster" Target="/ppt/notesMasters/notesMaster1.xml" Id="R52c3bf6aaaa6407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b8b9de60d2b4a64" /><Relationship Type="http://schemas.openxmlformats.org/officeDocument/2006/relationships/notesMaster" Target="/ppt/notesMasters/notesMaster1.xml" Id="Red6ebd3ed0764c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1 мин. Лекция следует согласованному файлу Лекция_3/План.md. За 90 минут рассматриваем задачу, выбор Docker, устройство и установку, сборку и управление контейнерами, Compose, итоги. Готовую модель не обучаем. Сквозной пример: API /predict и клиент.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2 мин. Напомнить готовый FastAPI-сервис, модель, зависимости и тесты. Задача занятия: другой участник воспроизводит запуск сервиса и клиента. Проблема не ограничивается Python-пакетами: важны системная среда, файлы и настройки.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2 мин. venv разделяет Python-пакеты, но не фиксирует системные библиотеки. Скрипт уменьшает ручную работу, но должен учитывать конкретную ОС. Виртуальная машина включает гостевую ОС. Контейнерный образ хранит среду приложения и использует ядро хоста.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https://docs.python.org/3/library/venv.html</a:t>
            </a:r>
          </a:p>
          <a:p xmlns:a="http://schemas.openxmlformats.org/drawingml/2006/main">
            <a:r>
              <a:t>Источник: https://docs.docker.com/get-started/docker-concepts/the-basics/what-is-an-image/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2 мин. Критерии следуют из сквозной задачи, а не из общего рейтинга инструментов. Виртуальная машина тоже даёт повторяемую среду, но для двух небольших компонентов она избыточна. Podman совместим со многими OCI-сценариями, однако в курсе нужен один согласованный набор команд и Compose.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https://docs.docker.com/get-started/docker-overview/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3 мин. Проговорить пункты по порядку. Docker Engine требуется для запуска. На Windows обычно используют Docker Desktop с Linux-контейнерами. Podman остаётся возможной альтернативой для OCI-образов, но его команды и Compose-совместимость не являются предметом этой лекции.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https://docs.docker.com/get-started/get-docker/</a:t>
            </a:r>
          </a:p>
          <a:p xmlns:a="http://schemas.openxmlformats.org/drawingml/2006/main">
            <a:r>
              <a:t>Источник: https://docs.docker.com/get-started/docker-overview/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2 мин. Сначала дать определение Docker, затем перечислить составные части. Docker Desktop включает удобную локальную среду, но не является обязательным на Linux-сервере. Compose использует Docker API через Engine.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https://docs.docker.com/get-started/docker-overview/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1 мин. Registry хранит образы, volume хранит данные приложения. Это разные хранилища. Контейнер может быть остановлен, но продолжать существовать. Подробно файлы и сеть разбираем в блоке Compose.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https://docs.docker.com/engine/storage/</a:t>
            </a:r>
          </a:p>
          <a:p xmlns:a="http://schemas.openxmlformats.org/drawingml/2006/main">
            <a:r>
              <a:t>Источник: https://docs.docker.com/compose/how-tos/networking/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1 мин. Слева команда пользователя, в центре служба, справа её объекты. Registry хранит образы и не участвует в каждом HTTP-запросе к API. Сборку выполняет сборщик BuildKit, связанный с инструментами Docker. containerd и низкоуровневый runtime выполняют запуск под управлением Engine.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https://docs.docker.com/get-started/docker-overview/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3 мин. Внешний клиент обращается через опубликованный порт. Соседний контейнер использует общую сеть и имя сервиса. Bind mount или volume открывает общий путь для файлов. CLI и Compose управляют контейнером через Docker API. stdout и stderr передают журнал приложению Docker.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https://docs.docker.com/engine/network/</a:t>
            </a:r>
          </a:p>
          <a:p xmlns:a="http://schemas.openxmlformats.org/drawingml/2006/main">
            <a:r>
              <a:t>Источник: https://docs.docker.com/engine/storage/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2 мин. Docker Desktop и Docker Engine являются разными вариантами установки. На Windows включить аппаратную виртуализацию и подготовить WSL по требованиям текущего установщика. На Linux не копировать команды для чужого дистрибутива. Права на Docker Engine даются согласно правилам рабочего места. Лекция не предполагает удалённый незащищённый Docker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https://docs.docker.com/get-started/get-docker/</a:t>
            </a:r>
          </a:p>
          <a:p xmlns:a="http://schemas.openxmlformats.org/drawingml/2006/main">
            <a:r>
              <a:t>Источник: https://docs.docker.com/desktop/setup/install/windows-install/</a:t>
            </a:r>
          </a:p>
          <a:p xmlns:a="http://schemas.openxmlformats.org/drawingml/2006/main">
            <a:r>
              <a:t>Источник: https://docs.docker.com/engine/install/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1 мин. Команды вводят в терминале. hello-world скачивает образ при его отсутствии и завершает контейнер, --rm удаляет контейнер после выхода. Образ остаётся локально. Для первого скачивания нужен доступ к registry. Стандартных настроек Engine достаточно, daemon.json в этом примере не редактируем.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https://docs.docker.com/engine/install/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3 мин. Слева команды Docker: состояние, журнал, ресурсы и конфигурация контейнера. Справа curl.exe выполняет GET /health и POST /predict. В PowerShell используем curl.exe, чтобы не зависеть от псевдонима curl. /health возвращает 200 после загрузки модели. JSON для /predict должен соответствовать контракту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https://docs.docker.com/reference/cli/docker/container/stats/</a:t>
            </a:r>
          </a:p>
          <a:p xmlns:a="http://schemas.openxmlformats.org/drawingml/2006/main">
            <a:r>
              <a:t>Источник: https://curl.se/docs/manpage.html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1 мин. requirements.lock в примере содержит pip-совместимый список точных версий. Модель остаётся готовой. .gitignore не заменяет .dockerignore. Не копировать лишнее командой COPY . . без контроля контекста.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https://docs.docker.com/build/concepts/context/</a:t>
            </a:r>
          </a:p>
          <a:p xmlns:a="http://schemas.openxmlformats.org/drawingml/2006/main">
            <a:r>
              <a:t>Источник: https://docs.docker.com/build/concepts/dockerfile/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2 мин. Тег может изменять содержимое при публикации обновления. Для конкретного выпуска записывают проверенный digest. Slim не гарантирует наличие компиляторов. Использование Alpine может потребовать другой сборки бинарных пакетов из-за отличий системной библиотеки. В лекции используем slim при наличии совместимых зависимостей.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https://hub.docker.com/_/python</a:t>
            </a:r>
          </a:p>
          <a:p xmlns:a="http://schemas.openxmlformats.org/drawingml/2006/main">
            <a:r>
              <a:t>Источник: https://docs.docker.com/build/building/best-practices/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3 мин. Начало единого Dockerfile, продолжение на следующем слайде. Тег 3.12-slim служит учебным примером и может обновляться. Для зафиксированного выпуска записывают проверенный digest. --no-cache-dir отключает кеш pip, но не кеш слоёв Docker. Базовый образ python:3.12-slim уже содержит Python и минимальную пользовательскую среду Linux. requirements.lock перечисляет дополнительные Python-библиотеки приложения. Docker Hub является каталогом публичных образов, но не охватывает все частные и внешние registry. Полный список инструкций Dockerfile и описание синтаксиса доступны по ссылке на слайде. Перечислены основные инструкции для чтения учебных примеров.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https://docs.docker.com/build/concepts/dockerfile/</a:t>
            </a:r>
          </a:p>
          <a:p xmlns:a="http://schemas.openxmlformats.org/drawingml/2006/main">
            <a:r>
              <a:t>Источник: https://docs.docker.com/build/building/best-practices/</a:t>
            </a:r>
          </a:p>
          <a:p xmlns:a="http://schemas.openxmlformats.org/drawingml/2006/main">
            <a:r>
              <a:t>Источник: https://hub.docker.com/search?type=image</a:t>
            </a:r>
          </a:p>
          <a:p xmlns:a="http://schemas.openxmlformats.org/drawingml/2006/main">
            <a:r>
              <a:t>Источник: https://hub.docker.com/_/python</a:t>
            </a:r>
          </a:p>
          <a:p xmlns:a="http://schemas.openxmlformats.org/drawingml/2006/main">
            <a:r>
              <a:t>Источник: https://docs.docker.com/reference/dockerfile/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1 мин. FROM обычно открывает стадию сборки. WORKDIR /srv создаёт каталог внутри файловой системы образа при необходимости. Последующие RUN, COPY с относительным назначением, CMD и ENTRYPOINT используют этот рабочий каталог. Каталог проекта на хосте определяет команда docker build, а не WORKDIR.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https://docs.docker.com/reference/dockerfile/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1 мин. ARG доступен со строки объявления в текущей стадии. ENV сохраняется в конфигурации образа и может быть переопределён при запуске. Не помещать токены и пароли в Dockerfile. PIP_INDEX_URL здесь только иллюстрирует параметр, а не обязательную настройку проекта.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https://docs.docker.com/reference/dockerfile/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1 мин. EXPOSE сам не создаёт сетевой маршрут и не запускает процесс прослушивания. Приложение должно слушать 0.0.0.0:8000 внутри контейнера. Доступ с хоста появляется после docker run -p или настройки ports в Compose. Exec-форма CMD передаёт сигналы главному процессу без промежуточной оболочки.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https://docs.docker.com/reference/dockerfile/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3 мин. Команда docker build . передаёт каталог проекта как контекст сборки. Поэтому источник app/ означает &lt;проект&gt;/app/ на хосте. Назначение ./app/ считается от WORKDIR /srv и превращается в /srv/app/ внутри образа. При запуске контейнер получает эти файлы из образа.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https://docs.docker.com/reference/dockerfile/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1 мин. Кеш зависит от инструкции и входов соответствующего шага. Изменение раннего шага требует пересчёта зависимых последующих шагов. COPY всего проекта до pip install лишает нас полезного повторного использования слоя при каждом изменении кода.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https://docs.docker.com/build/building/best-practices/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2 мин. Один Dockerfile с плавающими зависимостями не гарантирует одинаковую повторную сборку. Нужны доступность артефактов и контролируемые входы. Фиксация версии не отменяет планового обновления. В лекции 4 соберём образ в CI и проверим его до поставки.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https://docs.docker.com/build/building/best-practices/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1 мин. pull и push относятся к образам. Пересборка с тем же тегом меняет то, на что указывает тег, но не обновляет уже созданные контейнеры. image rm может лишь снять тег, если содержимое доступно под другим именем. Публикацию в registry рассмотрим вместе с CI, здесь не требуется выполнять push.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https://docs.docker.com/build/concepts/dockerfile/</a:t>
            </a:r>
          </a:p>
          <a:p xmlns:a="http://schemas.openxmlformats.org/drawingml/2006/main">
            <a:r>
              <a:t>Источник: https://docs.docker.com/reference/cli/docker/container/run/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2 мин. Контейнер останавливается при завершении главного процесса. --rm автоматически удаляет контейнер после остановки, поэтому он не подходит для последующего docker start. Volumes и файлы bind mount имеют отдельный жизненный цикл.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https://docs.docker.com/reference/cli/docker/container/run/</a:t>
            </a:r>
          </a:p>
          <a:p xmlns:a="http://schemas.openxmlformats.org/drawingml/2006/main">
            <a:r>
              <a:t>Источник: https://docs.docker.com/engine/storage/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3 мин. Образ iris-api:lecture3 собран из Dockerfile. -d запускает в фоне, --name задаёт имя контейнера, -p публикует порт на loopback хоста, -e передаёт MODEL_VERSION. API слушает 0.0.0.0:8000 внутри контейнера. В PowerShell выполнить docker run одной строкой, для curl использовать curl.exe. Имя и порт должны быть свободны. Ответ /health 200 ожидается после успешной загрузки модели.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https://docs.docker.com/reference/cli/docker/container/run/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2 мин. sh есть в выбранном Debian-based Python slim, но не обязана присутствовать в любом образе. Доступные команды выполняются с правами заданного пользователя. exec не является SSH-подключением и не требует SSH-сервера. Для остановленного контейнера сначала нужен start. Ручная установка пакетов внутри не переносится автоматически в новый образ: исправления фиксируем в Dockerfile.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https://docs.docker.com/reference/cli/docker/container/exec/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2 мин. Запись без mount попадает в собственный слой контейнера и удаляется вместе с ним. Bind mount связывает конкретный каталог хоста с путём контейнера. Именованный volume хранит Docker и сохраняет независимо от контейнера. Выбор зависит от того, кто должен видеть и обслуживать данные.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https://docs.docker.com/engine/storage/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2 мин. Compose не является форматом образа. Это средство управления приложением из сервисов. build указывает путь сборки, image задаёт имя образа. Compose полезен даже для одного сервиса, если нужно сохранить параметры запуска.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https://docs.docker.com/compose/intro/compose-application-model/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2 мин. networks и volumes встречаются на верхнем уровне и внутри сервиса: сверху определения, внутри подключения. Bind mount не требует верхнеуровневого определения volume. .env подставляет значения в Compose, environment передаёт значения процессу. В современном Compose верхнеуровневый version не нужен.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https://docs.docker.com/compose/intro/compose-application-model/</a:t>
            </a:r>
          </a:p>
          <a:p xmlns:a="http://schemas.openxmlformats.org/drawingml/2006/main">
            <a:r>
              <a:t>Источник: https://docs.docker.com/compose/how-tos/environment-variables/variable-interpolation/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4 мин. Показать структуру сверху вниз. Ключ version в современном Compose не требуется. build задаёт контекст сборки. image у api фиксирует удобное имя результата. client без image тоже будет собран: Compose присвоит образу имя на основе проекта и сервиса.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https://docs.docker.com/compose/intro/compose-application-model/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1 мин. Модель находится в образе по MODEL_PATH из Dockerfile. MODEL_VERSION может переопределяться при запуске. image даёт имя собираемому образу. Явную сеть appnet показываем для обучения; без объявления Compose также создаёт сеть по умолчанию.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https://docs.docker.com/compose/how-tos/networking/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2 мин. build и image можно указывать вместе. Тогда Compose собирает образ из build и присваивает ему имя image. Если оставить только image, Compose использует готовый локальный образ или скачивает его. ports не нужен для связи client с api внутри общей сети, но нужен для запросов с хоста.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https://docs.docker.com/compose/compose-file/build/</a:t>
            </a:r>
          </a:p>
          <a:p xmlns:a="http://schemas.openxmlformats.org/drawingml/2006/main">
            <a:r>
              <a:t>Источник: https://docs.docker.com/compose/compose-file/05-services/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2 мин. Клиент читает API_URL, отправляет четыре признака Iris, проверяет HTTP-код и поля ответа, печатает результат. Примеры на двух слайдах образуют один compose.yaml. На этом этапе ещё не гарантируем готовность API перед клиентом; зависимости добавляем в следующем фрагменте. Оба сервиса подключены к одной сети.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https://docs.docker.com/compose/how-tos/networking/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2 мин. Путь build вычисляется относительно каталога compose.yaml. При нестандартном имени используют build.dockerfile. Отсутствие image не отменяет сборку. Для публикации в registry явное имя image обычно добавляют.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https://docs.docker.com/compose/compose-file/build/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3 мин. Имя сервиса стабильно внутри сети проекта. localhost внутри client относится к самому client, поэтому API_URL содержит http://api:8000. Пользовательское имя сети name обычно не задают в учебном проекте, чтобы избежать конфликтов между копиями проекта.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https://docs.docker.com/compose/how-tos/networking/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2 мин. В схеме порт хоста 8000 направлен на порт 8000 API. Оба контейнера входят в общую сеть Compose. localhost всегда указывает на текущую сетевую среду: для клиента это сам клиент. 0.0.0.0 является адресом прослушивания, а не адресом назначения запроса. Следующий слайд поясняет схему.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https://docs.docker.com/compose/how-tos/networking/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2 мин. Это дополнение к существующему client, не второй ключ client в YAML. Скрипт должен явно записать проверенный ответ в /results/prediction.json; Docker не сохраняет ответ за приложение. На Linux UID/GID и права каталога должны разрешать запись. Каталог results создают рядом с compose.yaml. Для показа чтения можно подключить тот же каталог к другому сервису с :ro, но наш API в этом не нуждается. При нескольких писателях приложение согласует доступ к файлам. Именованный volume отличается тем, что место хранения выбирает Docker.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https://docs.docker.com/engine/storage/bind-mounts/</a:t>
            </a:r>
          </a:p>
          <a:p xmlns:a="http://schemas.openxmlformats.org/drawingml/2006/main">
            <a:r>
              <a:t>Источник: https://docs.docker.com/engine/storage/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2 мин. Bind mount не копирует файл при запуске, а связывает два пути. Клиент записывает prediction.json после успешного ответа API. После docker compose down каталог хоста и файл остаются. Подключение :ro подходит сервису, которому нужно только чтение.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https://docs.docker.com/engine/storage/bind-mounts/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2 мин. Простой depends_on определяет порядок старта, а service_healthy ожидает healthcheck. Проверка запуска не исключает последующих сбоев. Клиенту нужны тайм-аут и понятная обработка недоступности. Повторы POST разрешены только с учётом контракта. unhealthy сам по себе не перезапускает процесс.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https://docs.docker.com/compose/how-tos/startup-order/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3 мин. healthcheck выполняется внутри контейнера api, поэтому localhost здесь корректен. Для запроса используется Python из образа. Интервал и время прогрева являются учебными значениями и уточняются по модели. start_period позволяет не считать ранние неудачи в лимит retries. GET /health должен быть реализован в приложении. Не дублировать ключи api и client в YAML, а объединить поля.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https://docs.docker.com/compose/how-tos/startup-order/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2 мин. После старта API Compose выполняет healthcheck с заданным интервалом. Неуспешные проверки повторяются. После ответа /health с кодом 200 состояние становится healthy, и Compose создаёт клиент. Последующий сбой API не перезапускает завершившийся клиент автоматически.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https://docs.docker.com/compose/how-tos/startup-order/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5 мин, включая демонстрацию. Перед лекцией подготовить client/Dockerfile и скрипт. Выполнить config и up, проверить /health на 127.0.0.1:8080, logs client и результат. Заменить API_URL на http://localhost:8000, запустить docker compose run --rm client и обсудить ошибку. Вернуть http://api:8000 и повторить. При включённом сохранении проверить ./results/prediction.json после down: bind mount остаётся на хосте. down удаляет контейнеры и сеть проекта.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https://docs.docker.com/reference/cli/docker/compose/down/</a:t>
            </a:r>
          </a:p>
          <a:p xmlns:a="http://schemas.openxmlformats.org/drawingml/2006/main">
            <a:r>
              <a:t>Источник: https://docs.docker.com/reference/cli/docker/compose/run/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2 мин. Если контейнер завершился, сначала смотреть код выхода и логи. Если API не готов, проверить /health внутри или с хоста. Если клиент не видит API, проверить API_URL и общую сеть. Если нет файла, проверить код записи, mount и права каталога. Не менять несколько настроек одновременно.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>Источник: https://docs.docker.com/reference/cli/docker/compose/ps/</a:t>
            </a:r>
          </a:p>
          <a:p xmlns:a="http://schemas.openxmlformats.org/drawingml/2006/main">
            <a:r>
              <a:t>Источник: https://docs.docker.com/reference/cli/docker/compose/logs/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2 мин. Собрать пройденные понятия вокруг исходной задачи передачи API другому участнику. Не вводить новые инструменты в итогах.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2 мин. Ответы: образ; run создаёт новый контейнер, start запускает существующий; exec требует работающий контейнер и доступную программу; процесс может ещё загружать модель. localhost принадлежит текущему контейнеру. Данные в volume и bind mount сохраняются, собственный слой удаляется с контейнером. Dockerfile описывает сборку образа, Compose описывает сервисы и их запуск. Дополнительный вопрос: зачем модель и версии библиотек фиксировать вместе?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структуры: Лекция_3/План.md в редакции пользователя. Сквозной пример: Лекция_2.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4a82e1479d451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01a5b1bfeb4f9c" /><Relationship Type="http://schemas.openxmlformats.org/officeDocument/2006/relationships/slideLayout" Target="/ppt/slideLayouts/slideLayout1.xml" Id="Ra22904d788294dd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2904d788294dd3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f335154c8480e" /><Relationship Type="http://schemas.openxmlformats.org/officeDocument/2006/relationships/image" Target="/ppt/media/image.png" Id="R0d68db7a67c645a3" /><Relationship Type="http://schemas.openxmlformats.org/officeDocument/2006/relationships/image" Target="/ppt/media/image2.png" Id="Raa05b3813e2a4e69" /><Relationship Type="http://schemas.openxmlformats.org/officeDocument/2006/relationships/notesSlide" Target="/ppt/notesSlides/notesSlide1.xml" Id="Rcbaa39f374ee4a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d44e144c54c88" /><Relationship Type="http://schemas.openxmlformats.org/officeDocument/2006/relationships/notesSlide" Target="/ppt/notesSlides/notesSlide2.xml" Id="Rbc5dab88811141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ce9dee0fb4b32" /><Relationship Type="http://schemas.openxmlformats.org/officeDocument/2006/relationships/notesSlide" Target="/ppt/notesSlides/notesSlide3.xml" Id="Rabbda36a066c49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ee0ee907a4f96" /><Relationship Type="http://schemas.openxmlformats.org/officeDocument/2006/relationships/notesSlide" Target="/ppt/notesSlides/notesSlide4.xml" Id="R55dd4661864347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a9174554945ba" /><Relationship Type="http://schemas.openxmlformats.org/officeDocument/2006/relationships/notesSlide" Target="/ppt/notesSlides/notesSlide5.xml" Id="Rfe7cd2d272f248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de94f7ba24611" /><Relationship Type="http://schemas.openxmlformats.org/officeDocument/2006/relationships/notesSlide" Target="/ppt/notesSlides/notesSlide6.xml" Id="Radcea12d995c49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2f548549e40a6" /><Relationship Type="http://schemas.openxmlformats.org/officeDocument/2006/relationships/notesSlide" Target="/ppt/notesSlides/notesSlide7.xml" Id="R53eba415476844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6c20fe67c4160" /><Relationship Type="http://schemas.openxmlformats.org/officeDocument/2006/relationships/notesSlide" Target="/ppt/notesSlides/notesSlide8.xml" Id="Rc53c9f80f84b46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f50a31a81481a" /><Relationship Type="http://schemas.openxmlformats.org/officeDocument/2006/relationships/notesSlide" Target="/ppt/notesSlides/notesSlide9.xml" Id="R197e6211d62349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2937ecd044487" /><Relationship Type="http://schemas.openxmlformats.org/officeDocument/2006/relationships/notesSlide" Target="/ppt/notesSlides/notesSlide10.xml" Id="R8065c642742a4f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c3286977d4d46" /><Relationship Type="http://schemas.openxmlformats.org/officeDocument/2006/relationships/notesSlide" Target="/ppt/notesSlides/notesSlide11.xml" Id="Rd89ba6810c2d4d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4266316ef4760" /><Relationship Type="http://schemas.openxmlformats.org/officeDocument/2006/relationships/notesSlide" Target="/ppt/notesSlides/notesSlide12.xml" Id="R1c921c3f40ec4ff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af32821af4488" /><Relationship Type="http://schemas.openxmlformats.org/officeDocument/2006/relationships/notesSlide" Target="/ppt/notesSlides/notesSlide13.xml" Id="R242a786b66b843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01334383047d5" /><Relationship Type="http://schemas.openxmlformats.org/officeDocument/2006/relationships/notesSlide" Target="/ppt/notesSlides/notesSlide14.xml" Id="R9824a95e025949c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cc5b3e6d24b21" /><Relationship Type="http://schemas.openxmlformats.org/officeDocument/2006/relationships/notesSlide" Target="/ppt/notesSlides/notesSlide15.xml" Id="R9b73c266a8f444a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1fe24041d4349" /><Relationship Type="http://schemas.openxmlformats.org/officeDocument/2006/relationships/notesSlide" Target="/ppt/notesSlides/notesSlide16.xml" Id="Rb146d72b612345e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2e6c28510474b" /><Relationship Type="http://schemas.openxmlformats.org/officeDocument/2006/relationships/notesSlide" Target="/ppt/notesSlides/notesSlide17.xml" Id="Rd52fe6b0802548b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c99a7173940c9" /><Relationship Type="http://schemas.openxmlformats.org/officeDocument/2006/relationships/notesSlide" Target="/ppt/notesSlides/notesSlide18.xml" Id="R7eb07f87515341c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9b8e1bee74420" /><Relationship Type="http://schemas.openxmlformats.org/officeDocument/2006/relationships/notesSlide" Target="/ppt/notesSlides/notesSlide19.xml" Id="R67e7b351738747d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664495be4406e" /><Relationship Type="http://schemas.openxmlformats.org/officeDocument/2006/relationships/notesSlide" Target="/ppt/notesSlides/notesSlide20.xml" Id="R00deaa025e704a6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a8f36c0f24ea5" /><Relationship Type="http://schemas.openxmlformats.org/officeDocument/2006/relationships/notesSlide" Target="/ppt/notesSlides/notesSlide21.xml" Id="R6e8f7bfafcf948e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254002f904cb4" /><Relationship Type="http://schemas.openxmlformats.org/officeDocument/2006/relationships/notesSlide" Target="/ppt/notesSlides/notesSlide22.xml" Id="R52595b4a2916424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b26d5fd9e4949" /><Relationship Type="http://schemas.openxmlformats.org/officeDocument/2006/relationships/notesSlide" Target="/ppt/notesSlides/notesSlide23.xml" Id="Rc1adf724d4d4429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610904a0b4560" /><Relationship Type="http://schemas.openxmlformats.org/officeDocument/2006/relationships/notesSlide" Target="/ppt/notesSlides/notesSlide24.xml" Id="Rb0e0d784ca8a4cf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be0bda1e54c49" /><Relationship Type="http://schemas.openxmlformats.org/officeDocument/2006/relationships/notesSlide" Target="/ppt/notesSlides/notesSlide25.xml" Id="R4b9ccd867d104ee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18085f53046a4" /><Relationship Type="http://schemas.openxmlformats.org/officeDocument/2006/relationships/notesSlide" Target="/ppt/notesSlides/notesSlide26.xml" Id="R49bd8746b6734cd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081f8c78945b6" /><Relationship Type="http://schemas.openxmlformats.org/officeDocument/2006/relationships/notesSlide" Target="/ppt/notesSlides/notesSlide27.xml" Id="Rcf99eb455be1469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01f64db5f4f0e" /><Relationship Type="http://schemas.openxmlformats.org/officeDocument/2006/relationships/notesSlide" Target="/ppt/notesSlides/notesSlide28.xml" Id="Rc1a8e368228e406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5e0a804634951" /><Relationship Type="http://schemas.openxmlformats.org/officeDocument/2006/relationships/notesSlide" Target="/ppt/notesSlides/notesSlide29.xml" Id="R4875b998b16b45b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963464f5d434a" /><Relationship Type="http://schemas.openxmlformats.org/officeDocument/2006/relationships/notesSlide" Target="/ppt/notesSlides/notesSlide30.xml" Id="R7b90a5336b9e462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c5db3021c4c35" /><Relationship Type="http://schemas.openxmlformats.org/officeDocument/2006/relationships/notesSlide" Target="/ppt/notesSlides/notesSlide31.xml" Id="Rde6b223a402f401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65651e6c34ceb" /><Relationship Type="http://schemas.openxmlformats.org/officeDocument/2006/relationships/notesSlide" Target="/ppt/notesSlides/notesSlide32.xml" Id="R73497362b7c14c1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765d5adf34555" /><Relationship Type="http://schemas.openxmlformats.org/officeDocument/2006/relationships/notesSlide" Target="/ppt/notesSlides/notesSlide33.xml" Id="R6ccb7de80972431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5606f2a1142d3" /><Relationship Type="http://schemas.openxmlformats.org/officeDocument/2006/relationships/notesSlide" Target="/ppt/notesSlides/notesSlide34.xml" Id="Rc23e7e6f28e5419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e90d8557f4423" /><Relationship Type="http://schemas.openxmlformats.org/officeDocument/2006/relationships/notesSlide" Target="/ppt/notesSlides/notesSlide35.xml" Id="Rbf2daf135da74f0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f020120874410" /><Relationship Type="http://schemas.openxmlformats.org/officeDocument/2006/relationships/notesSlide" Target="/ppt/notesSlides/notesSlide36.xml" Id="Re2cca8fd165642f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f56d90758943a4" /><Relationship Type="http://schemas.openxmlformats.org/officeDocument/2006/relationships/notesSlide" Target="/ppt/notesSlides/notesSlide37.xml" Id="R493069e3744c4b3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c21f981624b71" /><Relationship Type="http://schemas.openxmlformats.org/officeDocument/2006/relationships/notesSlide" Target="/ppt/notesSlides/notesSlide38.xml" Id="R5a51a882ee6e40e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c7eb572b24e7f" /><Relationship Type="http://schemas.openxmlformats.org/officeDocument/2006/relationships/notesSlide" Target="/ppt/notesSlides/notesSlide39.xml" Id="R4b501526640b48c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7724797414c0d" /><Relationship Type="http://schemas.openxmlformats.org/officeDocument/2006/relationships/notesSlide" Target="/ppt/notesSlides/notesSlide40.xml" Id="R0ea073518c4e4ae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601b2362a483e" /><Relationship Type="http://schemas.openxmlformats.org/officeDocument/2006/relationships/notesSlide" Target="/ppt/notesSlides/notesSlide41.xml" Id="R16a020eefcc64b6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ba18878e648ff" /><Relationship Type="http://schemas.openxmlformats.org/officeDocument/2006/relationships/notesSlide" Target="/ppt/notesSlides/notesSlide42.xml" Id="Re9b4701845c04e29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90e7b112b4598" /><Relationship Type="http://schemas.openxmlformats.org/officeDocument/2006/relationships/notesSlide" Target="/ppt/notesSlides/notesSlide43.xml" Id="R5ae2e8289a0145c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646af91634a56" /><Relationship Type="http://schemas.openxmlformats.org/officeDocument/2006/relationships/notesSlide" Target="/ppt/notesSlides/notesSlide44.xml" Id="Re8c040fca88e449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99820CB0-0293-4FAD-AC1D-4F974293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-1"/>
            <a:ext cx="11958990" cy="67952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569"/>
          </a:solidFill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0"/>
          </a:p>
        </p:txBody>
      </p:sp>
      <p:pic>
        <p:nvPicPr>
          <p:cNvPr id="14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68db7a67c645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77691" y="1871970"/>
            <a:ext cx="4551435" cy="4773178"/>
          </a:xfrm>
          <a:prstGeom xmlns:a="http://schemas.openxmlformats.org/drawingml/2006/main" prst="rect">
            <a:avLst/>
          </a:prstGeom>
        </p:spPr>
      </p:pic>
      <p:pic>
        <p:nvPicPr>
          <p:cNvPr id="15" name="Рисунок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a05b3813e2a4e69"/>
          <a:srcRect xmlns:a="http://schemas.openxmlformats.org/drawingml/2006/main" l="0" t="80000" r="0" b="0"/>
          <a:stretch xmlns:a="http://schemas.openxmlformats.org/drawingml/2006/main"/>
        </p:blipFill>
        <p:spPr>
          <a:xfrm xmlns:a="http://schemas.openxmlformats.org/drawingml/2006/main">
            <a:off x="3650675" y="282341"/>
            <a:ext cx="3186282" cy="1107187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513BC34-7DDE-4E83-B5C8-D77AE155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917" y="1936375"/>
            <a:ext cx="7342094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 b="1">
                <a:solidFill>
                  <a:schemeClr val="bg1"/>
                </a:solidFill>
                <a:latin typeface="Book Antiqua"/>
                <a:ea typeface="Book Antiqua"/>
                <a:cs typeface="Book Antiqua"/>
              </a:rPr>
              <a:t>Разработка и интеграция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8636AA5-0C27-444F-9C57-F8963F70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29" y="3585882"/>
            <a:ext cx="6149789" cy="25853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FFFFF"/>
                </a:solidFill>
              </a:rPr>
              <a:t>Лекция 3</a:t>
            </a:r>
            <a:r>
              <a:rPr sz="3600" b="1">
                <a:solidFill>
                  <a:srgbClr val="FFFFFF"/>
                </a:solidFill>
              </a:rPr>
              <a:t> </a:t>
            </a:r>
          </a:p>
          <a:p xmlns:a="http://schemas.openxmlformats.org/drawingml/2006/main">
            <a:r>
              <a:rPr sz="3600" b="1">
                <a:solidFill>
                  <a:srgbClr val="FFFFFF"/>
                </a:solidFill>
              </a:rPr>
              <a:t>Контейнеризация компонентов</a:t>
            </a:r>
          </a:p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5409377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CEF600-3D74-434E-AA81-138C49B5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Продолжение второй лекции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021F3-2B6E-48B1-85F3-2453DEEF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52197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Уже есть</a:t>
            </a:r>
          </a:p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FastAPI и POST /predict</a:t>
            </a:r>
          </a:p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Готовая модель и её версия</a:t>
            </a:r>
          </a:p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Валидация и pytest-тесты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D4631-1385-4158-85D5-EF1467AD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19250"/>
            <a:ext cx="5172075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Проблема передачи проекта</a:t>
            </a:r>
          </a:p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Другая версия Python</a:t>
            </a:r>
          </a:p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Нет системной библиотеки</a:t>
            </a:r>
          </a:p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Путь к модели существует лишь у автора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6B0AD-3163-448A-A7A0-721D218C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Контракт API сохраняется. К нему добавляется описание среды запуска.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FD5F6-4E56-412F-A6CF-8D2FF642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Задача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B49F12-5244-4CC1-899C-8FEFDBF4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434868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45EF42-21BC-4CBF-A1FC-A7686ED5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Способы подготовки и передачи среды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7CD50-E5FD-4380-AE04-34C86E20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Инструкция + venv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4F7DA8-3519-4E49-B658-FCC8FF20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Передаём код и список Python-пакетов.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Получатель готовит Python и систему сам.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F8600-AD28-4BEF-95E7-7D090F25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Скрипт установки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D70F4-44FE-4534-9574-772B88C5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Автоматизирует команды подготовки,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но зависит от ОС и её текущего состояния.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D5B8F-A610-4416-AD07-9B214C45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192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Виртуальная машина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593D0-A3B5-44B2-A98D-031125FB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859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Передаёт готовую гостевую ОС,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но требует больше диска, памяти и времени.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13898-3853-4FE0-A662-75B8F8F7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337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Контейнерный образ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AA9F63-074B-419B-93E0-4189F2C2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042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Передаёт файловую среду приложения.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Для запуска нужен совместимый runtime.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832218-32EC-4DE1-A879-2E2C6093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Для нашего API нужно передать код, библиотеки, готовую модель и настройки запуска.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409FAA-5EE9-41A4-A492-9406EA23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Выбор среды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642F8E-2ED6-4EA6-ACD1-5386E0CC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809656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66DF2A-CC53-4559-B47B-FDA90C59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Критерии выбора способа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59C44-C5A9-49E2-BB14-7A0BD702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Полнота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581EE-13ED-4649-903E-80305611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Вместе с кодом передаём библиотеки,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модель и команду запуска.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3FAF5-9D8A-43A9-86F7-72459C3C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Повторяемость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FCEF5-7F77-4227-8A66-ADD602EC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Описание среды хранится в проекте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и проверяется при каждой сборке.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B4DFFD-4246-4B61-A925-21FD46A6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Ресурсы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948E1-19CE-4E90-8D4C-BCC9C6A4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Учебный стенд должен запускаться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быстрее и легче полной виртуальной машины.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E69B1E-B2E7-482A-83A1-63D09C80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192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Связь компонентов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9D86F-7FD3-4D2E-8932-C5AE20DF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859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API и клиент должны видеть друг друга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по предсказуемому имени.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8A2B6C-B85B-4F14-83F8-2C7363CF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337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Проверка результата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4D2E9-3B88-4E70-90CB-188EC2D7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042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Нужны журнал, HTTP-проверка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и доступ к сохранённому файлу.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7E017A-C4F0-48B4-A1D0-69783979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48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Продолжение курса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698E5E-3FBA-4311-A856-17F9118B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148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Ту же сборку будем использовать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в конвейере CI/CD.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925BC-70E1-4940-9339-3DFC7450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По этим критериям выбираем контейнерный подход и реализацию Docker.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92D724-8C1C-46B0-86BA-4B5EC26F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Выбор среды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2AB43A-2BF0-49FF-BCBD-2BAA447A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932364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503E6-D682-4C71-9F88-E7374797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Почему выбираем Docker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8A30B-34D3-404C-A82C-F570BC00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52197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1. Dockerfile хранит описание сборки рядом с кодом.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2. Образ включает код, Python-библиотеки и готовую модель.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3. Контейнер запускается быстрее и обычно требует меньше ресурсов, чем отдельная ВМ.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01A85-8539-4AE4-8030-D7BA6E59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19250"/>
            <a:ext cx="5172075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4. Сети, mounts и Compose покрывают связь API с клиентом и файлами.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5. Тот же образ можно проверять и передавать в CI/CD.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6. Docker доступен на учебных Windows- и Linux-машинах.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A1255-6101-4483-A67F-BFE2255D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Выбор относится к этому курсу и проекту. Он не означает, что Docker лучше любого инструмента для любой задачи.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32B5B-1697-49E8-9D61-1C618DFD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Выбор среды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E762A-A882-4D13-82F4-88F14BF4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888242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B0959-5D8A-438D-BFED-B1AC5454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Что такое Docker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78B9E-D16A-4711-A4BA-74BAC499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52197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Docker — платформа для сборки, хранения и запуска приложений в контейнерах.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Контейнер запускает процесс приложения в изолированной файловой и сетевой среде, используя ядро хоста.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08810-EE45-4D3D-AD4A-BE18CB15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19250"/>
            <a:ext cx="5172075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Составные части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Docker Engine — создаёт образы и управляет контейнерами.</a:t>
            </a:r>
          </a:p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Docker CLI — передаёт команды Engine.</a:t>
            </a:r>
          </a:p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Registry — хранит и раздаёт образы.</a:t>
            </a:r>
          </a:p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Docker Compose — описывает совместный запуск сервисов.</a:t>
            </a:r>
          </a:p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Docker Desktop — локальная среда для Windows и macOS.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B13EA-65C5-4DAC-BAA9-249BD0C1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Dockerfile является файлом проекта. Образ и контейнер являются сущностями, которыми управляет Engine.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04ACAD-373F-4E2E-B39E-856288C4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Устройство Docker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7ECAA-AC77-4560-B526-1C6B7DC5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747824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125C91-53F1-4974-BC49-125D6E84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Основные сущности Docker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F4ADD-2A04-42A9-9C30-A4FD2006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Образ — image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4B060-9C58-4F6B-937B-18E3E189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Файлы приложения, библиотеки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и настройки для создания контейнера.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B2DB4-7B02-4A42-B546-560BB91F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Контейнер — container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E7568-5C13-4B37-AB9A-DA17027D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Экземпляр образа с процессом,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настройками и собственным слоем записи.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4F204-B353-4E3E-90FE-1E41B1F7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Registry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3F306-5D3D-4854-8246-25CD365B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Сервис хранения и распространения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образов, например Docker Hub.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A24909-A07B-4EF8-9714-280EA6A9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192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Сеть — network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C2A4C-BA33-41C3-AED1-275A67D5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859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Обеспечивает сетевую связь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между подключёнными контейнерами.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070AF-CF43-4DE2-AB47-38CF90DC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337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Том — volume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9337AF-B155-4C6D-92C6-F5144DFC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042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Хранит данные независимо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от жизненного цикла контейнера.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0D6BF-B520-436F-A985-1E157CE5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48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Bind mount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965225-B6BF-4DA9-B8B2-1DD272E6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148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Предоставляет контейнеру доступ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к конкретному пути на хосте.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5B913F-BE7A-4CAE-927B-E668EEA1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Образ хранит основу запуска. Контейнер выполняет программу. Сеть и mounts обеспечивают связи.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E4E728-0828-4110-B3A1-F62B3187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Устройство Docker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82F7C1-3066-4630-89C2-F5C715C9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251805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BF683B-3058-44E1-BF96-C3F4187D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Устройство Docker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1BF33-CED2-45F1-837B-D9964F40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9050">
            <a:solidFill>
              <a:srgbClr val="25656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CFABF-6AC6-4352-8EB4-4F79F802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343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Пользователь</a:t>
            </a:r>
          </a:p>
          <a:p xmlns:a="http://schemas.openxmlformats.org/drawingml/2006/main">
            <a:pPr algn="ctr"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Терминал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13925-2703-4725-B04B-8A785090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2571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9050">
            <a:solidFill>
              <a:srgbClr val="25656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E2071-76B8-4840-808F-1C367E51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2343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CLI</a:t>
            </a:r>
          </a:p>
          <a:p xmlns:a="http://schemas.openxmlformats.org/drawingml/2006/main">
            <a:pPr algn="ctr"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docker compose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9949AC-1954-42EB-B0B5-96A113F9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19400"/>
            <a:ext cx="266700" cy="552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5656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22C1F4-FB05-4C94-A344-8F94E26A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857625"/>
            <a:ext cx="7524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56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2A123F-89E5-4773-913C-D19D0AB9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57550"/>
            <a:ext cx="3124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9050">
            <a:solidFill>
              <a:srgbClr val="25656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D4550-3A58-4504-973A-01846E50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09950"/>
            <a:ext cx="28956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Docker Engine</a:t>
            </a:r>
          </a:p>
          <a:p xmlns:a="http://schemas.openxmlformats.org/drawingml/2006/main">
            <a:pPr algn="ctr"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Служба dockerd</a:t>
            </a:r>
          </a:p>
          <a:p xmlns:a="http://schemas.openxmlformats.org/drawingml/2006/main">
            <a:pPr algn="ctr"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Docker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56D63-100D-487A-8EA0-0FE35CA9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8115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9050">
            <a:solidFill>
              <a:srgbClr val="25656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B9EBB-9624-432D-873C-A7B26B51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733550"/>
            <a:ext cx="2914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Registry</a:t>
            </a:r>
          </a:p>
          <a:p xmlns:a="http://schemas.openxmlformats.org/drawingml/2006/main">
            <a:pPr algn="ctr">
              <a:defRPr sz="180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Хранилище образов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BC25C1-07C6-4DEB-A1CB-8EDC6504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43200"/>
            <a:ext cx="266700" cy="400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5656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FB39C1-1D17-4FE3-86BC-604D4159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857625"/>
            <a:ext cx="6191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56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9692B2-9A11-45B7-9906-66DCB038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162300"/>
            <a:ext cx="29622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9050">
            <a:solidFill>
              <a:srgbClr val="25656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2BA659-7416-4AD2-81CF-0B9427DA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14700"/>
            <a:ext cx="27336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Объекты на хосте</a:t>
            </a:r>
          </a:p>
          <a:p xmlns:a="http://schemas.openxmlformats.org/drawingml/2006/main">
            <a:pPr algn="ctr"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Образы и контейнеры</a:t>
            </a:r>
          </a:p>
          <a:p xmlns:a="http://schemas.openxmlformats.org/drawingml/2006/main">
            <a:pPr algn="ctr"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Сети и тома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4E47DC-1F93-4DBA-92D4-5DCB5AD0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Команды управления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0B3B1E-0E39-46B8-AC0C-3A06ED0B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114925"/>
            <a:ext cx="704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Сборщик создаёт образы; runtime запускает процессы.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698B2C-F33A-41AC-BDEF-13CE9115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Docker CLI передаёт команды Engine. Registry хранит образы, Engine управляет контейнерами.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100875-FD40-432B-B862-A6B724CB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Устройство Docker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B985A0-C3C4-4EAF-9949-67335859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210631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8CF213-FF48-4FD9-BA0F-DDE19036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Каналы управления и обмена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99D79-3EE4-413C-9311-4250F8F0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9050">
            <a:solidFill>
              <a:srgbClr val="25656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DC1B0-A0E2-4A65-85AB-C5737D7A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2628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CLI и Compose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6AA68-BCF3-4EB9-AB89-D396E3F6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240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9050">
            <a:solidFill>
              <a:srgbClr val="25656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C6ACA-A649-4B05-BF95-27445E67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676400"/>
            <a:ext cx="2628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Docker 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1A8149-C3AE-4D87-96F2-D7719370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240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9050">
            <a:solidFill>
              <a:srgbClr val="25656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C5BA9-9353-4666-AB8F-649A3F0F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76400"/>
            <a:ext cx="2628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Контейнер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8EBF7-9CA7-49D9-AF62-AC454D33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733550"/>
            <a:ext cx="8382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56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BBF7C-55E1-4096-8EF6-E50DB220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733550"/>
            <a:ext cx="8382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56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70FF7-6C12-45C9-A953-200721B4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257300"/>
            <a:ext cx="3876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управление через Docker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EECC92-7C59-45B4-9364-D3C6F3F6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9050">
            <a:solidFill>
              <a:srgbClr val="25656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7AF6F8-CAED-4EF3-B3D9-DD6A6D9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52775"/>
            <a:ext cx="2628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Хост: -p или ports</a:t>
            </a:r>
          </a:p>
          <a:p xmlns:a="http://schemas.openxmlformats.org/drawingml/2006/main">
            <a:pPr algn="ctr">
              <a:defRPr sz="150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Сосед: appnet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5FEAA6-26E7-408D-867A-96F4C8F2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00375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9050">
            <a:solidFill>
              <a:srgbClr val="25656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7036DE-5FA6-4DAE-A66E-A37069A5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52775"/>
            <a:ext cx="2628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Сеть контейнера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F7EE7F-D11C-4535-ACAF-BE6B1809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0375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9050">
            <a:solidFill>
              <a:srgbClr val="25656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CD11E7-6801-4E09-A0FB-CC454F15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52775"/>
            <a:ext cx="2628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FastAPI :8000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0EF9E9-0161-4EF2-A79C-F0A1EEAA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48025"/>
            <a:ext cx="8382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56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EA3AC3-BE35-479F-9915-FEE8AD00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48025"/>
            <a:ext cx="8382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56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C79E44-F87A-4293-80A7-D5A9A6E0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05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HTTP-запросы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F0D727-CFB5-473A-B568-2D81B15D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9050">
            <a:solidFill>
              <a:srgbClr val="25656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97F5CA-9E81-41D6-B06B-047F1AC6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2628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./results на хосте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CAEC69-7771-40DE-8D89-CD840534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7675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9050">
            <a:solidFill>
              <a:srgbClr val="25656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C43A53-D9BA-43CF-8EF3-C3BA4B0B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29150"/>
            <a:ext cx="2628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Mount / volume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AE8EA9-06FE-4F28-8F1D-DA790302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7675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9050">
            <a:solidFill>
              <a:srgbClr val="25656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EAC887-3D24-4EA5-9CC6-44DE138F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29150"/>
            <a:ext cx="2628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/results в контейнере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24F2FD-E371-47DA-A92A-FE644C4F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24400"/>
            <a:ext cx="8382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56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FE7598-B627-437E-BCE9-2C7D776F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724400"/>
            <a:ext cx="8382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569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110114-34A1-4BFC-A040-317F3EA9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1814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общие файлы и папки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3215B6-243D-45CC-B369-4CC83B28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Контейнер обменивается данными по сети и через подключённые файлы. Управление идёт отдельно через Docker Engine.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94635F-ECCA-4D8D-8247-588DFA5C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Устройство Docker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1B5161-7D1B-498C-9E7B-0F5D3E17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405468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FBCA23-DBDB-4AED-9F02-EB965823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Установка Docker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553FE-766F-4E52-BC83-6C47D19B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Windows: Docker Desktop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146B6-1FF7-4699-BDEF-4EF3ECFE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Проверить требования, установить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и запустить приложение.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A0DEA-6378-430A-9A47-94A64CD9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Linux-контейнеры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802B0-D361-47E0-8D1C-B913F635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Для примера с Python используем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Linux-среду, обычно WSL 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B2D11B-0D5F-435F-B0BD-9D1A1699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Настройки рабочего места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8AD6A-7CAF-485C-9B1A-02676B67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Проверить виртуализацию, доступ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к сети и ресурсы для модели.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D5740-72C2-4EDB-8DC7-02F89C4A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192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Linux: Docker Engine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EB597B-B83E-41CF-A787-8AD6E2D1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859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Установить Engine и плагин Compose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по инструкции своего дистрибутива.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3585D-C7FC-49BC-A955-C6945842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337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Что должно работать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CA59D-B969-45EF-8D10-E87DD573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042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Команда docker доступна в терминале,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а служба Engine запущена.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A20787-7C0E-4750-9EDD-F64FE6A1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48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Официальные инструкции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B717EF-EDC8-4D1B-8067-77EA6E28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148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docs.docker.com/get-started/get-docker/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docs.docker.com/engine/install/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640106-A06A-4749-816B-2D0075F2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Установка зависит от ОС. Точные требования и шаги берём из официальной инструкции.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6DF35-58F7-40AD-98CC-4F464243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Устройство Docker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6BA4C0-F010-4C8F-9396-FCB53BEA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047855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95B57-C0D0-452E-B752-A27C17E9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Проверка и первоначальная настройка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F9912-06A4-493B-9825-668787EA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7524750" cy="412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docker version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docker info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docker compose version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docker run --rm hello-world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2A5A6-3329-4F54-8C59-2EA3F900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71625"/>
            <a:ext cx="302895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version: клиент и сервер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info: состояние Engine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compose: плагин доступен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hello-world: проверка</a:t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скачивания и запуска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283FA-49F1-4CE7-B6E4-74E77390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Если Client виден, а Server недоступен, проверяем запуск Engine и выбранное подключение.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87C7AE-F449-4A66-A3F8-B65E26AD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Устройство Docker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B1C2A9-2260-482D-A371-6D037683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861682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E6964-7776-4B0E-9F5F-7864339D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Наблюдение и HTTP-проверка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4843D-32CF-4DF4-A417-31C04C33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519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Состояние контейнера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122D1-F9DB-4C4F-BADC-3C492C46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3827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HTTP-запросы из терминала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33578-C2D0-4878-8623-8D1392D7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28825"/>
            <a:ext cx="519112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docker ps -a</a:t>
            </a:r>
          </a:p>
          <a:p xmlns:a="http://schemas.openxmlformats.org/drawingml/2006/main">
            <a:pPr>
              <a:defRPr sz="1725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docker logs iris-api</a:t>
            </a:r>
          </a:p>
          <a:p xmlns:a="http://schemas.openxmlformats.org/drawingml/2006/main">
            <a:pPr>
              <a:defRPr sz="1725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docker stats --no-stream</a:t>
            </a:r>
          </a:p>
          <a:p xmlns:a="http://schemas.openxmlformats.org/drawingml/2006/main">
            <a:pPr>
              <a:defRPr sz="1725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docker inspect iris-api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BC21CF-2B65-4FD1-A6DA-0E1FBD64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28825"/>
            <a:ext cx="5238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curl.exe -fsS http://127.0.0.1:8000/health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curl.exe -fsS -X POST -H "Content-Type: application/json" -d '{"features":[5.1,3.5,1.4,0.2]}' http://127.0.0.1:8000/predict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6607C-F304-409A-8EE6-3AE3D0D9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GET и POST — методы HTTP. Запросы из терминала отправляет программа curl.exe.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CF6D9B-9513-4DC6-B58C-2E56AFA8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Устройство Docker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95768-6B62-4E5D-96AC-6E5FC5AA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52286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AD40B8-4C80-4343-9A7A-D624FAAC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Dockerfile и контекст сборки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CB416-41A1-4A08-BFF4-34618208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Dockerfile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911EB-2CA8-4440-AA9B-0881D537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Текстовый рецепт сборки образа: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что взять, установить и скопировать.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7102B-F98B-4A80-AD93-B84D9BEB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docker build -t iris-api:lecture3 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CB8A8-337A-469C-A0C0-5EEBB9A9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Команда терминала, которая читает рецепт.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531B8-C1AB-4AE7-A6B3-D655786B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Контекст сборки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43224-65DE-457B-AF07-903B9F18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Точка задаёт каталог файлов,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доступных инструкциям COPY.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8156E-70C6-4178-8EC7-AB3A443B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192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.dockerignore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2C9B0-1F7A-4C95-A5BB-DCD390F7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859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Исключает лишние файлы из контекста.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069A4-C90B-40C2-B033-88677086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337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Что исключаем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C1C0A0-BA21-4D95-9088-9CB5BE9B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042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Локальную .venv, .git, кеши,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секреты и учебные датасеты.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9C9DB3-DD3F-4092-A558-7E7C0E8D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48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Что оставляем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141DD6-CA16-4513-AE9A-5F9C5203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148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Код API, requirements.lock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и используемый артефакт модели.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A3C62C-9FC3-4A64-A386-3045E295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По Dockerfile собирается образ. Контейнер создаётся отдельной командой запуска.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4F4BAA-3A57-4291-A487-37527CB6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Dockerfile и управление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8F84E9-52E2-4429-8E5E-E7C34E30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69832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5A845F-9B07-4810-926A-75F4B0DA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Выбор базового образа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C169F-68D3-43EA-9D8C-E4BD43DE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Где искать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EED14-18EB-4E1C-81D6-B2137733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Docker Hub: https://hub.docker.com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Python: https://hub.docker.com/_/python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5804A-252A-4BD6-9F56-A9B2084E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Совместимость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BEDC8-E6A2-4E27-B35D-3CB6EBEE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Версия Python и системные библиотеки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должны подходить модели и её пакетам.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67734-48B9-4ABC-B004-871E6FD4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Архитектура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6FD1D-EE08-499E-9290-316ACC2E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Проверяем поддержку CPU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среды запуска: например amd64 или arm64.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DED51-C956-49D3-9C51-20DA0ED9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192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Пример: python:3.12-slim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FB0C8-3884-4037-AEEE-1C5AEB13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859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Python 3.12 и сокращённая среда Linux.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Это исходная точка нашей сборки.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85FD72-CC24-429B-9CA9-96E8C089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337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Размер и удобство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CF08C-E4DA-4127-A502-95B35DE0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042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В маленьком образе может не быть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нужных утилит и системных библиотек.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37D62F-B3E7-4F05-8670-CA6D9A6E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48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Тег и digest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4403FD-E8F4-4090-A962-1BC3C63C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148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Тег является именем версии.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Digest фиксирует содержимое образа.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EC2FCC-B530-43BD-8FB7-34347B33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Самый маленький образ не всегда подходит ML-зависимостям. Сначала проверяем совместимость.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44D57A-9BD5-4E12-8F98-DA4FF81D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Dockerfile и управление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EB569-5C2C-4695-AEEC-5C7CB0F9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1015024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23C94-AF5B-4819-AAA4-14C30C86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Dockerfile: подготовка среды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09110-07D3-4E81-BB9D-1B6AF4B3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7239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FROM python:3.12-slim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WORKDIR /srv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ENV PYTHONDONTWRITEBYTECODE=1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ENV PYTHONUNBUFFERED=1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COPY requirements.lock ./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RUN pip install --no-cache-dir \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-r requirements.lock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FFB25-3130-4B6A-9FEB-AB6F2FB9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95425"/>
            <a:ext cx="32956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FROM выбирает</a:t>
            </a:r>
          </a:p>
          <a:p xmlns:a="http://schemas.openxmlformats.org/drawingml/2006/main">
            <a:pPr>
              <a:defRPr sz="172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базовый образ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WORKDIR задаёт каталог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COPY переносит список</a:t>
            </a:r>
          </a:p>
          <a:p xmlns:a="http://schemas.openxmlformats.org/drawingml/2006/main">
            <a:pPr>
              <a:defRPr sz="172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Python-библиотек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RUN устанавливает</a:t>
            </a:r>
          </a:p>
          <a:p xmlns:a="http://schemas.openxmlformats.org/drawingml/2006/main">
            <a:pPr>
              <a:defRPr sz="172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эти библиотеки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91B55-B84E-4964-B091-97AB3EB4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14825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Документация и все инструкции: https://docs.docker.com/reference/dockerfile/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08BBF-4745-473C-B477-9C38457D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Образы: https://hub.docker.com   Python: https://hub.docker.com/_/python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407B9-AFEE-470F-8A93-A44382E5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76825"/>
            <a:ext cx="1089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42"/>
                </a:solidFill>
                <a:latin typeface="Arial"/>
                <a:ea typeface="Arial"/>
                <a:cs typeface="Arial"/>
              </a:rPr>
              <a:t>Основные инструкции: FROM, WORKDIR, COPY, RUN, ENV, ARG,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390529-FEBA-41E0-B508-32E313EB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62575"/>
            <a:ext cx="1089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E42"/>
                </a:solidFill>
                <a:latin typeface="Arial"/>
                <a:ea typeface="Arial"/>
                <a:cs typeface="Arial"/>
              </a:rPr>
              <a:t>EXPOSE, CMD, ENTRYPOINT, HEALTHCHECK, VOLUME, LABEL.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B24BE-8C41-41B2-ADCC-799B7A27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Dockerfile описывает сборку образа. Здесь показаны подготовка среды и установка библиотек.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DCC06B-63B8-4DE2-928B-92ECA9E0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Dockerfile и управление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3439D-C77A-4923-BCE3-6D242BF8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240706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8ABB9B-7F3B-49A7-83B2-436D3434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Dockerfile: FROM, WORKDIR и COPY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A7BA4-68B9-4636-9055-A4D58638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7524750" cy="412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FROM python:3.12-slim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WORKDIR /srv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COPY requirements.lock ./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COPY app/ ./app/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B9886-BED0-4EEC-B14B-0A6EB858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71625"/>
            <a:ext cx="302895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FROM задаёт исходный образ.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WORKDIR задаёт рабочий каталог внутри образа. При запуске это текущий каталог процесса контейнера.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На текущий каталог терминала хоста WORKDIR не влияет.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796A41-F54A-4C43-8BBA-EA2B3412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Источник COPY читается из контекста сборки на хосте. Относительный путь назначения считается от /srv внутри образа.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49F35-85E7-421B-8323-849392A6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Dockerfile и управление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7C982-4F86-459D-B416-60F640AD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012804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8E2E8-0E11-4343-A498-9D1ECA2F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Dockerfile: RUN, ARG и ENV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370EE-A3D9-4F04-8A2B-6ADA8106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7524750" cy="412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ARG PIP_INDEX_URL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RUN pip install --no-cache-dir \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-r requirements.lock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ENV MODEL_VERSION=iris-1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5C81B-A1E9-47AA-A5D4-69BC5FB0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71625"/>
            <a:ext cx="302895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RUN выполняет команду во время сборки и создаёт новый слой.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ARG принимает параметр сборки.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ENV задаёт значение по умолчанию для следующих инструкций и контейнера.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6F29CC-1A96-40A7-9B90-334059F4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Секреты не передают через ARG или ENV. Для них используют специальные механизмы сборки и запуска.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BA4A62-9699-497D-8921-B076C63C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Dockerfile и управление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A03D6-4DB2-4C81-8259-F535557B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8175974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78C9D-C9BD-4A47-A7C9-B1B6DA1A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Dockerfile: EXPOSE, CMD и ENTRYPOINT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A7AC2-C501-4CF6-8DA1-2D0F9828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7524750" cy="412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EXPOSE 8000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CMD ["python", "-m", "uvicorn",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 "app.api:app", "--host", "0.0.0.0",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 "--port", "8000"]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# В другом образе возможно: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ENTRYPOINT ["python", "client.py"]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865C5-F7CB-4B94-9FE5-B54967E4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71625"/>
            <a:ext cx="302895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EXPOSE сообщает, что приложение ожидает соединения на порту 8000 внутри контейнера. Это метаданные образа.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CMD задаёт команду по умолчанию.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ENTRYPOINT фиксирует исполняемую программу.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607BB-79A0-4FC5-A742-0BB982BD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EXPOSE не открывает порт хоста. Параметр -p 8080:8000 связывает порт 8080 хоста с портом 8000 контейнера.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41493-AA9F-4491-8784-C15D75F8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Dockerfile и управление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71B8A-EBC1-4254-B0B2-A0543C97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6934832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919CB-77B1-4EE8-A757-E7F4454E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Dockerfile: приложение и запуск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FC60B-39E4-4D80-A5D2-57409ED8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7524750" cy="412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COPY app/ ./app/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COPY artifacts/ ./artifacts/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ENV MODEL_PATH=/srv/artifacts/model.joblib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ENV MODEL_VERSION=iris-1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EXPOSE 8000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CMD ["python", "-m", "uvicorn", \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 "app.api:app", "--host", "0.0.0.0", \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 "--port", "8000"]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F8FDE-83EB-48D4-B109-487645EE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71625"/>
            <a:ext cx="302895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До COPY, на хосте:</a:t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&lt;проект&gt;/app/</a:t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&lt;проект&gt;/artifacts/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После COPY, в образе:</a:t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/srv/app/</a:t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/srv/artifacts/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MODEL_PATH и CMD используют пути внутри образа.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506CF-B446-4D97-994F-66FEC618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Первая часть COPY задаёт путь в контексте сборки на хосте. Вторая часть задаёт путь внутри образа относительно WORKDIR /srv.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B73F4-F80D-45C2-8CC8-F1D5A62F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Dockerfile и управление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34F1E-D4BA-4EB6-927B-5D8C1B2D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7725210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D03F14-5989-4F07-AF99-D5A6D113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Слои и кеширование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E6250-3644-4FB8-B7FF-C9C316AC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533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Порядок инструкций Dockerfile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5167F-6253-47A2-9971-DBCEC566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04950"/>
            <a:ext cx="5124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Что произойдёт при изменении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E75EE-9955-4E88-B1C9-F7EDBDE4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6217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1. COPY requirements.lock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1EDA0-966B-4EBD-BA8B-B820EE75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62225"/>
            <a:ext cx="504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Копируем список библиотек отдельно от кода.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07979-E45E-4DAB-8826-A5BB5230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2422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2. RUN pip install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2DFC0C-7EF9-4942-8137-87213129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24275"/>
            <a:ext cx="504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Устанавливаем библиотеки. Результат шага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можно сохранить в кеше сборки.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848236-6C79-4BAA-BAD9-B895C8FB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8627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3. COPY app/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6DAED5-334D-4289-96DA-37C016E9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86325"/>
            <a:ext cx="504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Добавляем код после установки библиотек.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Его правки не меняют предыдущие входы.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14ADDC-93D2-4DCD-99CB-C0FED81C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3837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Изменился только api.py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A85A6-ECA5-4B4D-904D-EDDB25A9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38425"/>
            <a:ext cx="504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Docker использует готовый слой библиотек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и повторяет копирование кода.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2D53F9-DC16-4BDC-BDEF-2E5F5586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338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Изменился requirements.lock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65E811-99F7-4159-A82B-531897DA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33850"/>
            <a:ext cx="504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Docker заново устанавливает библиотеки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и выполняет последующие шаги.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3C847B-BE98-4E82-8816-0481FCA2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Кеш сохраняет результат шага сборки и использует его, пока инструкция и её входы не изменились.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619A2A-AD39-44B1-90CF-DEB9537D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Dockerfile и управление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73792E-B863-42E5-8203-DB9A83A8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440145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8A5457-A7FD-448C-80E8-B96642C7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Воспроизводимость образа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0961D-AADF-4B41-8822-F8AF3B66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Зачем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84E73-A63F-4CF6-9BEF-3D8176B9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049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Как достигаем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D3F17-FECA-4E54-99EF-5B54F90F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Повторить рабочую среду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0EFE9-879C-4348-86ED-4A66E5F7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504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У коллеги и в CI нужны те же код, библиотеки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и модель, что прошли проверку.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6DB29-DAF3-4BB0-9BF7-CD584DB9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4332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Найти причину отличий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A7AD03-320F-4BD7-983D-BB900EB8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43375"/>
            <a:ext cx="504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Известные версии позволяют сравнить выпуски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и воспроизвести условия ошибки.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EA1665-D9FA-4323-BF41-311D33D9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098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Фиксируем входы сборки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352C5-835B-4E8D-8532-5E4938F2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9850"/>
            <a:ext cx="504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Digest базового образа, версии библиотек,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версию кода и хеш модели.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8B301A-BC60-4F61-BE66-3D6351F8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Проверяем и сохраняем образ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144D46-285C-499F-B94B-5695F13D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43375"/>
            <a:ext cx="504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Собираем по Dockerfile, выполняем тесты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и передаём тот же проверенный образ.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6C078F-2C27-4E62-86E5-DD137A5F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Контролируемые входы сборки помогают повторить среду и найти причину отличий между запусками.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790BCE-FF51-4D24-AB06-D9EF019F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Dockerfile и управление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89BEF4-6076-4F85-A938-29670BB5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3833985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99A813-6FDE-4AD2-8398-5CEAC542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Жизненный цикл образа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20078-65A7-4AFE-B0E0-DC13DCCC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docker build -t iris-api:lecture3 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E1F30-C211-4E31-8551-CD708D54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Собрать новый образ из проекта.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4025B-FE67-48D3-8AE4-26FCB1BD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docker image 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107E5-ED15-452C-8179-2F342F4E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Посмотреть локальные образы.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2B1E7-B18F-441B-9261-61F02716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docker image inspect iris-api:lecture3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F17BD-7C61-4A97-8EAC-CE595933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Посмотреть конфигурацию образа.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244B7-08F4-437D-8A5C-35966286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192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docker pull python:3.12-slim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98469B-3A90-4A27-8375-A6C7A0AD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859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Получить образ из registry.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5F7FD-2C1C-4779-A4E8-76B61B14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337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docker tag / docker push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8B8531-8783-40D2-BFC0-088B4CFF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042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Дать имя для registry и опубликовать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образ при наличии доступа.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A83CD-E957-42DE-9DFA-020ECDB6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48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docker image rm iris-api:lecture3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7C5A13-CEEB-48D1-BC37-1FDC8B2A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148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Удалить локальную ссылку на образ,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если этому не мешает использование.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054858-D430-4B31-B1BB-0C0B0A58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Правка Dockerfile не меняет существующий контейнер. Нужны новая сборка и создание контейнера.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781E09-8160-4FD9-A250-D8EDC284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Dockerfile и управление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AEAF1-7F25-4748-B04F-354094E3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29103018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0AA256-3A4F-4CEA-A442-30B990BD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Жизненный цикл контейнера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65870-2DDA-404F-B943-D7D54E9C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docker create / docker start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229A6-8881-42B2-8E64-91615C49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Создать контейнер без запуска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и затем запустить его процесс.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BF815-8FA2-47E3-80D9-B19A49B0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docker run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CCC3B-B943-42CF-B95D-6664B39A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Создать новый контейнер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и сразу запустить его.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80F8D-F231-4C35-B8D3-998C48E6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docker stop iris-api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05735-017F-42AB-975C-31073E44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Остановить главный процесс.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Контейнер и его слой сохраняются.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E1D23D-BBF6-4636-888E-CD877C0D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192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docker start iris-api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C0EA3-07F8-407E-AF11-1A87FD78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859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Запустить существующий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остановленный контейнер.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6EE0DE-FC3E-41C9-BFC3-696AF4A9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337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docker restart iris-api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5A5B49-9C08-404E-8AB9-9F8FC62A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042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Остановить и запустить тот же контейнер.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Новый образ при этом не используется.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57DA8-B5FD-4A4B-A933-54BA1BCF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48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docker rm iris-api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0A0E8A-837B-4B47-9A6F-BC60EBFD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148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Удалить остановленный контейнер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и его собственный записываемый слой.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6063A1-300A-4A57-9D05-512CF33C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Повторный start использует прежние настройки. Для их изменения обычно создают новый контейнер.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87FF26-E401-4CF7-95FD-90B66E1C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Dockerfile и управление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E737A-13C8-48F8-9D1E-AF5FFB60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81134410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A6FB5-E1C5-4B44-94B2-3DB19BF2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Команды терминала: сборка и запуск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DB049-6C7B-40A9-9FF1-C20D0B23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7524750" cy="412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docker build -t iris-api:lecture3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docker run -d --name iris-api \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-p 127.0.0.1:8000:8000 \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-e MODEL_VERSION=iris-1 \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iris-api:lecture3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docker logs iris-api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curl http://127.0.0.1:8000/health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0F412-5DD5-47A3-8870-92097942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71625"/>
            <a:ext cx="302895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docker build</a:t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собирает образ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docker run</a:t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запускает контейнер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docker logs</a:t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показывает журнал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curl отправляет</a:t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HTTP-запрос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F5B14-9C6E-4A1E-9D47-05514354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Команды вводят из каталога проекта. Переносы показаны для Bash; в PowerShell вводим одну строку.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A854D-6F1D-47BE-BF07-DA9F0B9A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Dockerfile и управление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8D772-B297-4EFF-A2D2-6BE00E92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7479466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BBDE91-C4B7-45B7-A272-A2C7DD2E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Выполнение команд внутри контейнера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287A6-6409-4E36-ABA4-C780BB1F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7524750" cy="412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docker exec -it iris-api 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# В открывшейся оболочке: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whoami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pwd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ls /srv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exit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# Снова в терминале хоста: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docker exec iris-api python --version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40901-C232-448A-AC7E-83A3C3FD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71625"/>
            <a:ext cx="302895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exec создаёт</a:t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дополнительный процесс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-it открывает</a:t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интерактивную оболочку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exit завершает её,</a:t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API продолжает работать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BA261B-FEAC-408A-81A2-0F5FC94B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exec требует работающий контейнер. Оболочка sh или bash должна присутствовать в образе.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0604DF-3C1C-4FBE-8126-9D0D5A2F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Dockerfile и управление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F7340-2389-4D13-8ECE-C136BBF3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58635993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76DE75-8773-4691-A02F-9F5BE71D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Где контейнер хранит данные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8B0DD-7849-4411-BC0D-C1A53D70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01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Способ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7ACA3-9F4B-44E7-8C7A-CDBE5E33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001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Пример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CB16D-7679-4808-BE1B-141078F9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0017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Кто управляет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54018-6435-4113-A922-4E20C8B8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40017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После удаления контейнера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8C8A79-F9C2-4948-AE1A-698B54DB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Слой контейнера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B85EC-14CE-4E17-861D-4D0C71C4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52625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/srv/tmp/result.json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5DEE4-1146-453F-B88F-05E1F86D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52625"/>
            <a:ext cx="257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Создаётся автоматически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96B4B3-9B50-4880-A42F-73093A9F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52625"/>
            <a:ext cx="2714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Удаляется с контейнером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F86A8-C44D-4E36-B4CD-B1738BCD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Bind mount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EC5A7D-D78C-434F-8571-888B3C9F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432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./results:/results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A936EB-4B1B-4C99-B00A-6C37FD6B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43250"/>
            <a:ext cx="257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Каталог выбираем на хосте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250E1-AC56-4A41-ACC4-5C297FC7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43250"/>
            <a:ext cx="2714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Файл остаётся на хосте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1688AD-3823-428C-8675-8B223C5A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Именованный volume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20C31B-3612-474B-86F8-045F12A4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33875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results:/results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37B9C7-F2E2-4827-8962-822B31BF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33875"/>
            <a:ext cx="257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Место хранения выбирает Docker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0626B3-4380-4483-A345-5BA42BF3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33875"/>
            <a:ext cx="2714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Живёт до удаления volume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57C3C8-1210-4A81-9B4D-21C0B76E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Для результата клиента используем bind mount: файл остаётся на хосте и его легко открыть после демонстрации.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C2C066-73AF-4736-B528-14E9FD66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Dockerfile и управление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F1734B-2D08-47C7-9EA7-08FF904B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56388975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EC51C8-8CAB-436E-91CA-94F05366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Docker Compose: назначение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F07F9-61D8-411E-8F38-12A9E870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Dockerfile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E3027-0CA4-4B7F-AC6B-D595331B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Как собрать образ API: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библиотеки, код, модель, команда запуска.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A1D5D-00AB-471F-8337-1170F888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docker run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F2FB6-291E-43BC-8E29-F738F58B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Как запустить один контейнер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с выбранными параметрами.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76C70-3ED4-4D45-834D-4D679A41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Проблема нескольких компонентов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1387D-A81A-4624-B4E8-EDB16DDE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Нужно согласовать имена, сеть, порты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и порядок готовности.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69C71-C2E5-43E5-910A-6B1BC735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192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compose.yaml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47968-ADF0-45AD-9F16-31354932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859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Описание сервисов приложения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и их совместного запуска.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739609-77B4-43B8-B515-D8D84B3D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337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Docker Compose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E1257C-5351-4995-9938-8991EB61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042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Читает YAML и создаёт необходимые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контейнеры, сети и подключения.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E39B2C-E2BB-4DD0-A57D-865F8A71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48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Когда использовать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88E1D-9082-4899-A507-0668A484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148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Когда хотим повторять запуск стенда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одной командой и хранить его настройки.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01368E-90AA-41E2-87ED-3C2C0738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Compose может вызвать сборку по Dockerfile, а затем запустить контейнеры из полученных образов.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EEA1C-7469-4808-AD23-096A8EB4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Docker Compose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DD2C14-C451-4029-A467-D80BBDD3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42739959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A082A7-343F-4695-8976-642D4F22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Основные части compose.yaml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A96DF-10E3-48B8-9049-A29C543C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034D9-DBCB-46A3-A0F5-10E31B5D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Имена компонентов: api и client.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992AD-49A0-4A98-9E48-B4639EAB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build или image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B5B66-A8F9-46BF-AC26-D4AB07FF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Каталог с Dockerfile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или готовый образ для запуска.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FF604-57C2-4BAE-873F-34A5D8A5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environment и ports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BA0DE-C9BF-48EF-AFC8-2126F449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Параметры процесса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и публикация портов на хост.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686B9-5756-4AA5-9016-250DC68D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192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networks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F9527F-0AF6-4086-B07D-0561DA89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859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Подключение сервисов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к общей или разным сетям.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739862-B809-4E51-B573-CEE0B4D9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337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volumes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2E7866-7652-4F65-8AFA-1AACDC08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042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Подключения файлов и томов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для выбранного сервиса.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37F212-4220-4EFD-B838-6DE3FF9A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48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depends_on и healthcheck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9143B0-AA70-4C15-92F4-3F3C179F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148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Порядок старта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и проверка готовности приложения.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626D40-81E3-45C6-9F99-364AA4E0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Отступы определяют структуру YAML. Сервис — описание компонента, контейнер — результат его запуска.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993514-F45F-47FD-8E57-A2B2AF89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Docker Compose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74BCD6-EB3D-4CD9-BDC4-62CC63C8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30404526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DDFCD-7FC7-4C7A-B45E-CCE7CF6B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Пример compose.yaml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E3C4C-D786-452F-A618-4AB5C10C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7524750" cy="412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services:</a:t>
            </a:r>
          </a:p>
          <a:p xmlns:a="http://schemas.openxmlformats.org/drawingml/2006/main">
            <a:pPr>
              <a:defRPr sz="1425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api:</a:t>
            </a:r>
          </a:p>
          <a:p xmlns:a="http://schemas.openxmlformats.org/drawingml/2006/main">
            <a:pPr>
              <a:defRPr sz="1425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build: .</a:t>
            </a:r>
          </a:p>
          <a:p xmlns:a="http://schemas.openxmlformats.org/drawingml/2006/main">
            <a:pPr>
              <a:defRPr sz="1425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image: iris-api:lecture3</a:t>
            </a:r>
          </a:p>
          <a:p xmlns:a="http://schemas.openxmlformats.org/drawingml/2006/main">
            <a:pPr>
              <a:defRPr sz="1425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ports:</a:t>
            </a:r>
          </a:p>
          <a:p xmlns:a="http://schemas.openxmlformats.org/drawingml/2006/main">
            <a:pPr>
              <a:defRPr sz="1425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  - "127.0.0.1:8080:8000"</a:t>
            </a:r>
          </a:p>
          <a:p xmlns:a="http://schemas.openxmlformats.org/drawingml/2006/main">
            <a:pPr>
              <a:defRPr sz="1425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environment:</a:t>
            </a:r>
          </a:p>
          <a:p xmlns:a="http://schemas.openxmlformats.org/drawingml/2006/main">
            <a:pPr>
              <a:defRPr sz="1425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  MODEL_VERSION: iris-1</a:t>
            </a:r>
          </a:p>
          <a:p xmlns:a="http://schemas.openxmlformats.org/drawingml/2006/main">
            <a:pPr>
              <a:defRPr sz="1425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networks: [appnet]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client:</a:t>
            </a:r>
          </a:p>
          <a:p xmlns:a="http://schemas.openxmlformats.org/drawingml/2006/main">
            <a:pPr>
              <a:defRPr sz="1425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build: ./client</a:t>
            </a:r>
          </a:p>
          <a:p xmlns:a="http://schemas.openxmlformats.org/drawingml/2006/main">
            <a:pPr>
              <a:defRPr sz="1425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environment:</a:t>
            </a:r>
          </a:p>
          <a:p xmlns:a="http://schemas.openxmlformats.org/drawingml/2006/main">
            <a:pPr>
              <a:defRPr sz="1425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  API_URL: http://api:8000</a:t>
            </a:r>
          </a:p>
          <a:p xmlns:a="http://schemas.openxmlformats.org/drawingml/2006/main">
            <a:pPr>
              <a:defRPr sz="1425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networks: [appnet]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networks:</a:t>
            </a:r>
          </a:p>
          <a:p xmlns:a="http://schemas.openxmlformats.org/drawingml/2006/main">
            <a:pPr>
              <a:defRPr sz="1425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appnet: {}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C8583-E1C3-4CB0-BE82-9A6B63E9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71625"/>
            <a:ext cx="302895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Два сервиса входят</a:t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в раздел services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Порт 8080 находится</a:t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на хосте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Порт 8000 находится</a:t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в контейнере 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Клиент обращается</a:t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к api:8000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E2D64-6A17-4E83-8474-40CA27FC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Это минимальный цельный пример. Healthcheck, зависимости запуска и общий каталог добавим далее.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9BE0F-8BF6-4DAC-BC8F-0B25A338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Docker Compose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43BA6-C453-4D79-8C50-9344F0A5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31647387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67573-E9CC-4515-9800-DFA36984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compose.yaml: сервис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B1D29-D155-4C09-9508-4246CD7C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7524750" cy="412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services: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api: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build: .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image: iris-api:lecture3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ports: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  - "127.0.0.1:8080:8000"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environment: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  MODEL_VERSION: iris-1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networks: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  - appnet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4977A-E8F8-4ADB-8EF1-856070C1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71625"/>
            <a:ext cx="302895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build: . читает</a:t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Dockerfile из корня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8080 — порт хоста</a:t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8000 — порт контейнера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appnet задаёт</a:t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сеть компонента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95608-A7A0-4939-AC6F-F34D593E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С хоста обращаемся к http://127.0.0.1:8080. В сети Compose клиент использует http://api:8000.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B4E10-8B03-45B5-B222-EC5D3DF0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Docker Compose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C11FB7-0A39-41A2-8041-AE9E5131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76114608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9A3B79-A128-4205-8C4B-9066C836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Настройки сервиса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CA815-309B-46C4-B3EA-03079E3A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build: 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6A677-B057-4417-9EEB-C04D37F3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Контекст сборки — каталог compose.yaml.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Compose ищет ./Dockerfile.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E9E6A-212F-40B7-B734-1409580E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image: iris-api:lecture3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16D45-FC15-4A24-846B-0BB92EDC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Необязательное имя собранного образа.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Удобно для команд и передачи.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6B0D5-43E5-4522-B7FC-1C3AB9C9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ports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BD024-A7ED-4B2E-A385-030841CE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127.0.0.1:8080 на хосте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соединяется с портом 8000 контейнера.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23265-A8E2-4EA0-B72B-89A0D6E8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192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DA9CC-C251-4ABD-828F-1F799D3A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859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Передаёт MODEL_VERSION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процессу приложения.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6804BE-ADED-4D47-AEEB-DED60AEC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337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networks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8DD553-A787-4603-BEAA-377E41FB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042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Подключает контейнер api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к сети appnet.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58B890-0A2B-4C12-AFE1-85AD8F22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48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Что запускается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4B7898-6D27-47B4-AD64-7509517E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148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Команду процесса задаёт CMD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в Dockerfile API.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EE902C-4417-489A-AD33-F77392FE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Compose использует Dockerfile для сборки, а остальные поля задают параметры создаваемого контейнера.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BD5707-816F-4B55-ACCB-979C075C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Docker Compose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EF6629-3D30-4C39-A900-014EFDE7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80602804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7A6EA-9A63-4BA8-9BD6-334F95D1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compose.yaml: клиент и общая сеть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34564-B427-459C-A686-E29D0BD0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7524750" cy="412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client: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build: ./client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environment: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  API_URL: http://api:8000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networks: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  - appnet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networks: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appnet: {}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23F4A-D9C2-4770-9C1C-7F7C3B22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71625"/>
            <a:ext cx="302895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client расположен</a:t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внутри services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networks внизу</a:t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на верхнем уровне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API_URL использует</a:t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имя сервиса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383C8-D8B3-4021-ADBA-7D20DF4B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По client/Dockerfile собирается образ скрипта. Публиковать порт клиента не требуется.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B5856-8DA2-4681-8217-CE4135C6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Docker Compose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BAF00C-6907-48B9-816B-53F925CE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61414919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4A1ECD-9DA1-40C5-AC2E-E5381597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Dockerfile сервиса client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4AF7F-3C63-4580-987C-C2C15A8D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build: ./client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0D4B6-AFF0-4152-B49D-38605AE6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Контекстом сборки становится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папка ./client.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4A43A-532C-4819-82E7-AAC1CCBF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./client/Dockerfile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271B0-9C9B-4D91-B524-5A948FEE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Compose использует этот файл,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если поле dockerfile не задано.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A44DFB-CD34-40AF-AF20-9C06E42C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Что внутри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6162B-2DAD-4761-A7B8-0352C978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Установка библиотек клиента, COPY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скрипта и CMD для его запуска.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419ED-8C01-4D30-91D2-2EF24C63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192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Отдельный Dockerfile нужен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04A86-D820-4BFB-A67B-A22E952C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859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Клиент имеет другой код, зависимости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и команду запуска, чем API.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A5B7CF-AF53-487B-8A10-995B7F3C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337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Почему нет image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80E5E-BC62-492D-B238-E87CE6A7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042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Поле необязательно. Compose сам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создаёт имя образа проекта.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A4E2F0-92B6-4BED-8FD3-ECDEAC51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48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Когда добавить image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5EBB17-8120-4F0F-B93F-5CD5AC4C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148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Если нужно стабильное имя: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image: iris-client:lecture3.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238665-B2DF-4D12-8ED7-A52ABEC2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Папка ./client должна входить в проект и содержать Dockerfile вместе с файлами клиента.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FD4C49-B936-497A-880B-09B99BD2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Docker Compose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75DA09-DBB7-4B5C-9E2B-DDA6FEF0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74738119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2C69DF-F2FD-4F30-B4E3-60FC31EE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Настройка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B0035-4496-46F3-86F2-5CB84D25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Верхний уровень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830CC-ED2F-4E53-BE99-49DA2DFC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networks: appnet: {} создаёт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сеть приложения.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18EC4-7AB8-4021-BF36-8D2FE658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Внутри сервиса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5BE5F-B9BE-43B4-BA5A-A7B9CDD3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networks: [appnet] подключает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конкретный контейнер к сети.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39A36-3A46-4574-814C-A252DA46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Имена сервисов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3976F-A833-4E3F-86A5-1AD4CCB8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В общей сети имя api разрешается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во внутренний адрес контейнера.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EEC8D-5003-42A4-9DD2-26CDF98F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192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driver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CD6E2-16F1-4BF8-A2CE-D8078720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859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По умолчанию локальный драйвер bridge.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Для примера его указывать не нужно.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4C45E-8718-4F35-B20F-A52A075F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337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Сеть по умолчанию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2D6C08-26C1-4AA9-8FFC-7C4502BD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042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Если networks пропустить, Compose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создаст одну сеть проекта автоматически.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6860AA-29FD-4BBA-847F-E245BEA6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48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Несколько сетей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7B60D-DBA5-482C-8A5A-7193D662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148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Их вводят для разделения групп сервисов,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когда этого требует архитектура.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05FA9F-221D-4431-BEBE-1257948A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Порт 8000 внутри сети не публикуют. Поле ports требуется только для доступа с хоста.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658556-FCEA-43ED-BED5-D7DBCC99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Docker Compose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A36ECC-816F-41A1-BB5E-2A0357C7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52457604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6405E1-75CD-406C-99D9-FCC1FB99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Сеть контейнеров: пути запроса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6DE99-8943-4053-879E-7B504D9C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Машина разработчика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7DA7A-8857-47BD-8BC9-D9C4D463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55816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4"/>
          </a:solidFill>
          <a:ln xmlns:a="http://schemas.openxmlformats.org/drawingml/2006/main" w="19050">
            <a:solidFill>
              <a:srgbClr val="2565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883E9-FC55-40B7-A4B2-79FB5ED8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812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6569"/>
                </a:solidFill>
                <a:latin typeface="Arial"/>
                <a:ea typeface="Arial"/>
                <a:cs typeface="Arial"/>
              </a:rPr>
              <a:t>Общая сеть Docker Compose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046FE-EE14-4415-8688-4B095E06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7051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9050">
            <a:solidFill>
              <a:srgbClr val="25656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50FFAD-D0CB-459B-AB92-4318E931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2476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Браузер / curl</a:t>
            </a:r>
          </a:p>
          <a:p xmlns:a="http://schemas.openxmlformats.org/drawingml/2006/main">
            <a:pPr algn="ctr"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на хосте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02D85D-4C35-4B14-AF82-A9823175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4724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9050">
            <a:solidFill>
              <a:srgbClr val="25656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016926-42A7-4FC6-89BA-7DA84F2F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33700"/>
            <a:ext cx="4495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Контейнер api</a:t>
            </a:r>
          </a:p>
          <a:p xmlns:a="http://schemas.openxmlformats.org/drawingml/2006/main">
            <a:pPr algn="ctr"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Uvicorn: 0.0.0.0:8000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9B4135-0F6B-44F2-B03B-4E3BFCD4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48025"/>
            <a:ext cx="26955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56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3DE331-1D28-4D69-8A2D-F9539C08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87655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127.0.0.1:8080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FF3A90-707A-48BC-A432-9FDF3F66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81400"/>
            <a:ext cx="2771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Публикация порта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04DD7-E243-41AD-A8E6-01B0018B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48150"/>
            <a:ext cx="47244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9050">
            <a:solidFill>
              <a:srgbClr val="25656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FC90AE-047E-45F6-A198-1012228B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00550"/>
            <a:ext cx="4495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Контейнер client</a:t>
            </a:r>
          </a:p>
          <a:p xmlns:a="http://schemas.openxmlformats.org/drawingml/2006/main">
            <a:pPr algn="ctr"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localhost = сам client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9F075D-8142-4838-8C3E-D0D0B513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81425"/>
            <a:ext cx="285750" cy="37147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25656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E6FEBB-84B0-42B8-8E92-6A616195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8195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http://api:8000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749793-FB18-4C18-8CA7-32CA765F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В сети appnet клиент обращается к api:8000. С хоста используем http://127.0.0.1:8080.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0C0AAD-702E-4574-B7F7-76F76BA3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Docker Compose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79FED1-C338-457A-80DE-65D61994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48865480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F55F7-2B66-4EEC-BD7F-A8567B85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Общие файлы и результаты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FC990-C123-4254-B12C-AAB472C2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7524750" cy="412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client: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# Дополнение к сервису client: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  - ./results:/results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# Клиент записывает файл: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# /results/prediction.json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# Другому сервису можно дать чтение: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# volumes: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#   - ./results:/results:ro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6921C-1789-4A1F-944F-FD8FC7C3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71625"/>
            <a:ext cx="302895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Слева от двоеточия:</a:t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каталог на хосте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Справа:</a:t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путь внутри контейнера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:ro запрещает запись</a:t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через это подключение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9844F-3E29-4812-8A27-798D1F90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Перед запуском создаём ./results и проверяем права каталога на запись для процесса клиента.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8DA91-CA0C-4DBC-8591-AC2548DB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Docker Compose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03CB26-8D38-4F03-BCDB-A83F939B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75767317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D02D6E-1B19-41AF-8AC3-3DFF152C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Как работает общий каталог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C8DAD8-82A3-4077-8331-B8155B15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9050">
            <a:solidFill>
              <a:srgbClr val="25656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F0754-CEFF-44D6-832B-81C44107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71775"/>
            <a:ext cx="262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Каталог хоста</a:t>
            </a:r>
          </a:p>
          <a:p xmlns:a="http://schemas.openxmlformats.org/drawingml/2006/main">
            <a:pPr algn="ctr">
              <a:defRPr sz="17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./results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6734E-6D68-4376-AD6D-A4D6189C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981325"/>
            <a:ext cx="9810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56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B521E-580E-47C9-BFC2-0FB8872C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19375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9050">
            <a:solidFill>
              <a:srgbClr val="25656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B359D-C6A9-4C90-82F5-8107957E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771775"/>
            <a:ext cx="262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Путь в client</a:t>
            </a:r>
          </a:p>
          <a:p xmlns:a="http://schemas.openxmlformats.org/drawingml/2006/main">
            <a:pPr algn="ctr">
              <a:defRPr sz="17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/results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04D5A-0A7C-4652-8C00-AA757DE7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81325"/>
            <a:ext cx="9810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56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1F2C0-DE63-4EA1-9D29-350D995A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619375"/>
            <a:ext cx="238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9050">
            <a:solidFill>
              <a:srgbClr val="25656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78E33-6685-4E12-AA77-65013D94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771775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prediction.json</a:t>
            </a:r>
          </a:p>
          <a:p xmlns:a="http://schemas.openxmlformats.org/drawingml/2006/main">
            <a:pPr algn="ctr">
              <a:defRPr sz="157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файл результата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6C08F6-925F-4688-BF88-40A1FE5C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907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volumes: ./results:/results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4835B-4555-4048-ABA9-5B35ECBC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781425"/>
            <a:ext cx="266700" cy="523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5656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DE29E5-5627-43C9-A7CE-269714B9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2857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9050">
            <a:solidFill>
              <a:srgbClr val="25656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23F0BC-BA34-4B61-9232-818B4E79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81525"/>
            <a:ext cx="2628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То же подключение</a:t>
            </a:r>
          </a:p>
          <a:p xmlns:a="http://schemas.openxmlformats.org/drawingml/2006/main">
            <a:pPr algn="ctr">
              <a:defRPr sz="157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с флагом :ro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5B873E-FF98-40EB-BDD5-F382BF2D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695825"/>
            <a:ext cx="9810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56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16C097-258E-4E9A-9583-C84827DC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429125"/>
            <a:ext cx="2857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9050">
            <a:solidFill>
              <a:srgbClr val="25656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CAF45A-B8FE-4C42-AC52-013098A8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581525"/>
            <a:ext cx="2628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Другой сервис</a:t>
            </a:r>
          </a:p>
          <a:p xmlns:a="http://schemas.openxmlformats.org/drawingml/2006/main">
            <a:pPr algn="ctr">
              <a:defRPr sz="16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/results:ro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5333CB-32C9-4D0B-9D31-E553FB91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Один и тот же файл виден по пути ./results на хосте и /results внутри контейнера client.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4A88DB-C1B3-4030-8E9D-83767634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Docker Compose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BB9B7F-EDD9-4D84-A66A-74BAD091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65622788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DFB1A-31DD-4002-B1B8-036CAC4E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Порядок запуска и готовность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F7BAA5-BFCB-4E7E-A131-5A3DEDF5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52197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depends_on без условия</a:t>
            </a:r>
          </a:p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Задаёт порядок запуска</a:t>
            </a:r>
          </a:p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Процесс может ещё не принимать запросы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service_healthy</a:t>
            </a:r>
          </a:p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Ожидает успешный healthcheck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D83107-D730-4905-B8F7-47F07A2C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19250"/>
            <a:ext cx="5172075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После старта возможен сбой</a:t>
            </a:r>
          </a:p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Клиент задаёт тайм-аут</a:t>
            </a:r>
          </a:p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Повторы ограничены</a:t>
            </a:r>
          </a:p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Ошибки имеют понятные сообщения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Повтор POST зависит от контракта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D4F9B6-95FA-4D7A-880B-FEF3D0D0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Healthcheck при старте не гарантирует доступность сервиса на всё время работы.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2091D-EC5E-477F-ABC8-424E266B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Docker Compose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4B3609-1AE8-4E17-9B60-FB5F115D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57651652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04992-6D31-459F-8E44-097FEA00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Готовность API перед запуском клиента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70EA5-B08F-4210-938A-40D3D519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7524750" cy="412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api: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# Дополнение к сервису api: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healthcheck: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  test: ["CMD", "python", "-c",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    "import urllib.request; urllib.request.urlopen(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    'http://localhost:8000/health', timeout=2)"]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  interval: 5s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  timeout: 3s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  retries: 5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  start_period: 20s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client: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depends_on: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  api: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        condition: service_healthy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D6C46-32E0-422B-996D-5BBCF75C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71625"/>
            <a:ext cx="302895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API отвечает 200</a:t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после загрузки модели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Compose ожидает</a:t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успешной проверки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Затем запускает</a:t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одноразовый клиент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61BEF4-C9E9-4227-962C-A7E1DB23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Фрагменты healthcheck и depends_on добавляем в уже описанные сервисы api и client.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433D2-60CD-4A4E-B8E1-030DBFB1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Docker Compose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AE102-7542-4A41-AEF2-B785A25C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73119607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3E6171-111E-4503-B2F5-58DA4763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Как Compose ожидает готовность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ADC82-7800-4169-9900-E1E153B1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9050">
            <a:solidFill>
              <a:srgbClr val="25656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7379A7-3786-4319-8FF0-02CC29ED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2152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1. Запуск контейнера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3F637-FF6D-45DA-B112-C9B28665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724150"/>
            <a:ext cx="523875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56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AD2A1-B2B6-4D5B-9233-6FF5B069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8125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9050">
            <a:solidFill>
              <a:srgbClr val="25656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C4F4B2-DD5D-4465-AE91-F6F20157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533650"/>
            <a:ext cx="2152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2. Повтор GET /health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74E47-03FF-4191-BEF9-4B6934BB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523875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56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63FE2-664A-4EBC-AF8F-FA2888D4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812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9050">
            <a:solidFill>
              <a:srgbClr val="25656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3A831-F3F9-491A-822C-4D2720D1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33650"/>
            <a:ext cx="1866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3. Статус healthy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93E15A-8D36-4695-80B5-1700F4B0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724150"/>
            <a:ext cx="523875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56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A3AA3-AB8E-40A6-8C3F-AC7BB7FE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81250"/>
            <a:ext cx="1619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9050">
            <a:solidFill>
              <a:srgbClr val="25656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39F9A-7F6B-4AB3-8424-B1F5935D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533650"/>
            <a:ext cx="1390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4. Запуск client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CDEA6A-7C9D-4767-AE56-6C9D1586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6099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interval / timeout / retries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67F968-3417-4504-A97E-0D6FA5BB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29125"/>
            <a:ext cx="676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Ответ не 200: Compose ждёт и повторяет проверку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EE871B-D91A-4C9E-BCF9-376DDD93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service_started проверяет только запуск контейнера. service_healthy ждёт успешный healthcheck приложения.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6CC4F6-C9CB-4169-AFE0-1430B555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Docker Compose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83E376-F5D1-4A75-819F-7F28EBCF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207497177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4A770-CBB0-4D78-806F-B8A05185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Запуск стенда и проверка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0F2C5-0731-4CB5-8337-7814E42E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7524750" cy="412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docker compose config --quiet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docker compose up --build -d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docker compose ps -a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docker compose logs client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curl.exe -fsS http://127.0.0.1:8080/health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docker compose run --rm client</a:t>
            </a:r>
          </a:p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docker compose down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EECF9-140D-4750-95E8-86F951F9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71625"/>
            <a:ext cx="302895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Проверяем YAML</a:t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и запускаем стенд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С хоста используем</a:t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порт 8080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Клиент внутри сети</a:t>
            </a:r>
          </a:p>
          <a:p xmlns:a="http://schemas.openxmlformats.org/drawingml/2006/main">
            <a:pPr>
              <a:defRPr sz="1875" b="0">
                <a:solidFill>
                  <a:srgbClr val="275F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5F78"/>
                </a:solidFill>
                <a:latin typeface="Arial"/>
                <a:ea typeface="Arial"/>
                <a:cs typeface="Arial"/>
              </a:rPr>
              <a:t>обращается к api:8000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83008-0653-44DC-97E0-DF129466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Compose использует порт 8080 хоста, поэтому отдельный iris-api может продолжать работать на порту 8000 хоста.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91EAC-7489-438A-9D03-66F29342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Docker Compose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4A336-696F-4AC0-943D-4B208A3B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23421354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EFDBA2-95FF-4456-B02C-28A4DBF6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Диагностика по шагам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E4E2F-F92C-47F9-B2E8-4B7F531C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9050">
            <a:solidFill>
              <a:srgbClr val="25656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51BF3-5C37-4D15-AB4E-B31D5810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43050"/>
            <a:ext cx="4248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1. Контейнер создан и запущен?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F23E5-B49E-4BD9-BD74-8AAA1940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571625"/>
            <a:ext cx="523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56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61653-6AE5-4B57-8F50-22B30F32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57325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docker compose ps -a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159002-6A2B-4E09-925E-FD9518B9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57425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9050">
            <a:solidFill>
              <a:srgbClr val="25656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E9020-8129-4DF5-9FB8-A20767A7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4248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2. Почему завершился процесс?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C0712-AD1E-45CB-9230-F54AA10E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38400"/>
            <a:ext cx="523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56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E65A0A-933F-4A58-A07A-B04EC78F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241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docker compose logs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DDBDC-3FC4-4636-A617-E9847FE8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9050">
            <a:solidFill>
              <a:srgbClr val="25656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D7A7CE-9A73-4C16-A858-AA078FF9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4248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3. API готово отвечать?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32159-438C-49BA-8A7E-90BB3A07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05175"/>
            <a:ext cx="523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56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8C34F0-C92A-4D5A-8164-B0607E89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curl.exe -fsS http://127.0.0.1:8080/health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F4E568-24DD-4F09-A148-901B1FEA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90975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9050">
            <a:solidFill>
              <a:srgbClr val="25656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4DC0BA-40B8-4EB9-9E3F-AE6F5C6B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4248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4. Клиент видит имя api?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BD2A8-8120-4BF9-8E4A-B65D29BC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171950"/>
            <a:ext cx="523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56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AA01B8-8656-49DB-B148-98BB0299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5765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docker compose run --rm client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FFA969-12E1-406C-8A17-2FF2A037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EF"/>
          </a:solidFill>
          <a:ln xmlns:a="http://schemas.openxmlformats.org/drawingml/2006/main" w="19050">
            <a:solidFill>
              <a:srgbClr val="25656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14D6C1-2312-4D34-8882-F4980DC0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4248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5. Результат записан?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853C43-54F0-4C04-A383-55001543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38725"/>
            <a:ext cx="523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56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FCA1B3-AE69-4175-A118-50442A46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924425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74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8374A"/>
                </a:solidFill>
                <a:latin typeface="Consolas"/>
                <a:ea typeface="Consolas"/>
                <a:cs typeface="Consolas"/>
              </a:rPr>
              <a:t>Get-ChildItem ./results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4EB715-3333-44D9-ABED-D46B0145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Идём от существования контейнера к приложению, сети и файлам. На каждом шаге есть конкретная команда проверки.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BD79CD-185D-40FF-BE9A-5D4EBB4F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Docker Compose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D6C068-4921-4E0B-9A0F-D2046C46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41237026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27D546-3DB8-4884-B530-9A9E0605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Итоги лекции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4F8743-E99E-4FD1-A17E-90ACE6F4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Образ и контейнер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DEB9B-28AC-47E1-A066-7B5D7304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Образ хранит среду, контейнер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выполняет приложение.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7F60F8-AC95-4185-832B-79FA31EF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Dockerfile и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311CA-2F51-4C94-BB5D-56CC543C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Рецепт сборки и команды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управления жизненным циклом.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74023-0DA2-446A-80AE-26D735F0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Контроль работы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CF8DB-E1A5-4CA7-B3E3-742A3F36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Состояние процесса, журнал,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ресурсы и проверка HTTP.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7E47F-F4A8-4892-9283-DA2BC219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192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Сеть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60330-D23F-412A-BCAF-CBF06AE5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859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Запросы идут к опубликованному порту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или имени сервиса в общей сети.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DE2FC-101F-498A-8DBB-D0DA1C78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3370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Файлы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B01633-86EE-4773-99E5-8951590F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042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Для сохранности выбираем volume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или подключённый каталог хоста.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EA2592-A314-400D-B0E1-6202F119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481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Compose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8DE8EC-F1B9-463E-97DC-36A97759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148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Хранит описание стенда</a:t>
            </a:r>
          </a:p>
          <a:p xmlns:a="http://schemas.openxmlformats.org/drawingml/2006/main">
            <a:pPr>
              <a:defRPr sz="1725" b="0">
                <a:solidFill>
                  <a:srgbClr val="4866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674"/>
                </a:solidFill>
                <a:latin typeface="Arial"/>
                <a:ea typeface="Arial"/>
                <a:cs typeface="Arial"/>
              </a:rPr>
              <a:t>и согласует запуск его компонентов.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2E65DD-ABDC-4A2E-8BCD-06C33CE8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Полученный образ и проверки станут основой конвейера CI/CD на следующей лекции.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656B20-0766-41CC-A413-3FA4EBDA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Итоги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714A70-6C52-4C9C-A0D7-6C88D90E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2857540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E4819A-A331-4477-B3A8-51C0B427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E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42"/>
                </a:solidFill>
                <a:latin typeface="Arial"/>
                <a:ea typeface="Arial"/>
                <a:cs typeface="Arial"/>
              </a:rPr>
              <a:t>Контрольные вопросы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6C375-9658-4B04-A84B-27ACD8C6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52197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Что создаёт docker build?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Чем run отличается от start?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Когда можно использовать exec?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Почему running недостаточно</a:t>
            </a:r>
          </a:p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для проверки готовности API?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C4B82-DD99-485C-88E9-48CE5CFA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19250"/>
            <a:ext cx="5172075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Куда ведёт localhost у клиента?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Что сохранится после удаления</a:t>
            </a:r>
          </a:p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контейнера?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Что описывает Dockerfile,</a:t>
            </a:r>
          </a:p>
          <a:p xmlns:a="http://schemas.openxmlformats.org/drawingml/2006/main">
            <a:pPr>
              <a:defRPr sz="2175" b="0">
                <a:solidFill>
                  <a:srgbClr val="2037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74A"/>
                </a:solidFill>
                <a:latin typeface="Arial"/>
                <a:ea typeface="Arial"/>
                <a:cs typeface="Arial"/>
              </a:rPr>
              <a:t>а что описывает compose.yaml?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232B5-3036-4C3D-8C99-01EF59B5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810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Проверка понимания: объяснить запуск API и клиента, не опираясь на запоминание команд.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D539C-27C5-439E-BC0C-DA5605A9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B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8B"/>
                </a:solidFill>
                <a:latin typeface="Arial"/>
                <a:ea typeface="Arial"/>
                <a:cs typeface="Arial"/>
              </a:rPr>
              <a:t>Лекция 3 / Итоги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C59C2C-6E27-492A-8E9E-E23E720B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56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6569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66904242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2026-09-18T12:24:56.5220000Z</dcterms:created>
  <dcterms:modified xsi:type="dcterms:W3CDTF">2026-09-18T12:24:56.5220000Z</dcterms:modified>
</coreProperties>
</file>